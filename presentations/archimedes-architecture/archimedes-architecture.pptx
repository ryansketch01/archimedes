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Engineering-handoff framing — not marketing, not discovery. This deck is structured so that after 45 minutes the audience could start building their own Archimedes-shaped system. Open with: 'I'll spend roughly 45 minutes walking through the architecture. The intent is that you leave knowing what to build, in what order, with what invariants must hold. Stop me with questions; I'll dwell on whatever isn't landing.' Reference the other two decks if context helps — overview was problem-driven, Athena was forward-looking proposal. This is the engineering-deep-dive.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map. Spend a full minute on it. Five layers, top to bottom: human operator (approves the high-stakes calls), orchestrator (Claude Code instance that delegates), subagents (9 specialized roles with isolated contexts), tools (MCPs + hooks), external (where the data lives and where side effects land). Doctrine is the orange ribbon down the left — it cuts across all five layers because every layer reads from it. Reference this slide throughout the rest of the deck when introducing each layer's details.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five things that, if you preserve them, the rebuild will still be Archimedes-shaped — even if you use Python where I used Bash, or OpenCTI where I used markdown, or Teams where I used Discord. If you break any of these in the rebuild, you've built something different. Worth showing the audience this slide twice — once now (so they have the frame) and once at the rebuild-guide section (so they remember which lines not to cross).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top-to-bottom. Three things to emphasize: (1) doctrine/ at the top — these six files are the agent's working memory; the rebuild starts here. (2) .claude/ contains everything the agent runtime needs — agents, skills, commands, hooks; the equivalent in your stack might be different (Claude Code uses this layout, other Claude runtimes have their own). (3) threats/ is the corpus — the agent's output lives here, versioned in git. This is what makes the system auditable: every brief, every finding, every dossier, every retraction is a markdown file in git history.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files. Each one governs a slice of the agent's behavior. The 'Read by' column maps doctrine to subagent — the librarian doesn't read THREAT-BOX-METHODOLOGY because it doesn't score actors; the grader doesn't read INTEL-BRIEF-STANDARDS because it doesn't compose briefs. Minimal-required-context, applied even to doctrine. This pattern is load-bearing — without it, every subagent loads every doctrine file and the context bloat costs accuracy and latency.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structural patterns to call out: (1) Authority statement at the top — 'this file is authoritative.' The grader subagent is instructed to defer to this file over its own judgment. (2) Lookup tables — Admiralty grades, WEP probability bands, evidence-minimum tables for threat-box. The agent uses these like a dev uses a switch statement. (3) Checklist-style rules — 'ALL of these conditions must hold' or 'ANY of these triggers' — written as if for human auditors, applied by the agent as decision logic. Doctrine files are plain English, but they read like code. That's intentional.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Hard Rules are the audit-defense layer. They're enforced at three levels: in doctrine prose (agent reads and respects), in subagent definitions (every subagent has 'before any action — consult LEGAL-POLICY' as step 0), and in code at the MCP wrappers (allowlist + refusal before HTTP call). Three levels of defense in depth. Removing any one weakens the system. If a rebuild changes the Hard Rules list — e.g. adds rule 9, removes rule 7 — that's fine, but make sure the new list is enforced at all three levels.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Skills are like libraries — reusable procedures the subagents call. They live under .claude/skills/&lt;name&gt;/. Each has a SKILL.md (the main procedure) and usually a references/ subdirectory with lookup tables or templates. Pattern: when two subagents need the same procedure, factor it into a skill. The grader and the analyst both need ACH; sat-ach is the skill they both call. For a rebuild: skills aren't strictly necessary — you could inline the procedures into each subagent — but they pay off as soon as you have any procedure shared across multiple roles.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Eight defined subagents + the orchestrator (which is a 9th, with no write scope of its own — it only delegates). Walk through them top to bottom; the table is dense but every column matters: Role is the elevator pitch. Write scope is what files/systems they're allowed to modify. Doctrine read is which .md files load into their context. Tools is the tool subset they're given (e.g. red-team-analyst only gets Read + Edit — can't write new files, only modify findings). The minimal tool surface per subagent is part of context isolation — fewer tools = simpler decision space = lower error rate.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load-bearing parts of every subagent definition: (1) Frontmatter — name, description (this is the elevator pitch the orchestrator reads when deciding who to delegate to), tools (the minimum set), model (haiku for cheap, sonnet for medium, opus for complex). (2) Role + scope — written in second person ('you are the briefer') — Claude reads this as identity. Clear delineation of what this subagent does NOT do is as important as what it does. (3) Procedure — numbered steps. This is the agent's runbook. When the orchestrator delegates, the subagent reads its own definition and follows the procedure.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counterintuitive design choice in the system. The instinct is 'give the model everything it might need.' The opposite works better — minimal scope per agent, with the orchestrator handling cross-agent state. Show one concrete example: red-team-analyst. It's contrarian by construction because it didn't write the primary finding. If you gave it the same context the analyst had, it would naturally converge on the same conclusion (anchoring bias). By keeping the contexts separate, you create the conditions for genuine disagreement.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Trace one real finding through the chain. The MuddyWater / Rapid7 example actually happened — this is the FLASH-0002 finding referenced in CLAUDE.md's operational notes. Five stages, each with a different subagent, each with isolated context. The grader doesn't speculate beyond what INTEL-GRADING permits. The analyst doesn't grade. The red-team doesn't analyze — it challenges. Strict separation of concerns. Outcome: that finding's attribution leg eventually auto-downgraded to C3 (possibly true) when the 72h corroboration window closed unbroken. The discipline pays off.</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librarian is the system's most important subagent for safety. Concentrating all side effects in one place is a load-bearing pattern: it means there's exactly one piece of code (the librarian's LEGAL-POLICY scan step) that decides whether content goes public. Other subagents can write to disk (briefer to threats/briefs/, grader to threats/findings/), but nothing leaves the local filesystem without librarian's blessing. The mode catalog is just how we organize the librarian's procedures — could be one giant procedure, but the modes make the doctrine easier to reason about.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orchestrator is what you start with when you open Claude Code in this repo. It reads CLAUDE.md, knows the agent's identity, and waits for triggers. When a trigger fires (you typed /brief morning, or the scheduled task invoked claude -p), the orchestrator looks at the pipeline doctrine in CLAUDE.md and delegates. Two non-obvious things in the 'never does' column: it never composes brief content (even if it knows what the brief should say) and it never makes attribution claims. Both of those would violate the role separation — and Hard Rule 2 specifically.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your audience knows MCP, this is review. If they don't, this is foundational. Three things to land: (1) MCP is a protocol, not a library — your rebuild can use any MCP client/server library (Python, TypeScript, Rust). (2) Tool servers are subprocesses — keeps them isolated, lets you crash one without taking down the agent. (3) The naming convention `mcp__&lt;server&gt;__&lt;tool&gt;` is how the agent thinks about tool calls — every tool reference in this codebase uses that exact pattern.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8-file structure for every MCP. Pattern stabilized after the third MCP — once you see it twice you can predict where everything lives. Three files are mandatory: config.py (env loading), &lt;name&gt;_client.py (the HTTP wrapper), server.py (the @mcp.tool() decorated endpoints). The other three (exceptions.py, models.py, policy.py) appear when the MCP has policy enforcement to do (like SpiderFoot's passive allowlist) or a complex domain model (like theHarvester's source list). Simpler MCPs (like rss-bridge) can skip policy.py.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single most important code pattern in the system. Hard Rule 4 ('never scan third parties') is enforced as a function call BEFORE the HTTP request. The agent literally cannot make SpiderFoot scan an unauthorized target with an active module — the wrapper refuses with a PolicyError at the input boundary. The same pattern shows up in theharvester (PASSIVE_SOURCE_ALLOWLIST), in WebFetch (LEGAL-POLICY check on URLs), in WebSearch (prohibited query patterns). Rebuild lesson: encode your policy at the integration layer, not in prose-only doctrine. Doctrine tells the agent what to do; allowlists make it impossible to do otherwise.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Eight wrappers. Six just index-lookup or fetch passive data — those don't need allowlists, they need rate-limit and auth discipline. Two (theharvester, spiderfoot) wrap tools that CAN perform active recon — those carry mandatory allowlists at the wrapper level. Rebuild: start with the index-lookup wrappers (VT, Shodan, Censys, urlscan, RSS). Add the active-recon-capable ones (theHarvester, SpiderFoot) only when you've validated the allowlist pattern. Splunk-query is special — that's first-party, not OSINT, treated differently per Hard Rule 8.</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phases for a scheduled brief. The 07:30 phase is split out so the agent has time to collect signal before composing — collector runs ahead of brief, grader+briefer run on brief time. Red-team-analyst is conditional: only invoked if any finding has WEP ≥ very_likely. Most briefs don't hit that threshold (5 of 5 actor scorings did NOT escalate to red-team because Intent capped below the trigger). Wall-clock end-to-end is ~25-40 min. Failure handling per phase: collector retry → degrade with caveat; grader hard-fail → halt pipeline; red-team hard-fail → ship brief with red_team_review=NOT_PERFORMED flag; briefer fail → BRIEF GENERATION FAILED message to Discord; librarian fail → commit but no Discord post.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FLASH is the answer to 'what if something breaks between scheduled briefs?' Same subagent chain, but narrower scope: collector runs only against FLASH-eligible triggers, grader fast-paths single findings, red-team conditional, briefer composes FLASH format (shorter than scheduled brief), librarian posts to #flash-alerts. Quiet hours protect operators from being woken at 3 AM unless the threat genuinely warrants it. The critical-override threshold has fired exactly once in production — that's the calibration target. False FLASHes erode operator trust faster than missed FLASHes. 72h auto-downgrade is how we handle single-source attribution responsibly: ship the FLASH because it's load-bearing, but commit to retracting/downgrading if independent corroboration doesn't arrive. Test pass on MuddyWater 2026-05-09 was the validation.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On-demand is where the agent becomes interactive. Without the Discord listener, Archimedes is autonomous-only — runs on a schedule, can't be asked questions. The listener adds operator-in-the-loop. Security note: only DISCORD_OPERATOR_USER_ID can invoke commands. Messages from any other author are ignored. Single-operator design today; could extend to a team via roster YAML if multi-operator support is needed. Each slash command invokes a subset of the standard pipeline — /investigate is a partial pipeline (collect + grade + analyze the target, compose a Layer-1 brief), /new-actor is actor-profiler-only, /approve-scoring is the human-side of the HIGH gate.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Layer 1 is the analyst-grade record — full doctrine framings, Admiralty + WEP citations, Hard Rule 2 annotations, single-source-veto notes, Splunk first-party caveats. ~700 words. Lives in git forever. Layer 2 is the Discord summary — Smart Brevity, natural-language dates, source-linked headlines, ~250 words, ≤1900 chars. The librarian extracts only Layer 2 (heading-to-EOF read) and posts that to #intel-briefs. ONE canonical file, TWO renderings, two audiences. The intel team red-team-reviews Layer 1; leadership reads Layer 2 on their phone. Rebuild lesson: per-audience rendering is a doctrine concern (INTEL-BRIEF-STANDARDS specifies the format) and a librarian responsibility (extraction + delivery), but it's authored by the briefer in one pass. Don't split it across two subagents.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Retraction handling is the single most under-built feature in most agent systems. The instinct is 'fix the error and move on.' That destroys auditability. Archimedes' pattern: every retraction is additive. Every retraction is logged. Every retraction triggers a pattern-check. After 3 retractions traced to the same source, the source itself gets graded down — that's the system learning. The 72h auto-downgrade clock is the sub-pattern for single-source FLASHes: ship now because it's load-bearing, but write the falsification conditions INTO the finding so the system can self-downgrade if corroboration doesn't arrive. Lived through MuddyWater 2026-05-09 — fired clean.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Windows Task Scheduler entries. XML templates in infrastructure/scheduler/. Each task invokes scripts/run_phase.ps1 with the phase name as an argument. The wrapper does three things: (1) logs Splunk 'started' event with run_id, (2) invokes `claude -p` with the phase prompt, (3) logs Splunk 'completed' event with exit code + catchup-push status. The catchup-push pattern (Session 11 discovery) compensates for the librarian's intermittent push behavior — if librarian skipped `git push origin main`, the wrapper does it. catchup_push_exit field in Splunk events tracks the outcome for dashboard visibility.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hooks total: discord-post.sh, splunk-log.sh, and a couple others for index regen. Why hooks instead of subagents? (1) No LLM cost — bash scripts run free, deterministic, fast. (2) Deterministic behavior — Discord post either succeeds or fails based on HTTP status, not on model reasoning. (3) Easy to debug — you can run the hook by hand from the command line. Rebuild lesson: distinguish between 'I need the model to decide' (subagent) and 'I need the model to invoke a thing that always does the same operation' (hook). Hooks handle the second case. Don't make Claude write JSON to a webhook on every brief; have Claude invoke a hook that does that.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Auditability is what makes the agent defensible in a regulated environment. Five years from now, if someone asks 'how did the agent arrive at this attribution on 2026-05-06,' the answer is: git log + Splunk events + Discord posts joined on run_id. That same auditability is also how you debug agent behavior. When the briefer makes a weird choice, you can pull the run_id, find the Splunk events, see what input it received, check the doctrine version in git at that commit. Rebuild lesson: design for audit BEFORE you have anything to audit. Adding it later is exponentially harder.</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Configuration discipline: secrets gitignored, schemas committed, runtime state gitignored, operator-set context preserved. Two notable patterns: (1) .env.example mirrors the actual .env structure — anyone cloning the repo can copy-rename to get a working schema; (2) source-health.yaml has a mix of runtime fields (collector overwrites) and operator-set fields (notes preserved verbatim) — collector subagent doctrine specifies the field ownership boundary. If your rebuild has separate operator-set context that should survive runtime overwrites, codify which fields the agent owns vs. the operator owns — same pattern.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Testing across three layers: unit tests for MCP wrappers (231 passing), preflight checklist for brief composition (13 items), live validation against real services (catches the 6 real bugs mocks missed). Doctrine changes need their own test phase — when you change a .md file, walk through every subagent that reads it. This is similar to schema changes in a database: a schema change isn't just a SQL migration, it's a coordinated update across all the code that reads the schema.</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trap is building Archimedes top-down — full doctrine, all 9 subagents, all 8 MCPs, scheduler, hooks, audit trail — before any of it has produced a single brief. That'll fail. The MVP version: one doctrine file, two subagents, one MCP, one delivery channel. Run it manually for a week. The friction tells you what to build next. This pattern (build the load-bearing thin slice; add to it from real friction) is also what Archimedes itself did — Session 1 had ONE doctrine file (LEGAL-POLICY) and one subagent (the grader was first). Everything else accreted over 13 sessions.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weeks for a working version. Each week is two additions. The order matters: doctrine + identity before any code; grader + briefer before collector (so you can test on canned data first); manual operation in weeks 1-3, autonomous in week 4 once scheduler is in. The order I listed is the order Archimedes evolved through Sessions 1-7 — there's a reason; do it the way it grew.</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Half the system isn't needed for V1. The dashboard is the most expensive thing we never built — Flask + auth + per-team filters + drilldown into CMDB would be 2-3 weeks of build, and the Discord listener + markdown corpus together cover the interactive-query need for one operator. Defer it. FLASH is the most expensive thing we DID build that might not justify the cost for every team. If your operators don't need a pager-style escalation channel, scheduled briefs cover the cadence. Take what makes the agent shape work for your team; defer what doesn't until you feel the pain.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Likely questions to be ready for: (1) Token cost at this volume — order of magnitude per month, not exact. (2) Why Claude over Anthropic API direct — Claude Code's subagent runtime is the value-add; building the same with bare API would be 3-4 months of agent-runtime work before the CTI work starts. (3) What about open-source LLMs — possible but harder; the long-context + tool-use + structured-output discipline is where Claude is strongest. (4) How long to a rebuild — 6 weeks for a working version with the team familiar; 12 weeks if learning Claude as you go. (5) What broke that you wish you'd known earlier — schtasks UTF-16 LE BOM, PYTHONHOME poisoning under uv run, librarian push variance. All documented in CLAUDE.md operational notes.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011680"/>
            <a:ext cx="11274552" cy="1280160"/>
          </a:xfrm>
          <a:prstGeom prst="rect">
            <a:avLst/>
          </a:prstGeom>
          <a:noFill/>
        </p:spPr>
        <p:txBody>
          <a:bodyPr wrap="none">
            <a:spAutoFit/>
          </a:bodyPr>
          <a:lstStyle/>
          <a:p>
            <a:pPr algn="ctr"/>
            <a:r>
              <a:rPr sz="7200" b="1">
                <a:solidFill>
                  <a:srgbClr val="1F3A5F"/>
                </a:solidFill>
                <a:latin typeface="Calibri"/>
              </a:rPr>
              <a:t>Archimedes</a:t>
            </a:r>
          </a:p>
        </p:txBody>
      </p:sp>
      <p:sp>
        <p:nvSpPr>
          <p:cNvPr id="3" name="TextBox 2"/>
          <p:cNvSpPr txBox="1"/>
          <p:nvPr/>
        </p:nvSpPr>
        <p:spPr>
          <a:xfrm>
            <a:off x="457200" y="3566160"/>
            <a:ext cx="11274552" cy="548640"/>
          </a:xfrm>
          <a:prstGeom prst="rect">
            <a:avLst/>
          </a:prstGeom>
          <a:noFill/>
        </p:spPr>
        <p:txBody>
          <a:bodyPr wrap="none">
            <a:spAutoFit/>
          </a:bodyPr>
          <a:lstStyle/>
          <a:p>
            <a:pPr algn="ctr"/>
            <a:r>
              <a:rPr sz="2400" i="1">
                <a:solidFill>
                  <a:srgbClr val="666666"/>
                </a:solidFill>
                <a:latin typeface="Calibri"/>
              </a:rPr>
              <a:t>Architecture Walkthrough — How to Rebuild It</a:t>
            </a:r>
          </a:p>
        </p:txBody>
      </p:sp>
      <p:sp>
        <p:nvSpPr>
          <p:cNvPr id="4" name="TextBox 3"/>
          <p:cNvSpPr txBox="1"/>
          <p:nvPr/>
        </p:nvSpPr>
        <p:spPr>
          <a:xfrm>
            <a:off x="457200" y="5303520"/>
            <a:ext cx="11274552" cy="365760"/>
          </a:xfrm>
          <a:prstGeom prst="rect">
            <a:avLst/>
          </a:prstGeom>
          <a:noFill/>
        </p:spPr>
        <p:txBody>
          <a:bodyPr wrap="none">
            <a:spAutoFit/>
          </a:bodyPr>
          <a:lstStyle/>
          <a:p>
            <a:pPr algn="ctr"/>
            <a:r>
              <a:rPr sz="1300">
                <a:solidFill>
                  <a:srgbClr val="666666"/>
                </a:solidFill>
                <a:latin typeface="Calibri"/>
              </a:rPr>
              <a:t>[Presenter name]   ·   [Date]   ·   For: senior engineers / architects familiar with Claude + MCP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28600"/>
          </a:xfrm>
          <a:prstGeom prst="rect">
            <a:avLst/>
          </a:prstGeom>
          <a:solidFill>
            <a:srgbClr val="4A90E2"/>
          </a:solidFill>
          <a:ln>
            <a:noFill/>
          </a:ln>
        </p:spPr>
        <p:style>
          <a:lnRef idx="1">
            <a:schemeClr val="accent1"/>
          </a:lnRef>
          <a:fillRef idx="3">
            <a:schemeClr val="accent1"/>
          </a:fillRef>
          <a:effectRef idx="2">
            <a:schemeClr val="accent1"/>
          </a:effectRef>
          <a:fontRef idx="minor">
            <a:schemeClr val="lt1"/>
          </a:fontRef>
        </p:style>
        <p:txBody>
          <a:bodyPr rtlCol="0" anchor="ctr" tIns="18288" lIns="457200"/>
          <a:lstStyle/>
          <a:p>
            <a:pPr algn="ctr"/>
            <a:r>
              <a:rPr sz="1000" b="1">
                <a:solidFill>
                  <a:srgbClr val="FFFFFF"/>
                </a:solidFill>
                <a:latin typeface="Calibri"/>
              </a:rPr>
              <a:t>§0  ·  Mental model</a:t>
            </a:r>
          </a:p>
        </p:txBody>
      </p:sp>
      <p:sp>
        <p:nvSpPr>
          <p:cNvPr id="3" name="TextBox 2"/>
          <p:cNvSpPr txBox="1"/>
          <p:nvPr/>
        </p:nvSpPr>
        <p:spPr>
          <a:xfrm>
            <a:off x="457200" y="274320"/>
            <a:ext cx="11274552" cy="640080"/>
          </a:xfrm>
          <a:prstGeom prst="rect">
            <a:avLst/>
          </a:prstGeom>
          <a:noFill/>
        </p:spPr>
        <p:txBody>
          <a:bodyPr wrap="square">
            <a:spAutoFit/>
          </a:bodyPr>
          <a:lstStyle/>
          <a:p>
            <a:pPr algn="l"/>
            <a:r>
              <a:rPr sz="2800" b="1">
                <a:solidFill>
                  <a:srgbClr val="1F3A5F"/>
                </a:solidFill>
                <a:latin typeface="Calibri"/>
              </a:rPr>
              <a:t>The whole system in one picture</a:t>
            </a:r>
          </a:p>
        </p:txBody>
      </p:sp>
      <p:sp>
        <p:nvSpPr>
          <p:cNvPr id="4" name="TextBox 3"/>
          <p:cNvSpPr txBox="1"/>
          <p:nvPr/>
        </p:nvSpPr>
        <p:spPr>
          <a:xfrm>
            <a:off x="457200" y="914400"/>
            <a:ext cx="11274552" cy="365760"/>
          </a:xfrm>
          <a:prstGeom prst="rect">
            <a:avLst/>
          </a:prstGeom>
          <a:noFill/>
        </p:spPr>
        <p:txBody>
          <a:bodyPr wrap="square">
            <a:spAutoFit/>
          </a:bodyPr>
          <a:lstStyle/>
          <a:p>
            <a:r>
              <a:rPr sz="1300" i="1">
                <a:solidFill>
                  <a:srgbClr val="666666"/>
                </a:solidFill>
                <a:latin typeface="Calibri"/>
              </a:rPr>
              <a:t>Four layers. Doctrine cuts across all four.</a:t>
            </a:r>
          </a:p>
        </p:txBody>
      </p:sp>
      <p:sp>
        <p:nvSpPr>
          <p:cNvPr id="5" name="Rounded Rectangle 4"/>
          <p:cNvSpPr/>
          <p:nvPr/>
        </p:nvSpPr>
        <p:spPr>
          <a:xfrm>
            <a:off x="1371600" y="1463040"/>
            <a:ext cx="10058400" cy="777240"/>
          </a:xfrm>
          <a:prstGeom prst="roundRect">
            <a:avLst/>
          </a:prstGeom>
          <a:solidFill>
            <a:srgbClr val="FDEFED"/>
          </a:solidFill>
          <a:ln w="1905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tIns="91440" lIns="182880" wrap="square"/>
          <a:lstStyle/>
          <a:p>
            <a:pPr algn="ctr"/>
            <a:r>
              <a:rPr sz="1300" b="1">
                <a:solidFill>
                  <a:srgbClr val="C0392B"/>
                </a:solidFill>
                <a:latin typeface="Calibri"/>
              </a:rPr>
              <a:t>HUMAN OPERATOR</a:t>
            </a:r>
          </a:p>
          <a:p>
            <a:pPr>
              <a:spcBef>
                <a:spcPts val="300"/>
              </a:spcBef>
            </a:pPr>
            <a:r>
              <a:rPr sz="1100">
                <a:solidFill>
                  <a:srgbClr val="333333"/>
                </a:solidFill>
                <a:latin typeface="Calibri"/>
              </a:rPr>
              <a:t>Approves HIGH scoring · names new actors · ratifies sources · reviews retractions</a:t>
            </a:r>
          </a:p>
        </p:txBody>
      </p:sp>
      <p:sp>
        <p:nvSpPr>
          <p:cNvPr id="6" name="Rounded Rectangle 5"/>
          <p:cNvSpPr/>
          <p:nvPr/>
        </p:nvSpPr>
        <p:spPr>
          <a:xfrm>
            <a:off x="1371600" y="2331720"/>
            <a:ext cx="10058400" cy="777240"/>
          </a:xfrm>
          <a:prstGeom prst="roundRect">
            <a:avLst/>
          </a:prstGeom>
          <a:solidFill>
            <a:srgbClr val="E8EFF5"/>
          </a:solidFill>
          <a:ln w="19050">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tIns="91440" lIns="182880" wrap="square"/>
          <a:lstStyle/>
          <a:p>
            <a:pPr algn="ctr"/>
            <a:r>
              <a:rPr sz="1300" b="1">
                <a:solidFill>
                  <a:srgbClr val="1F3A5F"/>
                </a:solidFill>
                <a:latin typeface="Calibri"/>
              </a:rPr>
              <a:t>ORCHESTRATOR (Claude Code)</a:t>
            </a:r>
          </a:p>
          <a:p>
            <a:pPr>
              <a:spcBef>
                <a:spcPts val="300"/>
              </a:spcBef>
            </a:pPr>
            <a:r>
              <a:rPr sz="1100">
                <a:solidFill>
                  <a:srgbClr val="333333"/>
                </a:solidFill>
                <a:latin typeface="Calibri"/>
              </a:rPr>
              <a:t>Schedules · delegates · holds the run state across subagent invocations</a:t>
            </a:r>
          </a:p>
        </p:txBody>
      </p:sp>
      <p:sp>
        <p:nvSpPr>
          <p:cNvPr id="7" name="Rounded Rectangle 6"/>
          <p:cNvSpPr/>
          <p:nvPr/>
        </p:nvSpPr>
        <p:spPr>
          <a:xfrm>
            <a:off x="1371600" y="3200400"/>
            <a:ext cx="10058400" cy="777240"/>
          </a:xfrm>
          <a:prstGeom prst="roundRect">
            <a:avLst/>
          </a:prstGeom>
          <a:solidFill>
            <a:srgbClr val="E3EFFA"/>
          </a:solidFill>
          <a:ln w="19050">
            <a:solidFill>
              <a:srgbClr val="4A90E2"/>
            </a:solidFill>
          </a:ln>
        </p:spPr>
        <p:style>
          <a:lnRef idx="1">
            <a:schemeClr val="accent1"/>
          </a:lnRef>
          <a:fillRef idx="3">
            <a:schemeClr val="accent1"/>
          </a:fillRef>
          <a:effectRef idx="2">
            <a:schemeClr val="accent1"/>
          </a:effectRef>
          <a:fontRef idx="minor">
            <a:schemeClr val="lt1"/>
          </a:fontRef>
        </p:style>
        <p:txBody>
          <a:bodyPr rtlCol="0" anchor="ctr" tIns="91440" lIns="182880" wrap="square"/>
          <a:lstStyle/>
          <a:p>
            <a:pPr algn="ctr"/>
            <a:r>
              <a:rPr sz="1300" b="1">
                <a:solidFill>
                  <a:srgbClr val="4A90E2"/>
                </a:solidFill>
                <a:latin typeface="Calibri"/>
              </a:rPr>
              <a:t>9 SUBAGENTS — each with its own context, write scope, doctrine</a:t>
            </a:r>
          </a:p>
          <a:p>
            <a:pPr>
              <a:spcBef>
                <a:spcPts val="300"/>
              </a:spcBef>
            </a:pPr>
            <a:r>
              <a:rPr sz="1100">
                <a:solidFill>
                  <a:srgbClr val="333333"/>
                </a:solidFill>
                <a:latin typeface="Calibri"/>
              </a:rPr>
              <a:t>collector · grader · analyst · red-team-analyst · actor-profiler · vuln-tracker · briefer · librarian + delegate-only orchestrator</a:t>
            </a:r>
          </a:p>
        </p:txBody>
      </p:sp>
      <p:sp>
        <p:nvSpPr>
          <p:cNvPr id="8" name="Rounded Rectangle 7"/>
          <p:cNvSpPr/>
          <p:nvPr/>
        </p:nvSpPr>
        <p:spPr>
          <a:xfrm>
            <a:off x="1371600" y="4069080"/>
            <a:ext cx="10058400" cy="777240"/>
          </a:xfrm>
          <a:prstGeom prst="roundRect">
            <a:avLst/>
          </a:prstGeom>
          <a:solidFill>
            <a:srgbClr val="E3EFFA"/>
          </a:solidFill>
          <a:ln w="19050">
            <a:solidFill>
              <a:srgbClr val="4A90E2"/>
            </a:solidFill>
          </a:ln>
        </p:spPr>
        <p:style>
          <a:lnRef idx="1">
            <a:schemeClr val="accent1"/>
          </a:lnRef>
          <a:fillRef idx="3">
            <a:schemeClr val="accent1"/>
          </a:fillRef>
          <a:effectRef idx="2">
            <a:schemeClr val="accent1"/>
          </a:effectRef>
          <a:fontRef idx="minor">
            <a:schemeClr val="lt1"/>
          </a:fontRef>
        </p:style>
        <p:txBody>
          <a:bodyPr rtlCol="0" anchor="ctr" tIns="91440" lIns="182880" wrap="square"/>
          <a:lstStyle/>
          <a:p>
            <a:pPr algn="ctr"/>
            <a:r>
              <a:rPr sz="1300" b="1">
                <a:solidFill>
                  <a:srgbClr val="4A90E2"/>
                </a:solidFill>
                <a:latin typeface="Calibri"/>
              </a:rPr>
              <a:t>MCP WRAPPERS + HOOKS — the tool interface</a:t>
            </a:r>
          </a:p>
          <a:p>
            <a:pPr>
              <a:spcBef>
                <a:spcPts val="300"/>
              </a:spcBef>
            </a:pPr>
            <a:r>
              <a:rPr sz="1100">
                <a:solidFill>
                  <a:srgbClr val="333333"/>
                </a:solidFill>
                <a:latin typeface="Calibri"/>
              </a:rPr>
              <a:t>Splunk · VirusTotal · Shodan · Censys · urlscan · theHarvester · SpiderFoot · RSS / discord-post.sh · splunk-log.sh</a:t>
            </a:r>
          </a:p>
        </p:txBody>
      </p:sp>
      <p:sp>
        <p:nvSpPr>
          <p:cNvPr id="9" name="Rounded Rectangle 8"/>
          <p:cNvSpPr/>
          <p:nvPr/>
        </p:nvSpPr>
        <p:spPr>
          <a:xfrm>
            <a:off x="1371600" y="4937760"/>
            <a:ext cx="10058400" cy="777240"/>
          </a:xfrm>
          <a:prstGeom prst="roundRect">
            <a:avLst/>
          </a:prstGeom>
          <a:solidFill>
            <a:srgbClr val="E6F4EA"/>
          </a:solidFill>
          <a:ln w="1905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tIns="91440" lIns="182880" wrap="square"/>
          <a:lstStyle/>
          <a:p>
            <a:pPr algn="ctr"/>
            <a:r>
              <a:rPr sz="1300" b="1">
                <a:solidFill>
                  <a:srgbClr val="2E7D32"/>
                </a:solidFill>
                <a:latin typeface="Calibri"/>
              </a:rPr>
              <a:t>EXTERNAL — sources of truth and side effects</a:t>
            </a:r>
          </a:p>
          <a:p>
            <a:pPr>
              <a:spcBef>
                <a:spcPts val="300"/>
              </a:spcBef>
            </a:pPr>
            <a:r>
              <a:rPr sz="1100">
                <a:solidFill>
                  <a:srgbClr val="333333"/>
                </a:solidFill>
                <a:latin typeface="Calibri"/>
              </a:rPr>
              <a:t>OSINT feeds · Splunk indexes · git · Discord · Task Scheduler</a:t>
            </a:r>
          </a:p>
        </p:txBody>
      </p:sp>
      <p:sp>
        <p:nvSpPr>
          <p:cNvPr id="10" name="Rectangle 9"/>
          <p:cNvSpPr/>
          <p:nvPr/>
        </p:nvSpPr>
        <p:spPr>
          <a:xfrm>
            <a:off x="274320" y="1463040"/>
            <a:ext cx="914400" cy="4754880"/>
          </a:xfrm>
          <a:prstGeom prst="rect">
            <a:avLst/>
          </a:prstGeom>
          <a:solidFill>
            <a:srgbClr val="C87F0A"/>
          </a:solidFill>
          <a:ln>
            <a:noFill/>
          </a:ln>
        </p:spPr>
        <p:style>
          <a:lnRef idx="1">
            <a:schemeClr val="accent1"/>
          </a:lnRef>
          <a:fillRef idx="3">
            <a:schemeClr val="accent1"/>
          </a:fillRef>
          <a:effectRef idx="2">
            <a:schemeClr val="accent1"/>
          </a:effectRef>
          <a:fontRef idx="minor">
            <a:schemeClr val="lt1"/>
          </a:fontRef>
        </p:style>
        <p:txBody>
          <a:bodyPr rtlCol="0" anchor="ctr" tIns="2011680"/>
          <a:lstStyle/>
          <a:p>
            <a:pPr algn="ctr"/>
            <a:r>
              <a:rPr sz="1200" b="1">
                <a:solidFill>
                  <a:srgbClr val="FFFFFF"/>
                </a:solidFill>
                <a:latin typeface="Calibri"/>
              </a:rPr>
              <a:t>DOCTRINE
(6 .md files
versioned in git)</a:t>
            </a:r>
          </a:p>
        </p:txBody>
      </p:sp>
      <p:sp>
        <p:nvSpPr>
          <p:cNvPr id="11" name="TextBox 10"/>
          <p:cNvSpPr txBox="1"/>
          <p:nvPr/>
        </p:nvSpPr>
        <p:spPr>
          <a:xfrm>
            <a:off x="457200" y="6446520"/>
            <a:ext cx="11274552" cy="274320"/>
          </a:xfrm>
          <a:prstGeom prst="rect">
            <a:avLst/>
          </a:prstGeom>
          <a:noFill/>
        </p:spPr>
        <p:txBody>
          <a:bodyPr wrap="none">
            <a:spAutoFit/>
          </a:bodyPr>
          <a:lstStyle/>
          <a:p>
            <a:pPr algn="l"/>
            <a:r>
              <a:rPr sz="800" i="1">
                <a:solidFill>
                  <a:srgbClr val="666666"/>
                </a:solidFill>
                <a:latin typeface="Calibri"/>
              </a:rPr>
              <a:t>Archimedes · Architecture Walkthrough</a:t>
            </a:r>
          </a:p>
        </p:txBody>
      </p:sp>
      <p:sp>
        <p:nvSpPr>
          <p:cNvPr id="12" name="TextBox 11"/>
          <p:cNvSpPr txBox="1"/>
          <p:nvPr/>
        </p:nvSpPr>
        <p:spPr>
          <a:xfrm>
            <a:off x="10515600" y="6446520"/>
            <a:ext cx="1188720" cy="274320"/>
          </a:xfrm>
          <a:prstGeom prst="rect">
            <a:avLst/>
          </a:prstGeom>
          <a:noFill/>
        </p:spPr>
        <p:txBody>
          <a:bodyPr wrap="none">
            <a:spAutoFit/>
          </a:bodyPr>
          <a:lstStyle/>
          <a:p>
            <a:pPr algn="r"/>
            <a:r>
              <a:rPr sz="800">
                <a:solidFill>
                  <a:srgbClr val="666666"/>
                </a:solidFill>
                <a:latin typeface="Calibri"/>
              </a:rPr>
              <a:t>2 / 32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28600"/>
          </a:xfrm>
          <a:prstGeom prst="rect">
            <a:avLst/>
          </a:prstGeom>
          <a:solidFill>
            <a:srgbClr val="4A90E2"/>
          </a:solidFill>
          <a:ln>
            <a:noFill/>
          </a:ln>
        </p:spPr>
        <p:style>
          <a:lnRef idx="1">
            <a:schemeClr val="accent1"/>
          </a:lnRef>
          <a:fillRef idx="3">
            <a:schemeClr val="accent1"/>
          </a:fillRef>
          <a:effectRef idx="2">
            <a:schemeClr val="accent1"/>
          </a:effectRef>
          <a:fontRef idx="minor">
            <a:schemeClr val="lt1"/>
          </a:fontRef>
        </p:style>
        <p:txBody>
          <a:bodyPr rtlCol="0" anchor="ctr" tIns="18288" lIns="457200"/>
          <a:lstStyle/>
          <a:p>
            <a:pPr algn="ctr"/>
            <a:r>
              <a:rPr sz="1000" b="1">
                <a:solidFill>
                  <a:srgbClr val="FFFFFF"/>
                </a:solidFill>
                <a:latin typeface="Calibri"/>
              </a:rPr>
              <a:t>§0  ·  Mental model</a:t>
            </a:r>
          </a:p>
        </p:txBody>
      </p:sp>
      <p:sp>
        <p:nvSpPr>
          <p:cNvPr id="3" name="TextBox 2"/>
          <p:cNvSpPr txBox="1"/>
          <p:nvPr/>
        </p:nvSpPr>
        <p:spPr>
          <a:xfrm>
            <a:off x="457200" y="274320"/>
            <a:ext cx="11274552" cy="640080"/>
          </a:xfrm>
          <a:prstGeom prst="rect">
            <a:avLst/>
          </a:prstGeom>
          <a:noFill/>
        </p:spPr>
        <p:txBody>
          <a:bodyPr wrap="square">
            <a:spAutoFit/>
          </a:bodyPr>
          <a:lstStyle/>
          <a:p>
            <a:pPr algn="l"/>
            <a:r>
              <a:rPr sz="2800" b="1">
                <a:solidFill>
                  <a:srgbClr val="1F3A5F"/>
                </a:solidFill>
                <a:latin typeface="Calibri"/>
              </a:rPr>
              <a:t>Five load-bearing invariants</a:t>
            </a:r>
          </a:p>
        </p:txBody>
      </p:sp>
      <p:sp>
        <p:nvSpPr>
          <p:cNvPr id="4" name="TextBox 3"/>
          <p:cNvSpPr txBox="1"/>
          <p:nvPr/>
        </p:nvSpPr>
        <p:spPr>
          <a:xfrm>
            <a:off x="457200" y="914400"/>
            <a:ext cx="11274552" cy="365760"/>
          </a:xfrm>
          <a:prstGeom prst="rect">
            <a:avLst/>
          </a:prstGeom>
          <a:noFill/>
        </p:spPr>
        <p:txBody>
          <a:bodyPr wrap="square">
            <a:spAutoFit/>
          </a:bodyPr>
          <a:lstStyle/>
          <a:p>
            <a:r>
              <a:rPr sz="1300" i="1">
                <a:solidFill>
                  <a:srgbClr val="666666"/>
                </a:solidFill>
                <a:latin typeface="Calibri"/>
              </a:rPr>
              <a:t>If your rebuild preserves these five, the rest is implementation detail.</a:t>
            </a:r>
          </a:p>
        </p:txBody>
      </p:sp>
      <p:sp>
        <p:nvSpPr>
          <p:cNvPr id="5" name="TextBox 4"/>
          <p:cNvSpPr txBox="1"/>
          <p:nvPr/>
        </p:nvSpPr>
        <p:spPr>
          <a:xfrm>
            <a:off x="457200" y="1463040"/>
            <a:ext cx="11274552" cy="4754880"/>
          </a:xfrm>
          <a:prstGeom prst="rect">
            <a:avLst/>
          </a:prstGeom>
          <a:noFill/>
        </p:spPr>
        <p:txBody>
          <a:bodyPr wrap="square">
            <a:spAutoFit/>
          </a:bodyPr>
          <a:lstStyle/>
          <a:p>
            <a:pPr algn="l">
              <a:lnSpc>
                <a:spcPct val="115000"/>
              </a:lnSpc>
            </a:pPr>
            <a:r>
              <a:rPr sz="1500" b="1">
                <a:solidFill>
                  <a:srgbClr val="333333"/>
                </a:solidFill>
                <a:latin typeface="Calibri"/>
              </a:rPr>
              <a:t>• 1.  Doctrine as code</a:t>
            </a:r>
          </a:p>
          <a:p>
            <a:pPr algn="l">
              <a:lnSpc>
                <a:spcPct val="115000"/>
              </a:lnSpc>
            </a:pPr>
            <a:r>
              <a:rPr sz="1100" i="1">
                <a:solidFill>
                  <a:srgbClr val="666666"/>
                </a:solidFill>
                <a:latin typeface="Calibri"/>
              </a:rPr>
              <a:t>   Every behavior the agent exhibits traces back to a versioned .md file. No prompts hidden in subagent code; no logic that contradicts the doctrine files. If you can't grep for the rule in doctrine/, the rule doesn't exist.</a:t>
            </a:r>
          </a:p>
          <a:p>
            <a:pPr algn="l">
              <a:lnSpc>
                <a:spcPct val="115000"/>
              </a:lnSpc>
              <a:spcBef>
                <a:spcPts val="600"/>
              </a:spcBef>
            </a:pPr>
            <a:r>
              <a:rPr sz="1500" b="1">
                <a:solidFill>
                  <a:srgbClr val="333333"/>
                </a:solidFill>
                <a:latin typeface="Calibri"/>
              </a:rPr>
              <a:t>• 2.  Subagent context isolation</a:t>
            </a:r>
          </a:p>
          <a:p>
            <a:pPr algn="l">
              <a:lnSpc>
                <a:spcPct val="115000"/>
              </a:lnSpc>
            </a:pPr>
            <a:r>
              <a:rPr sz="1100" i="1">
                <a:solidFill>
                  <a:srgbClr val="666666"/>
                </a:solidFill>
                <a:latin typeface="Calibri"/>
              </a:rPr>
              <a:t>   Each subagent gets the minimum context to do its job. Orchestrator never reads raw articles. Briefer never sees the coverage log. Red-team never wrote the primary finding. Lower error rate by construction.</a:t>
            </a:r>
          </a:p>
          <a:p>
            <a:pPr algn="l">
              <a:lnSpc>
                <a:spcPct val="115000"/>
              </a:lnSpc>
              <a:spcBef>
                <a:spcPts val="600"/>
              </a:spcBef>
            </a:pPr>
            <a:r>
              <a:rPr sz="1500" b="1">
                <a:solidFill>
                  <a:srgbClr val="333333"/>
                </a:solidFill>
                <a:latin typeface="Calibri"/>
              </a:rPr>
              <a:t>• 3.  Librarian-only side effects</a:t>
            </a:r>
          </a:p>
          <a:p>
            <a:pPr algn="l">
              <a:lnSpc>
                <a:spcPct val="115000"/>
              </a:lnSpc>
            </a:pPr>
            <a:r>
              <a:rPr sz="1100" i="1">
                <a:solidFill>
                  <a:srgbClr val="666666"/>
                </a:solidFill>
                <a:latin typeface="Calibri"/>
              </a:rPr>
              <a:t>   Only the librarian writes to git, Splunk, or Discord. Other subagents can write to disk inside their scope but the externalization happens in one place — easy to audit, easy to LEGAL-POLICY-scan, easy to rate-limit.</a:t>
            </a:r>
          </a:p>
          <a:p>
            <a:pPr algn="l">
              <a:lnSpc>
                <a:spcPct val="115000"/>
              </a:lnSpc>
              <a:spcBef>
                <a:spcPts val="600"/>
              </a:spcBef>
            </a:pPr>
            <a:r>
              <a:rPr sz="1500" b="1">
                <a:solidFill>
                  <a:srgbClr val="333333"/>
                </a:solidFill>
                <a:latin typeface="Calibri"/>
              </a:rPr>
              <a:t>• 4.  Human approval gates on high-stakes calls</a:t>
            </a:r>
          </a:p>
          <a:p>
            <a:pPr algn="l">
              <a:lnSpc>
                <a:spcPct val="115000"/>
              </a:lnSpc>
            </a:pPr>
            <a:r>
              <a:rPr sz="1100" i="1">
                <a:solidFill>
                  <a:srgbClr val="666666"/>
                </a:solidFill>
                <a:latin typeface="Calibri"/>
              </a:rPr>
              <a:t>   HIGH threat-box scoring → /approve-scoring. New actor → /new-actor. Source-grade ratification → human review. The agent proposes; the human approves on anything with reputational consequences.</a:t>
            </a:r>
          </a:p>
          <a:p>
            <a:pPr algn="l">
              <a:lnSpc>
                <a:spcPct val="115000"/>
              </a:lnSpc>
              <a:spcBef>
                <a:spcPts val="600"/>
              </a:spcBef>
            </a:pPr>
            <a:r>
              <a:rPr sz="1500" b="1">
                <a:solidFill>
                  <a:srgbClr val="333333"/>
                </a:solidFill>
                <a:latin typeface="Calibri"/>
              </a:rPr>
              <a:t>• 5.  Audit trail is additive, never silent</a:t>
            </a:r>
          </a:p>
          <a:p>
            <a:pPr algn="l">
              <a:lnSpc>
                <a:spcPct val="115000"/>
              </a:lnSpc>
            </a:pPr>
            <a:r>
              <a:rPr sz="1100" i="1">
                <a:solidFill>
                  <a:srgbClr val="666666"/>
                </a:solidFill>
                <a:latin typeface="Calibri"/>
              </a:rPr>
              <a:t>   Retractions append to the original, never overwrite. Source grade downgrades log to source-grade-log.md. Every policy refusal logs to policy-violations.yaml. Git history + Splunk events + Discord posts together reconstruct any action.</a:t>
            </a:r>
          </a:p>
        </p:txBody>
      </p:sp>
      <p:sp>
        <p:nvSpPr>
          <p:cNvPr id="6" name="TextBox 5"/>
          <p:cNvSpPr txBox="1"/>
          <p:nvPr/>
        </p:nvSpPr>
        <p:spPr>
          <a:xfrm>
            <a:off x="457200" y="6446520"/>
            <a:ext cx="11274552" cy="274320"/>
          </a:xfrm>
          <a:prstGeom prst="rect">
            <a:avLst/>
          </a:prstGeom>
          <a:noFill/>
        </p:spPr>
        <p:txBody>
          <a:bodyPr wrap="none">
            <a:spAutoFit/>
          </a:bodyPr>
          <a:lstStyle/>
          <a:p>
            <a:pPr algn="l"/>
            <a:r>
              <a:rPr sz="800" i="1">
                <a:solidFill>
                  <a:srgbClr val="666666"/>
                </a:solidFill>
                <a:latin typeface="Calibri"/>
              </a:rPr>
              <a:t>Archimedes · Architecture Walkthrough</a:t>
            </a:r>
          </a:p>
        </p:txBody>
      </p:sp>
      <p:sp>
        <p:nvSpPr>
          <p:cNvPr id="7" name="TextBox 6"/>
          <p:cNvSpPr txBox="1"/>
          <p:nvPr/>
        </p:nvSpPr>
        <p:spPr>
          <a:xfrm>
            <a:off x="10515600" y="6446520"/>
            <a:ext cx="1188720" cy="274320"/>
          </a:xfrm>
          <a:prstGeom prst="rect">
            <a:avLst/>
          </a:prstGeom>
          <a:noFill/>
        </p:spPr>
        <p:txBody>
          <a:bodyPr wrap="none">
            <a:spAutoFit/>
          </a:bodyPr>
          <a:lstStyle/>
          <a:p>
            <a:pPr algn="r"/>
            <a:r>
              <a:rPr sz="800">
                <a:solidFill>
                  <a:srgbClr val="666666"/>
                </a:solidFill>
                <a:latin typeface="Calibri"/>
              </a:rPr>
              <a:t>3 / 32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28600"/>
          </a:xfrm>
          <a:prstGeom prst="rect">
            <a:avLst/>
          </a:prstGeom>
          <a:solidFill>
            <a:srgbClr val="4A90E2"/>
          </a:solidFill>
          <a:ln>
            <a:noFill/>
          </a:ln>
        </p:spPr>
        <p:style>
          <a:lnRef idx="1">
            <a:schemeClr val="accent1"/>
          </a:lnRef>
          <a:fillRef idx="3">
            <a:schemeClr val="accent1"/>
          </a:fillRef>
          <a:effectRef idx="2">
            <a:schemeClr val="accent1"/>
          </a:effectRef>
          <a:fontRef idx="minor">
            <a:schemeClr val="lt1"/>
          </a:fontRef>
        </p:style>
        <p:txBody>
          <a:bodyPr rtlCol="0" anchor="ctr" tIns="18288" lIns="457200"/>
          <a:lstStyle/>
          <a:p>
            <a:pPr algn="ctr"/>
            <a:r>
              <a:rPr sz="1000" b="1">
                <a:solidFill>
                  <a:srgbClr val="FFFFFF"/>
                </a:solidFill>
                <a:latin typeface="Calibri"/>
              </a:rPr>
              <a:t>§0  ·  Mental model</a:t>
            </a:r>
          </a:p>
        </p:txBody>
      </p:sp>
      <p:sp>
        <p:nvSpPr>
          <p:cNvPr id="3" name="TextBox 2"/>
          <p:cNvSpPr txBox="1"/>
          <p:nvPr/>
        </p:nvSpPr>
        <p:spPr>
          <a:xfrm>
            <a:off x="457200" y="274320"/>
            <a:ext cx="11274552" cy="640080"/>
          </a:xfrm>
          <a:prstGeom prst="rect">
            <a:avLst/>
          </a:prstGeom>
          <a:noFill/>
        </p:spPr>
        <p:txBody>
          <a:bodyPr wrap="square">
            <a:spAutoFit/>
          </a:bodyPr>
          <a:lstStyle/>
          <a:p>
            <a:pPr algn="l"/>
            <a:r>
              <a:rPr sz="2800" b="1">
                <a:solidFill>
                  <a:srgbClr val="1F3A5F"/>
                </a:solidFill>
                <a:latin typeface="Calibri"/>
              </a:rPr>
              <a:t>On-disk layout</a:t>
            </a:r>
          </a:p>
        </p:txBody>
      </p:sp>
      <p:sp>
        <p:nvSpPr>
          <p:cNvPr id="4" name="TextBox 3"/>
          <p:cNvSpPr txBox="1"/>
          <p:nvPr/>
        </p:nvSpPr>
        <p:spPr>
          <a:xfrm>
            <a:off x="457200" y="914400"/>
            <a:ext cx="11274552" cy="365760"/>
          </a:xfrm>
          <a:prstGeom prst="rect">
            <a:avLst/>
          </a:prstGeom>
          <a:noFill/>
        </p:spPr>
        <p:txBody>
          <a:bodyPr wrap="square">
            <a:spAutoFit/>
          </a:bodyPr>
          <a:lstStyle/>
          <a:p>
            <a:r>
              <a:rPr sz="1300" i="1">
                <a:solidFill>
                  <a:srgbClr val="666666"/>
                </a:solidFill>
                <a:latin typeface="Calibri"/>
              </a:rPr>
              <a:t>What lives where. Real directory tree, abbreviated.</a:t>
            </a:r>
          </a:p>
        </p:txBody>
      </p:sp>
      <p:sp>
        <p:nvSpPr>
          <p:cNvPr id="5" name="Rectangle 4"/>
          <p:cNvSpPr/>
          <p:nvPr/>
        </p:nvSpPr>
        <p:spPr>
          <a:xfrm>
            <a:off x="457200" y="1417320"/>
            <a:ext cx="11274552" cy="50749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508760"/>
            <a:ext cx="11000232" cy="4892040"/>
          </a:xfrm>
          <a:prstGeom prst="rect">
            <a:avLst/>
          </a:prstGeom>
          <a:noFill/>
        </p:spPr>
        <p:txBody>
          <a:bodyPr wrap="square">
            <a:spAutoFit/>
          </a:bodyPr>
          <a:lstStyle/>
          <a:p>
            <a:pPr algn="l"/>
            <a:r>
              <a:rPr sz="1000">
                <a:solidFill>
                  <a:srgbClr val="333333"/>
                </a:solidFill>
                <a:latin typeface="Consolas"/>
              </a:rPr>
              <a:t>archimedes/</a:t>
            </a:r>
          </a:p>
          <a:p>
            <a:pPr algn="l"/>
            <a:r>
              <a:rPr sz="1000">
                <a:solidFill>
                  <a:srgbClr val="333333"/>
                </a:solidFill>
                <a:latin typeface="Consolas"/>
              </a:rPr>
              <a:t>├── doctrine/                       6 .md files — agent's working memory</a:t>
            </a:r>
          </a:p>
          <a:p>
            <a:pPr algn="l"/>
            <a:r>
              <a:rPr sz="1000">
                <a:solidFill>
                  <a:srgbClr val="333333"/>
                </a:solidFill>
                <a:latin typeface="Consolas"/>
              </a:rPr>
              <a:t>│   ├── LEGAL-POLICY.md             prohibited queries, ITAR boundary, copyright</a:t>
            </a:r>
          </a:p>
          <a:p>
            <a:pPr algn="l"/>
            <a:r>
              <a:rPr sz="1000">
                <a:solidFill>
                  <a:srgbClr val="333333"/>
                </a:solidFill>
                <a:latin typeface="Consolas"/>
              </a:rPr>
              <a:t>│   ├── INTEL-GRADING.md            Admiralty 6×6, WEP, single-source-veto</a:t>
            </a:r>
          </a:p>
          <a:p>
            <a:pPr algn="l"/>
            <a:r>
              <a:rPr sz="1000">
                <a:solidFill>
                  <a:srgbClr val="333333"/>
                </a:solidFill>
                <a:latin typeface="Consolas"/>
              </a:rPr>
              <a:t>│   ├── INTEL-BRIEF-STANDARDS.md    Layer 1/Layer 2 spec, preflight checklist</a:t>
            </a:r>
          </a:p>
          <a:p>
            <a:pPr algn="l"/>
            <a:r>
              <a:rPr sz="1000">
                <a:solidFill>
                  <a:srgbClr val="333333"/>
                </a:solidFill>
                <a:latin typeface="Consolas"/>
              </a:rPr>
              <a:t>│   ├── THREAT-BOX-METHODOLOGY.md   per-category scoring, evidence-min tables</a:t>
            </a:r>
          </a:p>
          <a:p>
            <a:pPr algn="l"/>
            <a:r>
              <a:rPr sz="1000">
                <a:solidFill>
                  <a:srgbClr val="333333"/>
                </a:solidFill>
                <a:latin typeface="Consolas"/>
              </a:rPr>
              <a:t>│   ├── RETRACTION-POLICY.md        additive retractions, 72h auto-downgrade</a:t>
            </a:r>
          </a:p>
          <a:p>
            <a:pPr algn="l"/>
            <a:r>
              <a:rPr sz="1000">
                <a:solidFill>
                  <a:srgbClr val="333333"/>
                </a:solidFill>
                <a:latin typeface="Consolas"/>
              </a:rPr>
              <a:t>│   └── FLASH-POLICY.md             7 triggers, quiet hours, critical override</a:t>
            </a:r>
          </a:p>
          <a:p>
            <a:pPr algn="l"/>
            <a:r>
              <a:rPr sz="1000">
                <a:solidFill>
                  <a:srgbClr val="333333"/>
                </a:solidFill>
                <a:latin typeface="Consolas"/>
              </a:rPr>
              <a:t>│</a:t>
            </a:r>
          </a:p>
          <a:p>
            <a:pPr algn="l"/>
            <a:r>
              <a:rPr sz="1000">
                <a:solidFill>
                  <a:srgbClr val="333333"/>
                </a:solidFill>
                <a:latin typeface="Consolas"/>
              </a:rPr>
              <a:t>├── .claude/</a:t>
            </a:r>
          </a:p>
          <a:p>
            <a:pPr algn="l"/>
            <a:r>
              <a:rPr sz="1000">
                <a:solidFill>
                  <a:srgbClr val="333333"/>
                </a:solidFill>
                <a:latin typeface="Consolas"/>
              </a:rPr>
              <a:t>│   ├── agents/                     9 subagent definition .md files</a:t>
            </a:r>
          </a:p>
          <a:p>
            <a:pPr algn="l"/>
            <a:r>
              <a:rPr sz="1000">
                <a:solidFill>
                  <a:srgbClr val="333333"/>
                </a:solidFill>
                <a:latin typeface="Consolas"/>
              </a:rPr>
              <a:t>│   │   ├── collector.md  grader.md  analyst.md  red-team-analyst.md</a:t>
            </a:r>
          </a:p>
          <a:p>
            <a:pPr algn="l"/>
            <a:r>
              <a:rPr sz="1000">
                <a:solidFill>
                  <a:srgbClr val="333333"/>
                </a:solidFill>
                <a:latin typeface="Consolas"/>
              </a:rPr>
              <a:t>│   │   ├── actor-profiler.md  vuln-tracker.md  briefer.md  librarian.md</a:t>
            </a:r>
          </a:p>
          <a:p>
            <a:pPr algn="l"/>
            <a:r>
              <a:rPr sz="1000">
                <a:solidFill>
                  <a:srgbClr val="333333"/>
                </a:solidFill>
                <a:latin typeface="Consolas"/>
              </a:rPr>
              <a:t>│   ├── skills/                     reusable skill bundles</a:t>
            </a:r>
          </a:p>
          <a:p>
            <a:pPr algn="l"/>
            <a:r>
              <a:rPr sz="1000">
                <a:solidFill>
                  <a:srgbClr val="333333"/>
                </a:solidFill>
                <a:latin typeface="Consolas"/>
              </a:rPr>
              <a:t>│   │   ├── smart-brevity/   admiralty-grading/   sat-ach/   sat-kac/</a:t>
            </a:r>
          </a:p>
          <a:p>
            <a:pPr algn="l"/>
            <a:r>
              <a:rPr sz="1000">
                <a:solidFill>
                  <a:srgbClr val="333333"/>
                </a:solidFill>
                <a:latin typeface="Consolas"/>
              </a:rPr>
              <a:t>│   ├── commands/                   slash-command definitions (/investigate, etc.)</a:t>
            </a:r>
          </a:p>
          <a:p>
            <a:pPr algn="l"/>
            <a:r>
              <a:rPr sz="1000">
                <a:solidFill>
                  <a:srgbClr val="333333"/>
                </a:solidFill>
                <a:latin typeface="Consolas"/>
              </a:rPr>
              <a:t>│   └── hooks/                      bash scripts for deterministic side effects</a:t>
            </a:r>
          </a:p>
          <a:p>
            <a:pPr algn="l"/>
            <a:r>
              <a:rPr sz="1000">
                <a:solidFill>
                  <a:srgbClr val="333333"/>
                </a:solidFill>
                <a:latin typeface="Consolas"/>
              </a:rPr>
              <a:t>│       ├── discord-post.sh         POST to Discord via webhook</a:t>
            </a:r>
          </a:p>
          <a:p>
            <a:pPr algn="l"/>
            <a:r>
              <a:rPr sz="1000">
                <a:solidFill>
                  <a:srgbClr val="333333"/>
                </a:solidFill>
                <a:latin typeface="Consolas"/>
              </a:rPr>
              <a:t>│       └── splunk-log.sh           HEC ingest to Splunk</a:t>
            </a:r>
          </a:p>
          <a:p>
            <a:pPr algn="l"/>
            <a:r>
              <a:rPr sz="1000">
                <a:solidFill>
                  <a:srgbClr val="333333"/>
                </a:solidFill>
                <a:latin typeface="Consolas"/>
              </a:rPr>
              <a:t>│</a:t>
            </a:r>
          </a:p>
          <a:p>
            <a:pPr algn="l"/>
            <a:r>
              <a:rPr sz="1000">
                <a:solidFill>
                  <a:srgbClr val="333333"/>
                </a:solidFill>
                <a:latin typeface="Consolas"/>
              </a:rPr>
              <a:t>├── mcps/                           8 MCP wrappers — uv workspace members</a:t>
            </a:r>
          </a:p>
          <a:p>
            <a:pPr algn="l"/>
            <a:r>
              <a:rPr sz="1000">
                <a:solidFill>
                  <a:srgbClr val="333333"/>
                </a:solidFill>
                <a:latin typeface="Consolas"/>
              </a:rPr>
              <a:t>│   ├── splunk-query/  virustotal/  shodan-mcp/  rss-bridge/</a:t>
            </a:r>
          </a:p>
          <a:p>
            <a:pPr algn="l"/>
            <a:r>
              <a:rPr sz="1000">
                <a:solidFill>
                  <a:srgbClr val="333333"/>
                </a:solidFill>
                <a:latin typeface="Consolas"/>
              </a:rPr>
              <a:t>│   ├── urlscan/  censys/  theharvester/  spiderfoot/</a:t>
            </a:r>
          </a:p>
          <a:p>
            <a:pPr algn="l"/>
            <a:r>
              <a:rPr sz="1000">
                <a:solidFill>
                  <a:srgbClr val="333333"/>
                </a:solidFill>
                <a:latin typeface="Consolas"/>
              </a:rPr>
              <a:t>│</a:t>
            </a:r>
          </a:p>
          <a:p>
            <a:pPr algn="l"/>
            <a:r>
              <a:rPr sz="1000">
                <a:solidFill>
                  <a:srgbClr val="333333"/>
                </a:solidFill>
                <a:latin typeface="Consolas"/>
              </a:rPr>
              <a:t>├── threats/                        the corpus — agent writes; humans review</a:t>
            </a:r>
          </a:p>
          <a:p>
            <a:pPr algn="l"/>
            <a:r>
              <a:rPr sz="1000">
                <a:solidFill>
                  <a:srgbClr val="333333"/>
                </a:solidFill>
                <a:latin typeface="Consolas"/>
              </a:rPr>
              <a:t>│   ├── raw-signal/                 collector output (un-promoted)</a:t>
            </a:r>
          </a:p>
          <a:p>
            <a:pPr algn="l"/>
            <a:r>
              <a:rPr sz="1000">
                <a:solidFill>
                  <a:srgbClr val="333333"/>
                </a:solidFill>
                <a:latin typeface="Consolas"/>
              </a:rPr>
              <a:t>│   ├── findings/                   grader output (promoted, graded)</a:t>
            </a:r>
          </a:p>
          <a:p>
            <a:pPr algn="l"/>
            <a:r>
              <a:rPr sz="1000">
                <a:solidFill>
                  <a:srgbClr val="333333"/>
                </a:solidFill>
                <a:latin typeface="Consolas"/>
              </a:rPr>
              <a:t>│   ├── briefs/                     briefer output (Layer 1 + Layer 2)</a:t>
            </a:r>
          </a:p>
          <a:p>
            <a:pPr algn="l"/>
            <a:r>
              <a:rPr sz="1000">
                <a:solidFill>
                  <a:srgbClr val="333333"/>
                </a:solidFill>
                <a:latin typeface="Consolas"/>
              </a:rPr>
              <a:t>│   ├── threat-actors/&lt;actor&gt;/      per-actor dossier (profile + IOCs + threat-box)</a:t>
            </a:r>
          </a:p>
          <a:p>
            <a:pPr algn="l"/>
            <a:r>
              <a:rPr sz="1000">
                <a:solidFill>
                  <a:srgbClr val="333333"/>
                </a:solidFill>
                <a:latin typeface="Consolas"/>
              </a:rPr>
              <a:t>│   ├── vulnerabilities/&lt;cve&gt;/      per-CVE tracking</a:t>
            </a:r>
          </a:p>
          <a:p>
            <a:pPr algn="l"/>
            <a:r>
              <a:rPr sz="1000">
                <a:solidFill>
                  <a:srgbClr val="333333"/>
                </a:solidFill>
                <a:latin typeface="Consolas"/>
              </a:rPr>
              <a:t>│   └── iocs/_master-index.yaml     regenerated indexes</a:t>
            </a:r>
          </a:p>
          <a:p>
            <a:pPr algn="l"/>
            <a:r>
              <a:rPr sz="1000">
                <a:solidFill>
                  <a:srgbClr val="333333"/>
                </a:solidFill>
                <a:latin typeface="Consolas"/>
              </a:rPr>
              <a:t>│</a:t>
            </a:r>
          </a:p>
          <a:p>
            <a:pPr algn="l"/>
            <a:r>
              <a:rPr sz="1000">
                <a:solidFill>
                  <a:srgbClr val="333333"/>
                </a:solidFill>
                <a:latin typeface="Consolas"/>
              </a:rPr>
              <a:t>├── infrastructure/                 agent-readable YAML config</a:t>
            </a:r>
          </a:p>
          <a:p>
            <a:pPr algn="l"/>
            <a:r>
              <a:rPr sz="1000">
                <a:solidFill>
                  <a:srgbClr val="333333"/>
                </a:solidFill>
                <a:latin typeface="Consolas"/>
              </a:rPr>
              <a:t>│   ├── source-grades.yaml          which sources, which grades, which categories</a:t>
            </a:r>
          </a:p>
          <a:p>
            <a:pPr algn="l"/>
            <a:r>
              <a:rPr sz="1000">
                <a:solidFill>
                  <a:srgbClr val="333333"/>
                </a:solidFill>
                <a:latin typeface="Consolas"/>
              </a:rPr>
              <a:t>│   ├── source-health.yaml          runtime health state (gitignored — collector writes)</a:t>
            </a:r>
          </a:p>
          <a:p>
            <a:pPr algn="l"/>
            <a:r>
              <a:rPr sz="1000">
                <a:solidFill>
                  <a:srgbClr val="333333"/>
                </a:solidFill>
                <a:latin typeface="Consolas"/>
              </a:rPr>
              <a:t>│   ├── watch-config.yaml           standing brief sections + watchlists</a:t>
            </a:r>
          </a:p>
          <a:p>
            <a:pPr algn="l"/>
            <a:r>
              <a:rPr sz="1000">
                <a:solidFill>
                  <a:srgbClr val="333333"/>
                </a:solidFill>
                <a:latin typeface="Consolas"/>
              </a:rPr>
              <a:t>│   ├── authorized-targets.yaml     Hard Rule 4 — only these may be actively scanned</a:t>
            </a:r>
          </a:p>
          <a:p>
            <a:pPr algn="l"/>
            <a:r>
              <a:rPr sz="1000">
                <a:solidFill>
                  <a:srgbClr val="333333"/>
                </a:solidFill>
                <a:latin typeface="Consolas"/>
              </a:rPr>
              <a:t>│   └── scheduler/                  Windows Task Scheduler XML templates</a:t>
            </a:r>
          </a:p>
          <a:p>
            <a:pPr algn="l"/>
            <a:r>
              <a:rPr sz="1000">
                <a:solidFill>
                  <a:srgbClr val="333333"/>
                </a:solidFill>
                <a:latin typeface="Consolas"/>
              </a:rPr>
              <a:t>│</a:t>
            </a:r>
          </a:p>
          <a:p>
            <a:pPr algn="l"/>
            <a:r>
              <a:rPr sz="1000">
                <a:solidFill>
                  <a:srgbClr val="333333"/>
                </a:solidFill>
                <a:latin typeface="Consolas"/>
              </a:rPr>
              <a:t>├── scripts/                        Python helpers (not subagents)</a:t>
            </a:r>
          </a:p>
          <a:p>
            <a:pPr algn="l"/>
            <a:r>
              <a:rPr sz="1000">
                <a:solidFill>
                  <a:srgbClr val="333333"/>
                </a:solidFill>
                <a:latin typeface="Consolas"/>
              </a:rPr>
              <a:t>│   ├── run_phase.ps1               wrapper for scheduled brief invocation</a:t>
            </a:r>
          </a:p>
          <a:p>
            <a:pPr algn="l"/>
            <a:r>
              <a:rPr sz="1000">
                <a:solidFill>
                  <a:srgbClr val="333333"/>
                </a:solidFill>
                <a:latin typeface="Consolas"/>
              </a:rPr>
              <a:t>│   ├── splunk_log.py               HEC log helper</a:t>
            </a:r>
          </a:p>
          <a:p>
            <a:pPr algn="l"/>
            <a:r>
              <a:rPr sz="1000">
                <a:solidFill>
                  <a:srgbClr val="333333"/>
                </a:solidFill>
                <a:latin typeface="Consolas"/>
              </a:rPr>
              <a:t>│   ├── regenerate_ioc_index.py     index regen</a:t>
            </a:r>
          </a:p>
          <a:p>
            <a:pPr algn="l"/>
            <a:r>
              <a:rPr sz="1000">
                <a:solidFill>
                  <a:srgbClr val="333333"/>
                </a:solidFill>
                <a:latin typeface="Consolas"/>
              </a:rPr>
              <a:t>│   └── discord_listener.py         inbound /command bridge</a:t>
            </a:r>
          </a:p>
          <a:p>
            <a:pPr algn="l"/>
            <a:r>
              <a:rPr sz="1000">
                <a:solidFill>
                  <a:srgbClr val="333333"/>
                </a:solidFill>
                <a:latin typeface="Consolas"/>
              </a:rPr>
              <a:t>│</a:t>
            </a:r>
          </a:p>
          <a:p>
            <a:pPr algn="l"/>
            <a:r>
              <a:rPr sz="1000">
                <a:solidFill>
                  <a:srgbClr val="333333"/>
                </a:solidFill>
                <a:latin typeface="Consolas"/>
              </a:rPr>
              <a:t>├── docs/handoffs/                  session retrospectives (session-N.md)</a:t>
            </a:r>
          </a:p>
          <a:p>
            <a:pPr algn="l"/>
            <a:r>
              <a:rPr sz="1000">
                <a:solidFill>
                  <a:srgbClr val="333333"/>
                </a:solidFill>
                <a:latin typeface="Consolas"/>
              </a:rPr>
              <a:t>├── pyproject.toml                  root project + uv workspace declaration</a:t>
            </a:r>
          </a:p>
          <a:p>
            <a:pPr algn="l"/>
            <a:r>
              <a:rPr sz="1000">
                <a:solidFill>
                  <a:srgbClr val="333333"/>
                </a:solidFill>
                <a:latin typeface="Consolas"/>
              </a:rPr>
              <a:t>├── uv.lock                         locked dependency graph</a:t>
            </a:r>
          </a:p>
          <a:p>
            <a:pPr algn="l"/>
            <a:r>
              <a:rPr sz="1000">
                <a:solidFill>
                  <a:srgbClr val="333333"/>
                </a:solidFill>
                <a:latin typeface="Consolas"/>
              </a:rPr>
              <a:t>└── CLAUDE.md                       agent charter + operational notes log</a:t>
            </a:r>
          </a:p>
        </p:txBody>
      </p:sp>
      <p:sp>
        <p:nvSpPr>
          <p:cNvPr id="7" name="TextBox 6"/>
          <p:cNvSpPr txBox="1"/>
          <p:nvPr/>
        </p:nvSpPr>
        <p:spPr>
          <a:xfrm>
            <a:off x="457200" y="6446520"/>
            <a:ext cx="11274552" cy="274320"/>
          </a:xfrm>
          <a:prstGeom prst="rect">
            <a:avLst/>
          </a:prstGeom>
          <a:noFill/>
        </p:spPr>
        <p:txBody>
          <a:bodyPr wrap="none">
            <a:spAutoFit/>
          </a:bodyPr>
          <a:lstStyle/>
          <a:p>
            <a:pPr algn="l"/>
            <a:r>
              <a:rPr sz="800" i="1">
                <a:solidFill>
                  <a:srgbClr val="666666"/>
                </a:solidFill>
                <a:latin typeface="Calibri"/>
              </a:rPr>
              <a:t>Archimedes · Architecture Walkthrough</a:t>
            </a:r>
          </a:p>
        </p:txBody>
      </p:sp>
      <p:sp>
        <p:nvSpPr>
          <p:cNvPr id="8" name="TextBox 7"/>
          <p:cNvSpPr txBox="1"/>
          <p:nvPr/>
        </p:nvSpPr>
        <p:spPr>
          <a:xfrm>
            <a:off x="10515600" y="6446520"/>
            <a:ext cx="1188720" cy="274320"/>
          </a:xfrm>
          <a:prstGeom prst="rect">
            <a:avLst/>
          </a:prstGeom>
          <a:noFill/>
        </p:spPr>
        <p:txBody>
          <a:bodyPr wrap="none">
            <a:spAutoFit/>
          </a:bodyPr>
          <a:lstStyle/>
          <a:p>
            <a:pPr algn="r"/>
            <a:r>
              <a:rPr sz="800">
                <a:solidFill>
                  <a:srgbClr val="666666"/>
                </a:solidFill>
                <a:latin typeface="Calibri"/>
              </a:rPr>
              <a:t>4 / 32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28600"/>
          </a:xfrm>
          <a:prstGeom prst="rect">
            <a:avLst/>
          </a:prstGeom>
          <a:solidFill>
            <a:srgbClr val="4A90E2"/>
          </a:solidFill>
          <a:ln>
            <a:noFill/>
          </a:ln>
        </p:spPr>
        <p:style>
          <a:lnRef idx="1">
            <a:schemeClr val="accent1"/>
          </a:lnRef>
          <a:fillRef idx="3">
            <a:schemeClr val="accent1"/>
          </a:fillRef>
          <a:effectRef idx="2">
            <a:schemeClr val="accent1"/>
          </a:effectRef>
          <a:fontRef idx="minor">
            <a:schemeClr val="lt1"/>
          </a:fontRef>
        </p:style>
        <p:txBody>
          <a:bodyPr rtlCol="0" anchor="ctr" tIns="18288" lIns="457200"/>
          <a:lstStyle/>
          <a:p>
            <a:pPr algn="ctr"/>
            <a:r>
              <a:rPr sz="1000" b="1">
                <a:solidFill>
                  <a:srgbClr val="FFFFFF"/>
                </a:solidFill>
                <a:latin typeface="Calibri"/>
              </a:rPr>
              <a:t>§1  ·  Doctrine layer</a:t>
            </a:r>
          </a:p>
        </p:txBody>
      </p:sp>
      <p:sp>
        <p:nvSpPr>
          <p:cNvPr id="3" name="TextBox 2"/>
          <p:cNvSpPr txBox="1"/>
          <p:nvPr/>
        </p:nvSpPr>
        <p:spPr>
          <a:xfrm>
            <a:off x="457200" y="274320"/>
            <a:ext cx="11274552" cy="640080"/>
          </a:xfrm>
          <a:prstGeom prst="rect">
            <a:avLst/>
          </a:prstGeom>
          <a:noFill/>
        </p:spPr>
        <p:txBody>
          <a:bodyPr wrap="square">
            <a:spAutoFit/>
          </a:bodyPr>
          <a:lstStyle/>
          <a:p>
            <a:pPr algn="l"/>
            <a:r>
              <a:rPr sz="2800" b="1">
                <a:solidFill>
                  <a:srgbClr val="1F3A5F"/>
                </a:solidFill>
                <a:latin typeface="Calibri"/>
              </a:rPr>
              <a:t>The six doctrine files</a:t>
            </a:r>
          </a:p>
        </p:txBody>
      </p:sp>
      <p:sp>
        <p:nvSpPr>
          <p:cNvPr id="4" name="TextBox 3"/>
          <p:cNvSpPr txBox="1"/>
          <p:nvPr/>
        </p:nvSpPr>
        <p:spPr>
          <a:xfrm>
            <a:off x="457200" y="914400"/>
            <a:ext cx="11274552" cy="365760"/>
          </a:xfrm>
          <a:prstGeom prst="rect">
            <a:avLst/>
          </a:prstGeom>
          <a:noFill/>
        </p:spPr>
        <p:txBody>
          <a:bodyPr wrap="square">
            <a:spAutoFit/>
          </a:bodyPr>
          <a:lstStyle/>
          <a:p>
            <a:r>
              <a:rPr sz="1300" i="1">
                <a:solidFill>
                  <a:srgbClr val="666666"/>
                </a:solidFill>
                <a:latin typeface="Calibri"/>
              </a:rPr>
              <a:t>The agent's working memory. Versioned in git. Reviewable by analysts and engineers.</a:t>
            </a:r>
          </a:p>
        </p:txBody>
      </p:sp>
      <p:sp>
        <p:nvSpPr>
          <p:cNvPr id="5" name="Rectangle 4"/>
          <p:cNvSpPr/>
          <p:nvPr/>
        </p:nvSpPr>
        <p:spPr>
          <a:xfrm>
            <a:off x="457200" y="1371600"/>
            <a:ext cx="2651760" cy="50292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tIns="73152"/>
          <a:lstStyle/>
          <a:p>
            <a:pPr algn="ctr"/>
            <a:r>
              <a:rPr sz="1100" b="1">
                <a:solidFill>
                  <a:srgbClr val="FFFFFF"/>
                </a:solidFill>
                <a:latin typeface="Calibri"/>
              </a:rPr>
              <a:t>  Doctrine file</a:t>
            </a:r>
          </a:p>
        </p:txBody>
      </p:sp>
      <p:sp>
        <p:nvSpPr>
          <p:cNvPr id="6" name="Rectangle 5"/>
          <p:cNvSpPr/>
          <p:nvPr/>
        </p:nvSpPr>
        <p:spPr>
          <a:xfrm>
            <a:off x="3108960" y="1371600"/>
            <a:ext cx="4572000" cy="50292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tIns="73152"/>
          <a:lstStyle/>
          <a:p>
            <a:pPr algn="ctr"/>
            <a:r>
              <a:rPr sz="1100" b="1">
                <a:solidFill>
                  <a:srgbClr val="FFFFFF"/>
                </a:solidFill>
                <a:latin typeface="Calibri"/>
              </a:rPr>
              <a:t>  Governs</a:t>
            </a:r>
          </a:p>
        </p:txBody>
      </p:sp>
      <p:sp>
        <p:nvSpPr>
          <p:cNvPr id="7" name="Rectangle 6"/>
          <p:cNvSpPr/>
          <p:nvPr/>
        </p:nvSpPr>
        <p:spPr>
          <a:xfrm>
            <a:off x="7680960" y="1371600"/>
            <a:ext cx="2377440" cy="50292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tIns="73152"/>
          <a:lstStyle/>
          <a:p>
            <a:pPr algn="ctr"/>
            <a:r>
              <a:rPr sz="1100" b="1">
                <a:solidFill>
                  <a:srgbClr val="FFFFFF"/>
                </a:solidFill>
                <a:latin typeface="Calibri"/>
              </a:rPr>
              <a:t>  Read by</a:t>
            </a:r>
          </a:p>
        </p:txBody>
      </p:sp>
      <p:sp>
        <p:nvSpPr>
          <p:cNvPr id="8" name="Rectangle 7"/>
          <p:cNvSpPr/>
          <p:nvPr/>
        </p:nvSpPr>
        <p:spPr>
          <a:xfrm>
            <a:off x="10058400" y="1371600"/>
            <a:ext cx="1673352" cy="50292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tIns="73152"/>
          <a:lstStyle/>
          <a:p>
            <a:pPr algn="ctr"/>
            <a:r>
              <a:rPr sz="1100" b="1">
                <a:solidFill>
                  <a:srgbClr val="FFFFFF"/>
                </a:solidFill>
                <a:latin typeface="Calibri"/>
              </a:rPr>
              <a:t>  When</a:t>
            </a:r>
          </a:p>
        </p:txBody>
      </p:sp>
      <p:sp>
        <p:nvSpPr>
          <p:cNvPr id="9" name="Rectangle 8"/>
          <p:cNvSpPr/>
          <p:nvPr/>
        </p:nvSpPr>
        <p:spPr>
          <a:xfrm>
            <a:off x="457200" y="1874519"/>
            <a:ext cx="265176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b="1">
                <a:solidFill>
                  <a:srgbClr val="333333"/>
                </a:solidFill>
                <a:latin typeface="Calibri"/>
              </a:rPr>
              <a:t>  LEGAL-POLICY.md</a:t>
            </a:r>
          </a:p>
        </p:txBody>
      </p:sp>
      <p:sp>
        <p:nvSpPr>
          <p:cNvPr id="10" name="Rectangle 9"/>
          <p:cNvSpPr/>
          <p:nvPr/>
        </p:nvSpPr>
        <p:spPr>
          <a:xfrm>
            <a:off x="3108960" y="1874519"/>
            <a:ext cx="457200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prohibited queries · authorized targets · ITAR · copyright</a:t>
            </a:r>
          </a:p>
        </p:txBody>
      </p:sp>
      <p:sp>
        <p:nvSpPr>
          <p:cNvPr id="11" name="Rectangle 10"/>
          <p:cNvSpPr/>
          <p:nvPr/>
        </p:nvSpPr>
        <p:spPr>
          <a:xfrm>
            <a:off x="7680960" y="1874519"/>
            <a:ext cx="237744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every subagent (before any tool call)</a:t>
            </a:r>
          </a:p>
        </p:txBody>
      </p:sp>
      <p:sp>
        <p:nvSpPr>
          <p:cNvPr id="12" name="Rectangle 11"/>
          <p:cNvSpPr/>
          <p:nvPr/>
        </p:nvSpPr>
        <p:spPr>
          <a:xfrm>
            <a:off x="10058400" y="1874519"/>
            <a:ext cx="1673352"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session start + on update</a:t>
            </a:r>
          </a:p>
        </p:txBody>
      </p:sp>
      <p:sp>
        <p:nvSpPr>
          <p:cNvPr id="13" name="Rectangle 12"/>
          <p:cNvSpPr/>
          <p:nvPr/>
        </p:nvSpPr>
        <p:spPr>
          <a:xfrm>
            <a:off x="457200" y="2377439"/>
            <a:ext cx="2651760" cy="50292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b="1">
                <a:solidFill>
                  <a:srgbClr val="333333"/>
                </a:solidFill>
                <a:latin typeface="Calibri"/>
              </a:rPr>
              <a:t>  INTEL-GRADING.md</a:t>
            </a:r>
          </a:p>
        </p:txBody>
      </p:sp>
      <p:sp>
        <p:nvSpPr>
          <p:cNvPr id="14" name="Rectangle 13"/>
          <p:cNvSpPr/>
          <p:nvPr/>
        </p:nvSpPr>
        <p:spPr>
          <a:xfrm>
            <a:off x="3108960" y="2377439"/>
            <a:ext cx="4572000" cy="50292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Admiralty 6×6 · WEP · single-source-veto · corroboration rules</a:t>
            </a:r>
          </a:p>
        </p:txBody>
      </p:sp>
      <p:sp>
        <p:nvSpPr>
          <p:cNvPr id="15" name="Rectangle 14"/>
          <p:cNvSpPr/>
          <p:nvPr/>
        </p:nvSpPr>
        <p:spPr>
          <a:xfrm>
            <a:off x="7680960" y="2377439"/>
            <a:ext cx="2377440" cy="50292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grader</a:t>
            </a:r>
          </a:p>
        </p:txBody>
      </p:sp>
      <p:sp>
        <p:nvSpPr>
          <p:cNvPr id="16" name="Rectangle 15"/>
          <p:cNvSpPr/>
          <p:nvPr/>
        </p:nvSpPr>
        <p:spPr>
          <a:xfrm>
            <a:off x="10058400" y="2377439"/>
            <a:ext cx="1673352" cy="50292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on every finding promotion</a:t>
            </a:r>
          </a:p>
        </p:txBody>
      </p:sp>
      <p:sp>
        <p:nvSpPr>
          <p:cNvPr id="17" name="Rectangle 16"/>
          <p:cNvSpPr/>
          <p:nvPr/>
        </p:nvSpPr>
        <p:spPr>
          <a:xfrm>
            <a:off x="457200" y="2880360"/>
            <a:ext cx="265176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b="1">
                <a:solidFill>
                  <a:srgbClr val="333333"/>
                </a:solidFill>
                <a:latin typeface="Calibri"/>
              </a:rPr>
              <a:t>  INTEL-BRIEF-STANDARDS.md</a:t>
            </a:r>
          </a:p>
        </p:txBody>
      </p:sp>
      <p:sp>
        <p:nvSpPr>
          <p:cNvPr id="18" name="Rectangle 17"/>
          <p:cNvSpPr/>
          <p:nvPr/>
        </p:nvSpPr>
        <p:spPr>
          <a:xfrm>
            <a:off x="3108960" y="2880360"/>
            <a:ext cx="457200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Layer 1 / Layer 2 spec · preflight checklist · word/char budgets</a:t>
            </a:r>
          </a:p>
        </p:txBody>
      </p:sp>
      <p:sp>
        <p:nvSpPr>
          <p:cNvPr id="19" name="Rectangle 18"/>
          <p:cNvSpPr/>
          <p:nvPr/>
        </p:nvSpPr>
        <p:spPr>
          <a:xfrm>
            <a:off x="7680960" y="2880360"/>
            <a:ext cx="237744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briefer</a:t>
            </a:r>
          </a:p>
        </p:txBody>
      </p:sp>
      <p:sp>
        <p:nvSpPr>
          <p:cNvPr id="20" name="Rectangle 19"/>
          <p:cNvSpPr/>
          <p:nvPr/>
        </p:nvSpPr>
        <p:spPr>
          <a:xfrm>
            <a:off x="10058400" y="2880360"/>
            <a:ext cx="1673352"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on every brief compose</a:t>
            </a:r>
          </a:p>
        </p:txBody>
      </p:sp>
      <p:sp>
        <p:nvSpPr>
          <p:cNvPr id="21" name="Rectangle 20"/>
          <p:cNvSpPr/>
          <p:nvPr/>
        </p:nvSpPr>
        <p:spPr>
          <a:xfrm>
            <a:off x="457200" y="3383280"/>
            <a:ext cx="2651760" cy="50292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b="1">
                <a:solidFill>
                  <a:srgbClr val="333333"/>
                </a:solidFill>
                <a:latin typeface="Calibri"/>
              </a:rPr>
              <a:t>  THREAT-BOX-METHODOLOGY.md</a:t>
            </a:r>
          </a:p>
        </p:txBody>
      </p:sp>
      <p:sp>
        <p:nvSpPr>
          <p:cNvPr id="22" name="Rectangle 21"/>
          <p:cNvSpPr/>
          <p:nvPr/>
        </p:nvSpPr>
        <p:spPr>
          <a:xfrm>
            <a:off x="3108960" y="3383280"/>
            <a:ext cx="4572000" cy="50292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per-category composite scoring · evidence-minimum tables</a:t>
            </a:r>
          </a:p>
        </p:txBody>
      </p:sp>
      <p:sp>
        <p:nvSpPr>
          <p:cNvPr id="23" name="Rectangle 22"/>
          <p:cNvSpPr/>
          <p:nvPr/>
        </p:nvSpPr>
        <p:spPr>
          <a:xfrm>
            <a:off x="7680960" y="3383280"/>
            <a:ext cx="2377440" cy="50292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actor-profiler</a:t>
            </a:r>
          </a:p>
        </p:txBody>
      </p:sp>
      <p:sp>
        <p:nvSpPr>
          <p:cNvPr id="24" name="Rectangle 23"/>
          <p:cNvSpPr/>
          <p:nvPr/>
        </p:nvSpPr>
        <p:spPr>
          <a:xfrm>
            <a:off x="10058400" y="3383280"/>
            <a:ext cx="1673352" cy="50292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on every /update-tracking</a:t>
            </a:r>
          </a:p>
        </p:txBody>
      </p:sp>
      <p:sp>
        <p:nvSpPr>
          <p:cNvPr id="25" name="Rectangle 24"/>
          <p:cNvSpPr/>
          <p:nvPr/>
        </p:nvSpPr>
        <p:spPr>
          <a:xfrm>
            <a:off x="457200" y="3886200"/>
            <a:ext cx="265176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b="1">
                <a:solidFill>
                  <a:srgbClr val="333333"/>
                </a:solidFill>
                <a:latin typeface="Calibri"/>
              </a:rPr>
              <a:t>  RETRACTION-POLICY.md</a:t>
            </a:r>
          </a:p>
        </p:txBody>
      </p:sp>
      <p:sp>
        <p:nvSpPr>
          <p:cNvPr id="26" name="Rectangle 25"/>
          <p:cNvSpPr/>
          <p:nvPr/>
        </p:nvSpPr>
        <p:spPr>
          <a:xfrm>
            <a:off x="3108960" y="3886200"/>
            <a:ext cx="457200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when to retract vs correct · additive · 72h auto-downgrade</a:t>
            </a:r>
          </a:p>
        </p:txBody>
      </p:sp>
      <p:sp>
        <p:nvSpPr>
          <p:cNvPr id="27" name="Rectangle 26"/>
          <p:cNvSpPr/>
          <p:nvPr/>
        </p:nvSpPr>
        <p:spPr>
          <a:xfrm>
            <a:off x="7680960" y="3886200"/>
            <a:ext cx="237744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grader + librarian</a:t>
            </a:r>
          </a:p>
        </p:txBody>
      </p:sp>
      <p:sp>
        <p:nvSpPr>
          <p:cNvPr id="28" name="Rectangle 27"/>
          <p:cNvSpPr/>
          <p:nvPr/>
        </p:nvSpPr>
        <p:spPr>
          <a:xfrm>
            <a:off x="10058400" y="3886200"/>
            <a:ext cx="1673352"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on retraction trigger</a:t>
            </a:r>
          </a:p>
        </p:txBody>
      </p:sp>
      <p:sp>
        <p:nvSpPr>
          <p:cNvPr id="29" name="Rectangle 28"/>
          <p:cNvSpPr/>
          <p:nvPr/>
        </p:nvSpPr>
        <p:spPr>
          <a:xfrm>
            <a:off x="457200" y="4389120"/>
            <a:ext cx="2651760" cy="50292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b="1">
                <a:solidFill>
                  <a:srgbClr val="333333"/>
                </a:solidFill>
                <a:latin typeface="Calibri"/>
              </a:rPr>
              <a:t>  FLASH-POLICY.md</a:t>
            </a:r>
          </a:p>
        </p:txBody>
      </p:sp>
      <p:sp>
        <p:nvSpPr>
          <p:cNvPr id="30" name="Rectangle 29"/>
          <p:cNvSpPr/>
          <p:nvPr/>
        </p:nvSpPr>
        <p:spPr>
          <a:xfrm>
            <a:off x="3108960" y="4389120"/>
            <a:ext cx="4572000" cy="50292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7 triggers · quiet hours · critical override · 72h clock</a:t>
            </a:r>
          </a:p>
        </p:txBody>
      </p:sp>
      <p:sp>
        <p:nvSpPr>
          <p:cNvPr id="31" name="Rectangle 30"/>
          <p:cNvSpPr/>
          <p:nvPr/>
        </p:nvSpPr>
        <p:spPr>
          <a:xfrm>
            <a:off x="7680960" y="4389120"/>
            <a:ext cx="2377440" cy="50292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collector + grader</a:t>
            </a:r>
          </a:p>
        </p:txBody>
      </p:sp>
      <p:sp>
        <p:nvSpPr>
          <p:cNvPr id="32" name="Rectangle 31"/>
          <p:cNvSpPr/>
          <p:nvPr/>
        </p:nvSpPr>
        <p:spPr>
          <a:xfrm>
            <a:off x="10058400" y="4389120"/>
            <a:ext cx="1673352" cy="50292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on every FLASH sweep</a:t>
            </a:r>
          </a:p>
        </p:txBody>
      </p:sp>
      <p:sp>
        <p:nvSpPr>
          <p:cNvPr id="33" name="TextBox 32"/>
          <p:cNvSpPr txBox="1"/>
          <p:nvPr/>
        </p:nvSpPr>
        <p:spPr>
          <a:xfrm>
            <a:off x="457200" y="6446520"/>
            <a:ext cx="11274552" cy="274320"/>
          </a:xfrm>
          <a:prstGeom prst="rect">
            <a:avLst/>
          </a:prstGeom>
          <a:noFill/>
        </p:spPr>
        <p:txBody>
          <a:bodyPr wrap="none">
            <a:spAutoFit/>
          </a:bodyPr>
          <a:lstStyle/>
          <a:p>
            <a:pPr algn="l"/>
            <a:r>
              <a:rPr sz="800" i="1">
                <a:solidFill>
                  <a:srgbClr val="666666"/>
                </a:solidFill>
                <a:latin typeface="Calibri"/>
              </a:rPr>
              <a:t>Archimedes · Architecture Walkthrough</a:t>
            </a:r>
          </a:p>
        </p:txBody>
      </p:sp>
      <p:sp>
        <p:nvSpPr>
          <p:cNvPr id="34" name="TextBox 33"/>
          <p:cNvSpPr txBox="1"/>
          <p:nvPr/>
        </p:nvSpPr>
        <p:spPr>
          <a:xfrm>
            <a:off x="10515600" y="6446520"/>
            <a:ext cx="1188720" cy="274320"/>
          </a:xfrm>
          <a:prstGeom prst="rect">
            <a:avLst/>
          </a:prstGeom>
          <a:noFill/>
        </p:spPr>
        <p:txBody>
          <a:bodyPr wrap="none">
            <a:spAutoFit/>
          </a:bodyPr>
          <a:lstStyle/>
          <a:p>
            <a:pPr algn="r"/>
            <a:r>
              <a:rPr sz="800">
                <a:solidFill>
                  <a:srgbClr val="666666"/>
                </a:solidFill>
                <a:latin typeface="Calibri"/>
              </a:rPr>
              <a:t>5 / 32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28600"/>
          </a:xfrm>
          <a:prstGeom prst="rect">
            <a:avLst/>
          </a:prstGeom>
          <a:solidFill>
            <a:srgbClr val="4A90E2"/>
          </a:solidFill>
          <a:ln>
            <a:noFill/>
          </a:ln>
        </p:spPr>
        <p:style>
          <a:lnRef idx="1">
            <a:schemeClr val="accent1"/>
          </a:lnRef>
          <a:fillRef idx="3">
            <a:schemeClr val="accent1"/>
          </a:fillRef>
          <a:effectRef idx="2">
            <a:schemeClr val="accent1"/>
          </a:effectRef>
          <a:fontRef idx="minor">
            <a:schemeClr val="lt1"/>
          </a:fontRef>
        </p:style>
        <p:txBody>
          <a:bodyPr rtlCol="0" anchor="ctr" tIns="18288" lIns="457200"/>
          <a:lstStyle/>
          <a:p>
            <a:pPr algn="ctr"/>
            <a:r>
              <a:rPr sz="1000" b="1">
                <a:solidFill>
                  <a:srgbClr val="FFFFFF"/>
                </a:solidFill>
                <a:latin typeface="Calibri"/>
              </a:rPr>
              <a:t>§1  ·  Doctrine layer</a:t>
            </a:r>
          </a:p>
        </p:txBody>
      </p:sp>
      <p:sp>
        <p:nvSpPr>
          <p:cNvPr id="3" name="TextBox 2"/>
          <p:cNvSpPr txBox="1"/>
          <p:nvPr/>
        </p:nvSpPr>
        <p:spPr>
          <a:xfrm>
            <a:off x="457200" y="274320"/>
            <a:ext cx="11274552" cy="640080"/>
          </a:xfrm>
          <a:prstGeom prst="rect">
            <a:avLst/>
          </a:prstGeom>
          <a:noFill/>
        </p:spPr>
        <p:txBody>
          <a:bodyPr wrap="square">
            <a:spAutoFit/>
          </a:bodyPr>
          <a:lstStyle/>
          <a:p>
            <a:pPr algn="l"/>
            <a:r>
              <a:rPr sz="2800" b="1">
                <a:solidFill>
                  <a:srgbClr val="1F3A5F"/>
                </a:solidFill>
                <a:latin typeface="Calibri"/>
              </a:rPr>
              <a:t>Anatomy of a doctrine file</a:t>
            </a:r>
          </a:p>
        </p:txBody>
      </p:sp>
      <p:sp>
        <p:nvSpPr>
          <p:cNvPr id="4" name="TextBox 3"/>
          <p:cNvSpPr txBox="1"/>
          <p:nvPr/>
        </p:nvSpPr>
        <p:spPr>
          <a:xfrm>
            <a:off x="457200" y="914400"/>
            <a:ext cx="11274552" cy="365760"/>
          </a:xfrm>
          <a:prstGeom prst="rect">
            <a:avLst/>
          </a:prstGeom>
          <a:noFill/>
        </p:spPr>
        <p:txBody>
          <a:bodyPr wrap="square">
            <a:spAutoFit/>
          </a:bodyPr>
          <a:lstStyle/>
          <a:p>
            <a:r>
              <a:rPr sz="1300" i="1">
                <a:solidFill>
                  <a:srgbClr val="666666"/>
                </a:solidFill>
                <a:latin typeface="Calibri"/>
              </a:rPr>
              <a:t>Real excerpt from doctrine/INTEL-GRADING.md</a:t>
            </a:r>
          </a:p>
        </p:txBody>
      </p:sp>
      <p:sp>
        <p:nvSpPr>
          <p:cNvPr id="5" name="Rectangle 4"/>
          <p:cNvSpPr/>
          <p:nvPr/>
        </p:nvSpPr>
        <p:spPr>
          <a:xfrm>
            <a:off x="457200" y="1417320"/>
            <a:ext cx="11274552" cy="50292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508760"/>
            <a:ext cx="11000232" cy="4846320"/>
          </a:xfrm>
          <a:prstGeom prst="rect">
            <a:avLst/>
          </a:prstGeom>
          <a:noFill/>
        </p:spPr>
        <p:txBody>
          <a:bodyPr wrap="square">
            <a:spAutoFit/>
          </a:bodyPr>
          <a:lstStyle/>
          <a:p>
            <a:pPr algn="l"/>
            <a:r>
              <a:rPr sz="1000">
                <a:solidFill>
                  <a:srgbClr val="333333"/>
                </a:solidFill>
                <a:latin typeface="Consolas"/>
              </a:rPr>
              <a:t># INTEL-GRADING.md — Intelligence Source Grading System</a:t>
            </a:r>
          </a:p>
          <a:p>
            <a:pPr algn="l"/>
            <a:r>
              <a:rPr sz="1000">
                <a:solidFill>
                  <a:srgbClr val="333333"/>
                </a:solidFill>
                <a:latin typeface="Consolas"/>
              </a:rPr>
              <a:t> </a:t>
            </a:r>
          </a:p>
          <a:p>
            <a:pPr algn="l"/>
            <a:r>
              <a:rPr sz="1000">
                <a:solidFill>
                  <a:srgbClr val="333333"/>
                </a:solidFill>
                <a:latin typeface="Consolas"/>
              </a:rPr>
              <a:t>&gt; **Archimedes doctrine — grading.**</a:t>
            </a:r>
          </a:p>
          <a:p>
            <a:pPr algn="l"/>
            <a:r>
              <a:rPr sz="1000">
                <a:solidFill>
                  <a:srgbClr val="333333"/>
                </a:solidFill>
                <a:latin typeface="Consolas"/>
              </a:rPr>
              <a:t>&gt; This file is authoritative. Every finding's digraph must be</a:t>
            </a:r>
          </a:p>
          <a:p>
            <a:pPr algn="l"/>
            <a:r>
              <a:rPr sz="1000">
                <a:solidFill>
                  <a:srgbClr val="333333"/>
                </a:solidFill>
                <a:latin typeface="Consolas"/>
              </a:rPr>
              <a:t>&gt; justifiable against this document.</a:t>
            </a:r>
          </a:p>
          <a:p>
            <a:pPr algn="l"/>
            <a:r>
              <a:rPr sz="1000">
                <a:solidFill>
                  <a:srgbClr val="333333"/>
                </a:solidFill>
                <a:latin typeface="Consolas"/>
              </a:rPr>
              <a:t> </a:t>
            </a:r>
          </a:p>
          <a:p>
            <a:pPr algn="l"/>
            <a:r>
              <a:rPr sz="1000">
                <a:solidFill>
                  <a:srgbClr val="333333"/>
                </a:solidFill>
                <a:latin typeface="Consolas"/>
              </a:rPr>
              <a:t>---</a:t>
            </a:r>
          </a:p>
          <a:p>
            <a:pPr algn="l"/>
            <a:r>
              <a:rPr sz="1000">
                <a:solidFill>
                  <a:srgbClr val="333333"/>
                </a:solidFill>
                <a:latin typeface="Consolas"/>
              </a:rPr>
              <a:t> </a:t>
            </a:r>
          </a:p>
          <a:p>
            <a:pPr algn="l"/>
            <a:r>
              <a:rPr sz="1000">
                <a:solidFill>
                  <a:srgbClr val="333333"/>
                </a:solidFill>
                <a:latin typeface="Consolas"/>
              </a:rPr>
              <a:t>## Source Reliability (A–F)</a:t>
            </a:r>
          </a:p>
          <a:p>
            <a:pPr algn="l"/>
            <a:r>
              <a:rPr sz="1000">
                <a:solidFill>
                  <a:srgbClr val="333333"/>
                </a:solidFill>
                <a:latin typeface="Consolas"/>
              </a:rPr>
              <a:t> </a:t>
            </a:r>
          </a:p>
          <a:p>
            <a:pPr algn="l"/>
            <a:r>
              <a:rPr sz="1000">
                <a:solidFill>
                  <a:srgbClr val="333333"/>
                </a:solidFill>
                <a:latin typeface="Consolas"/>
              </a:rPr>
              <a:t>| Grade | Label                | Description                                  |</a:t>
            </a:r>
          </a:p>
          <a:p>
            <a:pPr algn="l"/>
            <a:r>
              <a:rPr sz="1000">
                <a:solidFill>
                  <a:srgbClr val="333333"/>
                </a:solidFill>
                <a:latin typeface="Consolas"/>
              </a:rPr>
              <a:t>|-------|----------------------|----------------------------------------------|</a:t>
            </a:r>
          </a:p>
          <a:p>
            <a:pPr algn="l"/>
            <a:r>
              <a:rPr sz="1000">
                <a:solidFill>
                  <a:srgbClr val="333333"/>
                </a:solidFill>
                <a:latin typeface="Consolas"/>
              </a:rPr>
              <a:t>| A     | Completely Reliable  | Consistent, verified track record.           |</a:t>
            </a:r>
          </a:p>
          <a:p>
            <a:pPr algn="l"/>
            <a:r>
              <a:rPr sz="1000">
                <a:solidFill>
                  <a:srgbClr val="333333"/>
                </a:solidFill>
                <a:latin typeface="Consolas"/>
              </a:rPr>
              <a:t>| B     | Usually Reliable     | Strong track record, minor inaccuracies.    |</a:t>
            </a:r>
          </a:p>
          <a:p>
            <a:pPr algn="l"/>
            <a:r>
              <a:rPr sz="1000">
                <a:solidFill>
                  <a:srgbClr val="333333"/>
                </a:solidFill>
                <a:latin typeface="Consolas"/>
              </a:rPr>
              <a:t>| C     | Fairly Reliable      | Right before, but enough errors for caution. |</a:t>
            </a:r>
          </a:p>
          <a:p>
            <a:pPr algn="l"/>
            <a:r>
              <a:rPr sz="1000">
                <a:solidFill>
                  <a:srgbClr val="333333"/>
                </a:solidFill>
                <a:latin typeface="Consolas"/>
              </a:rPr>
              <a:t>| D     | Not Usually Reliable | More misses than hits. Lead, not finding.   |</a:t>
            </a:r>
          </a:p>
          <a:p>
            <a:pPr algn="l"/>
            <a:r>
              <a:rPr sz="1000">
                <a:solidFill>
                  <a:srgbClr val="333333"/>
                </a:solidFill>
                <a:latin typeface="Consolas"/>
              </a:rPr>
              <a:t>| E     | Unreliable           | History of false/misleading information.    |</a:t>
            </a:r>
          </a:p>
          <a:p>
            <a:pPr algn="l"/>
            <a:r>
              <a:rPr sz="1000">
                <a:solidFill>
                  <a:srgbClr val="333333"/>
                </a:solidFill>
                <a:latin typeface="Consolas"/>
              </a:rPr>
              <a:t>| F     | Cannot Be Judged     | New, unknown, no track record yet.          |</a:t>
            </a:r>
          </a:p>
          <a:p>
            <a:pPr algn="l"/>
            <a:r>
              <a:rPr sz="1000">
                <a:solidFill>
                  <a:srgbClr val="333333"/>
                </a:solidFill>
                <a:latin typeface="Consolas"/>
              </a:rPr>
              <a:t> </a:t>
            </a:r>
          </a:p>
          <a:p>
            <a:pPr algn="l"/>
            <a:r>
              <a:rPr sz="1000">
                <a:solidFill>
                  <a:srgbClr val="333333"/>
                </a:solidFill>
                <a:latin typeface="Consolas"/>
              </a:rPr>
              <a:t>## Credibility Assessment Checklist (authoritative)</a:t>
            </a:r>
          </a:p>
          <a:p>
            <a:pPr algn="l"/>
            <a:r>
              <a:rPr sz="1000">
                <a:solidFill>
                  <a:srgbClr val="333333"/>
                </a:solidFill>
                <a:latin typeface="Consolas"/>
              </a:rPr>
              <a:t> </a:t>
            </a:r>
          </a:p>
          <a:p>
            <a:pPr algn="l"/>
            <a:r>
              <a:rPr sz="1000">
                <a:solidFill>
                  <a:srgbClr val="333333"/>
                </a:solidFill>
                <a:latin typeface="Consolas"/>
              </a:rPr>
              <a:t>### 1 — Confirmed — ALL of:</a:t>
            </a:r>
          </a:p>
          <a:p>
            <a:pPr algn="l"/>
            <a:r>
              <a:rPr sz="1000">
                <a:solidFill>
                  <a:srgbClr val="333333"/>
                </a:solidFill>
                <a:latin typeface="Consolas"/>
              </a:rPr>
              <a:t>  - Multiple independent A/B-grade sources</a:t>
            </a:r>
          </a:p>
          <a:p>
            <a:pPr algn="l"/>
            <a:r>
              <a:rPr sz="1000">
                <a:solidFill>
                  <a:srgbClr val="333333"/>
                </a:solidFill>
                <a:latin typeface="Consolas"/>
              </a:rPr>
              <a:t>  - No public contradictions in 24h corroboration window</a:t>
            </a:r>
          </a:p>
          <a:p>
            <a:pPr algn="l"/>
            <a:r>
              <a:rPr sz="1000">
                <a:solidFill>
                  <a:srgbClr val="333333"/>
                </a:solidFill>
                <a:latin typeface="Consolas"/>
              </a:rPr>
              <a:t>  - First-party Splunk telemetry if applicable</a:t>
            </a:r>
          </a:p>
          <a:p>
            <a:pPr algn="l"/>
            <a:r>
              <a:rPr sz="1000">
                <a:solidFill>
                  <a:srgbClr val="333333"/>
                </a:solidFill>
                <a:latin typeface="Consolas"/>
              </a:rPr>
              <a:t> </a:t>
            </a:r>
          </a:p>
          <a:p>
            <a:pPr algn="l"/>
            <a:r>
              <a:rPr sz="1000">
                <a:solidFill>
                  <a:srgbClr val="333333"/>
                </a:solidFill>
                <a:latin typeface="Consolas"/>
              </a:rPr>
              <a:t>### 2 — Probably True — ALL of:</a:t>
            </a:r>
          </a:p>
          <a:p>
            <a:pPr algn="l"/>
            <a:r>
              <a:rPr sz="1000">
                <a:solidFill>
                  <a:srgbClr val="333333"/>
                </a:solidFill>
                <a:latin typeface="Consolas"/>
              </a:rPr>
              <a:t>  - One A-grade source</a:t>
            </a:r>
          </a:p>
          <a:p>
            <a:pPr algn="l"/>
            <a:r>
              <a:rPr sz="1000">
                <a:solidFill>
                  <a:srgbClr val="333333"/>
                </a:solidFill>
                <a:latin typeface="Consolas"/>
              </a:rPr>
              <a:t>  - Plausibility test passes (consistent with known TTPs)</a:t>
            </a:r>
          </a:p>
          <a:p>
            <a:pPr algn="l"/>
            <a:r>
              <a:rPr sz="1000">
                <a:solidFill>
                  <a:srgbClr val="333333"/>
                </a:solidFill>
                <a:latin typeface="Consolas"/>
              </a:rPr>
              <a:t>  - No active contradictions</a:t>
            </a:r>
          </a:p>
          <a:p>
            <a:pPr algn="l"/>
            <a:r>
              <a:rPr sz="1000">
                <a:solidFill>
                  <a:srgbClr val="333333"/>
                </a:solidFill>
                <a:latin typeface="Consolas"/>
              </a:rPr>
              <a:t> </a:t>
            </a:r>
          </a:p>
          <a:p>
            <a:pPr algn="l"/>
            <a:r>
              <a:rPr sz="1000">
                <a:solidFill>
                  <a:srgbClr val="333333"/>
                </a:solidFill>
                <a:latin typeface="Consolas"/>
              </a:rPr>
              <a:t>### 3 — Possibly True — single source, cannot confirm or deny.</a:t>
            </a:r>
          </a:p>
          <a:p>
            <a:pPr algn="l"/>
            <a:r>
              <a:rPr sz="1000">
                <a:solidFill>
                  <a:srgbClr val="333333"/>
                </a:solidFill>
                <a:latin typeface="Consolas"/>
              </a:rPr>
              <a:t> </a:t>
            </a:r>
          </a:p>
          <a:p>
            <a:pPr algn="l"/>
            <a:r>
              <a:rPr sz="1000">
                <a:solidFill>
                  <a:srgbClr val="333333"/>
                </a:solidFill>
                <a:latin typeface="Consolas"/>
              </a:rPr>
              <a:t>[...continues for 4, 5, 6...]</a:t>
            </a:r>
          </a:p>
        </p:txBody>
      </p:sp>
      <p:sp>
        <p:nvSpPr>
          <p:cNvPr id="7" name="TextBox 6"/>
          <p:cNvSpPr txBox="1"/>
          <p:nvPr/>
        </p:nvSpPr>
        <p:spPr>
          <a:xfrm>
            <a:off x="457200" y="6446520"/>
            <a:ext cx="11274552" cy="274320"/>
          </a:xfrm>
          <a:prstGeom prst="rect">
            <a:avLst/>
          </a:prstGeom>
          <a:noFill/>
        </p:spPr>
        <p:txBody>
          <a:bodyPr wrap="none">
            <a:spAutoFit/>
          </a:bodyPr>
          <a:lstStyle/>
          <a:p>
            <a:pPr algn="l"/>
            <a:r>
              <a:rPr sz="800" i="1">
                <a:solidFill>
                  <a:srgbClr val="666666"/>
                </a:solidFill>
                <a:latin typeface="Calibri"/>
              </a:rPr>
              <a:t>Archimedes · Architecture Walkthrough</a:t>
            </a:r>
          </a:p>
        </p:txBody>
      </p:sp>
      <p:sp>
        <p:nvSpPr>
          <p:cNvPr id="8" name="TextBox 7"/>
          <p:cNvSpPr txBox="1"/>
          <p:nvPr/>
        </p:nvSpPr>
        <p:spPr>
          <a:xfrm>
            <a:off x="10515600" y="6446520"/>
            <a:ext cx="1188720" cy="274320"/>
          </a:xfrm>
          <a:prstGeom prst="rect">
            <a:avLst/>
          </a:prstGeom>
          <a:noFill/>
        </p:spPr>
        <p:txBody>
          <a:bodyPr wrap="none">
            <a:spAutoFit/>
          </a:bodyPr>
          <a:lstStyle/>
          <a:p>
            <a:pPr algn="r"/>
            <a:r>
              <a:rPr sz="800">
                <a:solidFill>
                  <a:srgbClr val="666666"/>
                </a:solidFill>
                <a:latin typeface="Calibri"/>
              </a:rPr>
              <a:t>6 / 32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28600"/>
          </a:xfrm>
          <a:prstGeom prst="rect">
            <a:avLst/>
          </a:prstGeom>
          <a:solidFill>
            <a:srgbClr val="4A90E2"/>
          </a:solidFill>
          <a:ln>
            <a:noFill/>
          </a:ln>
        </p:spPr>
        <p:style>
          <a:lnRef idx="1">
            <a:schemeClr val="accent1"/>
          </a:lnRef>
          <a:fillRef idx="3">
            <a:schemeClr val="accent1"/>
          </a:fillRef>
          <a:effectRef idx="2">
            <a:schemeClr val="accent1"/>
          </a:effectRef>
          <a:fontRef idx="minor">
            <a:schemeClr val="lt1"/>
          </a:fontRef>
        </p:style>
        <p:txBody>
          <a:bodyPr rtlCol="0" anchor="ctr" tIns="18288" lIns="457200"/>
          <a:lstStyle/>
          <a:p>
            <a:pPr algn="ctr"/>
            <a:r>
              <a:rPr sz="1000" b="1">
                <a:solidFill>
                  <a:srgbClr val="FFFFFF"/>
                </a:solidFill>
                <a:latin typeface="Calibri"/>
              </a:rPr>
              <a:t>§1  ·  Doctrine layer</a:t>
            </a:r>
          </a:p>
        </p:txBody>
      </p:sp>
      <p:sp>
        <p:nvSpPr>
          <p:cNvPr id="3" name="TextBox 2"/>
          <p:cNvSpPr txBox="1"/>
          <p:nvPr/>
        </p:nvSpPr>
        <p:spPr>
          <a:xfrm>
            <a:off x="457200" y="274320"/>
            <a:ext cx="11274552" cy="640080"/>
          </a:xfrm>
          <a:prstGeom prst="rect">
            <a:avLst/>
          </a:prstGeom>
          <a:noFill/>
        </p:spPr>
        <p:txBody>
          <a:bodyPr wrap="square">
            <a:spAutoFit/>
          </a:bodyPr>
          <a:lstStyle/>
          <a:p>
            <a:pPr algn="l"/>
            <a:r>
              <a:rPr sz="2800" b="1">
                <a:solidFill>
                  <a:srgbClr val="1F3A5F"/>
                </a:solidFill>
                <a:latin typeface="Calibri"/>
              </a:rPr>
              <a:t>Hard Rules — the immutable refusal boundary</a:t>
            </a:r>
          </a:p>
        </p:txBody>
      </p:sp>
      <p:sp>
        <p:nvSpPr>
          <p:cNvPr id="4" name="TextBox 3"/>
          <p:cNvSpPr txBox="1"/>
          <p:nvPr/>
        </p:nvSpPr>
        <p:spPr>
          <a:xfrm>
            <a:off x="457200" y="914400"/>
            <a:ext cx="11274552" cy="365760"/>
          </a:xfrm>
          <a:prstGeom prst="rect">
            <a:avLst/>
          </a:prstGeom>
          <a:noFill/>
        </p:spPr>
        <p:txBody>
          <a:bodyPr wrap="square">
            <a:spAutoFit/>
          </a:bodyPr>
          <a:lstStyle/>
          <a:p>
            <a:r>
              <a:rPr sz="1300" i="1">
                <a:solidFill>
                  <a:srgbClr val="666666"/>
                </a:solidFill>
                <a:latin typeface="Calibri"/>
              </a:rPr>
              <a:t>From CLAUDE.md. Agent refuses even when prompted to bypass. Logged to policy-violations.yaml.</a:t>
            </a:r>
          </a:p>
        </p:txBody>
      </p:sp>
      <p:sp>
        <p:nvSpPr>
          <p:cNvPr id="5" name="TextBox 4"/>
          <p:cNvSpPr txBox="1"/>
          <p:nvPr/>
        </p:nvSpPr>
        <p:spPr>
          <a:xfrm>
            <a:off x="457200" y="1463040"/>
            <a:ext cx="11274552" cy="4754880"/>
          </a:xfrm>
          <a:prstGeom prst="rect">
            <a:avLst/>
          </a:prstGeom>
          <a:noFill/>
        </p:spPr>
        <p:txBody>
          <a:bodyPr wrap="square">
            <a:spAutoFit/>
          </a:bodyPr>
          <a:lstStyle/>
          <a:p>
            <a:pPr algn="l">
              <a:lnSpc>
                <a:spcPct val="115000"/>
              </a:lnSpc>
            </a:pPr>
            <a:r>
              <a:rPr sz="1300" b="1">
                <a:solidFill>
                  <a:srgbClr val="333333"/>
                </a:solidFill>
                <a:latin typeface="Calibri"/>
              </a:rPr>
              <a:t>• 1 · Legal policy is non-negotiable</a:t>
            </a:r>
          </a:p>
          <a:p>
            <a:pPr algn="l">
              <a:lnSpc>
                <a:spcPct val="115000"/>
              </a:lnSpc>
            </a:pPr>
            <a:r>
              <a:rPr sz="1100" i="1">
                <a:solidFill>
                  <a:srgbClr val="666666"/>
                </a:solidFill>
                <a:latin typeface="Calibri"/>
              </a:rPr>
              <a:t>   If LEGAL-POLICY prohibits it, refuse even if user insists. Log the attempt.</a:t>
            </a:r>
          </a:p>
          <a:p>
            <a:pPr algn="l">
              <a:lnSpc>
                <a:spcPct val="115000"/>
              </a:lnSpc>
              <a:spcBef>
                <a:spcPts val="600"/>
              </a:spcBef>
            </a:pPr>
            <a:r>
              <a:rPr sz="1300" b="1">
                <a:solidFill>
                  <a:srgbClr val="333333"/>
                </a:solidFill>
                <a:latin typeface="Calibri"/>
              </a:rPr>
              <a:t>• 2 · Never originate attribution</a:t>
            </a:r>
          </a:p>
          <a:p>
            <a:pPr algn="l">
              <a:lnSpc>
                <a:spcPct val="115000"/>
              </a:lnSpc>
            </a:pPr>
            <a:r>
              <a:rPr sz="1100" i="1">
                <a:solidFill>
                  <a:srgbClr val="666666"/>
                </a:solidFill>
                <a:latin typeface="Calibri"/>
              </a:rPr>
              <a:t>   Agent only reports what other sources have attributed, citing them.</a:t>
            </a:r>
          </a:p>
          <a:p>
            <a:pPr algn="l">
              <a:lnSpc>
                <a:spcPct val="115000"/>
              </a:lnSpc>
              <a:spcBef>
                <a:spcPts val="600"/>
              </a:spcBef>
            </a:pPr>
            <a:r>
              <a:rPr sz="1300" b="1">
                <a:solidFill>
                  <a:srgbClr val="333333"/>
                </a:solidFill>
                <a:latin typeface="Calibri"/>
              </a:rPr>
              <a:t>• 3 · No exploitation, ever</a:t>
            </a:r>
          </a:p>
          <a:p>
            <a:pPr algn="l">
              <a:lnSpc>
                <a:spcPct val="115000"/>
              </a:lnSpc>
            </a:pPr>
            <a:r>
              <a:rPr sz="1100" i="1">
                <a:solidFill>
                  <a:srgbClr val="666666"/>
                </a:solidFill>
                <a:latin typeface="Calibri"/>
              </a:rPr>
              <a:t>   No PoC code, payloads, exploit guides — not for testing, research, or 'educational' purposes.</a:t>
            </a:r>
          </a:p>
          <a:p>
            <a:pPr algn="l">
              <a:lnSpc>
                <a:spcPct val="115000"/>
              </a:lnSpc>
              <a:spcBef>
                <a:spcPts val="600"/>
              </a:spcBef>
            </a:pPr>
            <a:r>
              <a:rPr sz="1300" b="1">
                <a:solidFill>
                  <a:srgbClr val="333333"/>
                </a:solidFill>
                <a:latin typeface="Calibri"/>
              </a:rPr>
              <a:t>• 4 · Never scan third parties</a:t>
            </a:r>
          </a:p>
          <a:p>
            <a:pPr algn="l">
              <a:lnSpc>
                <a:spcPct val="115000"/>
              </a:lnSpc>
            </a:pPr>
            <a:r>
              <a:rPr sz="1100" i="1">
                <a:solidFill>
                  <a:srgbClr val="666666"/>
                </a:solidFill>
                <a:latin typeface="Calibri"/>
              </a:rPr>
              <a:t>   Active recon only against targets in authorized-targets.yaml. SpiderFoot + theHarvester MCPs enforce module-level allowlists.</a:t>
            </a:r>
          </a:p>
          <a:p>
            <a:pPr algn="l">
              <a:lnSpc>
                <a:spcPct val="115000"/>
              </a:lnSpc>
              <a:spcBef>
                <a:spcPts val="600"/>
              </a:spcBef>
            </a:pPr>
            <a:r>
              <a:rPr sz="1300" b="1">
                <a:solidFill>
                  <a:srgbClr val="333333"/>
                </a:solidFill>
                <a:latin typeface="Calibri"/>
              </a:rPr>
              <a:t>• 5 · Human sign-off for HIGH threat levels</a:t>
            </a:r>
          </a:p>
          <a:p>
            <a:pPr algn="l">
              <a:lnSpc>
                <a:spcPct val="115000"/>
              </a:lnSpc>
            </a:pPr>
            <a:r>
              <a:rPr sz="1100" i="1">
                <a:solidFill>
                  <a:srgbClr val="666666"/>
                </a:solidFill>
                <a:latin typeface="Calibri"/>
              </a:rPr>
              <a:t>   When actor-profiler proposes HIGH, posts to #actor-review and waits for /approve-scoring. Does not auto-commit.</a:t>
            </a:r>
          </a:p>
          <a:p>
            <a:pPr algn="l">
              <a:lnSpc>
                <a:spcPct val="115000"/>
              </a:lnSpc>
              <a:spcBef>
                <a:spcPts val="600"/>
              </a:spcBef>
            </a:pPr>
            <a:r>
              <a:rPr sz="1300" b="1">
                <a:solidFill>
                  <a:srgbClr val="333333"/>
                </a:solidFill>
                <a:latin typeface="Calibri"/>
              </a:rPr>
              <a:t>• 6 · 15-word quote limit, one quote per source</a:t>
            </a:r>
          </a:p>
          <a:p>
            <a:pPr algn="l">
              <a:lnSpc>
                <a:spcPct val="115000"/>
              </a:lnSpc>
            </a:pPr>
            <a:r>
              <a:rPr sz="1100" i="1">
                <a:solidFill>
                  <a:srgbClr val="666666"/>
                </a:solidFill>
                <a:latin typeface="Calibri"/>
              </a:rPr>
              <a:t>   Copyright compliance. Hard-enforced in preflight checklist.</a:t>
            </a:r>
          </a:p>
          <a:p>
            <a:pPr algn="l">
              <a:lnSpc>
                <a:spcPct val="115000"/>
              </a:lnSpc>
              <a:spcBef>
                <a:spcPts val="600"/>
              </a:spcBef>
            </a:pPr>
            <a:r>
              <a:rPr sz="1300" b="1">
                <a:solidFill>
                  <a:srgbClr val="333333"/>
                </a:solidFill>
                <a:latin typeface="Calibri"/>
              </a:rPr>
              <a:t>• 7 · Credentials are radioactive</a:t>
            </a:r>
          </a:p>
          <a:p>
            <a:pPr algn="l">
              <a:lnSpc>
                <a:spcPct val="115000"/>
              </a:lnSpc>
            </a:pPr>
            <a:r>
              <a:rPr sz="1100" i="1">
                <a:solidFill>
                  <a:srgbClr val="666666"/>
                </a:solidFill>
                <a:latin typeface="Calibri"/>
              </a:rPr>
              <a:t>   If a query surfaces credentials, never store them. Count, report exposure, discard.</a:t>
            </a:r>
          </a:p>
          <a:p>
            <a:pPr algn="l">
              <a:lnSpc>
                <a:spcPct val="115000"/>
              </a:lnSpc>
              <a:spcBef>
                <a:spcPts val="600"/>
              </a:spcBef>
            </a:pPr>
            <a:r>
              <a:rPr sz="1300" b="1">
                <a:solidFill>
                  <a:srgbClr val="333333"/>
                </a:solidFill>
                <a:latin typeface="Calibri"/>
              </a:rPr>
              <a:t>• 8 · Splunk first-party &gt; external</a:t>
            </a:r>
          </a:p>
          <a:p>
            <a:pPr algn="l">
              <a:lnSpc>
                <a:spcPct val="115000"/>
              </a:lnSpc>
            </a:pPr>
            <a:r>
              <a:rPr sz="1100" i="1">
                <a:solidFill>
                  <a:srgbClr val="666666"/>
                </a:solidFill>
                <a:latin typeface="Calibri"/>
              </a:rPr>
              <a:t>   When first-party telemetry contradicts external sources, first-party wins. The external source gets graded down.</a:t>
            </a:r>
          </a:p>
        </p:txBody>
      </p:sp>
      <p:sp>
        <p:nvSpPr>
          <p:cNvPr id="6" name="TextBox 5"/>
          <p:cNvSpPr txBox="1"/>
          <p:nvPr/>
        </p:nvSpPr>
        <p:spPr>
          <a:xfrm>
            <a:off x="457200" y="6446520"/>
            <a:ext cx="11274552" cy="274320"/>
          </a:xfrm>
          <a:prstGeom prst="rect">
            <a:avLst/>
          </a:prstGeom>
          <a:noFill/>
        </p:spPr>
        <p:txBody>
          <a:bodyPr wrap="none">
            <a:spAutoFit/>
          </a:bodyPr>
          <a:lstStyle/>
          <a:p>
            <a:pPr algn="l"/>
            <a:r>
              <a:rPr sz="800" i="1">
                <a:solidFill>
                  <a:srgbClr val="666666"/>
                </a:solidFill>
                <a:latin typeface="Calibri"/>
              </a:rPr>
              <a:t>Archimedes · Architecture Walkthrough</a:t>
            </a:r>
          </a:p>
        </p:txBody>
      </p:sp>
      <p:sp>
        <p:nvSpPr>
          <p:cNvPr id="7" name="TextBox 6"/>
          <p:cNvSpPr txBox="1"/>
          <p:nvPr/>
        </p:nvSpPr>
        <p:spPr>
          <a:xfrm>
            <a:off x="10515600" y="6446520"/>
            <a:ext cx="1188720" cy="274320"/>
          </a:xfrm>
          <a:prstGeom prst="rect">
            <a:avLst/>
          </a:prstGeom>
          <a:noFill/>
        </p:spPr>
        <p:txBody>
          <a:bodyPr wrap="none">
            <a:spAutoFit/>
          </a:bodyPr>
          <a:lstStyle/>
          <a:p>
            <a:pPr algn="r"/>
            <a:r>
              <a:rPr sz="800">
                <a:solidFill>
                  <a:srgbClr val="666666"/>
                </a:solidFill>
                <a:latin typeface="Calibri"/>
              </a:rPr>
              <a:t>7 / 32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28600"/>
          </a:xfrm>
          <a:prstGeom prst="rect">
            <a:avLst/>
          </a:prstGeom>
          <a:solidFill>
            <a:srgbClr val="4A90E2"/>
          </a:solidFill>
          <a:ln>
            <a:noFill/>
          </a:ln>
        </p:spPr>
        <p:style>
          <a:lnRef idx="1">
            <a:schemeClr val="accent1"/>
          </a:lnRef>
          <a:fillRef idx="3">
            <a:schemeClr val="accent1"/>
          </a:fillRef>
          <a:effectRef idx="2">
            <a:schemeClr val="accent1"/>
          </a:effectRef>
          <a:fontRef idx="minor">
            <a:schemeClr val="lt1"/>
          </a:fontRef>
        </p:style>
        <p:txBody>
          <a:bodyPr rtlCol="0" anchor="ctr" tIns="18288" lIns="457200"/>
          <a:lstStyle/>
          <a:p>
            <a:pPr algn="ctr"/>
            <a:r>
              <a:rPr sz="1000" b="1">
                <a:solidFill>
                  <a:srgbClr val="FFFFFF"/>
                </a:solidFill>
                <a:latin typeface="Calibri"/>
              </a:rPr>
              <a:t>§1  ·  Doctrine layer</a:t>
            </a:r>
          </a:p>
        </p:txBody>
      </p:sp>
      <p:sp>
        <p:nvSpPr>
          <p:cNvPr id="3" name="TextBox 2"/>
          <p:cNvSpPr txBox="1"/>
          <p:nvPr/>
        </p:nvSpPr>
        <p:spPr>
          <a:xfrm>
            <a:off x="457200" y="274320"/>
            <a:ext cx="11274552" cy="640080"/>
          </a:xfrm>
          <a:prstGeom prst="rect">
            <a:avLst/>
          </a:prstGeom>
          <a:noFill/>
        </p:spPr>
        <p:txBody>
          <a:bodyPr wrap="square">
            <a:spAutoFit/>
          </a:bodyPr>
          <a:lstStyle/>
          <a:p>
            <a:pPr algn="l"/>
            <a:r>
              <a:rPr sz="2800" b="1">
                <a:solidFill>
                  <a:srgbClr val="1F3A5F"/>
                </a:solidFill>
                <a:latin typeface="Calibri"/>
              </a:rPr>
              <a:t>Skills — reusable analytic procedures</a:t>
            </a:r>
          </a:p>
        </p:txBody>
      </p:sp>
      <p:sp>
        <p:nvSpPr>
          <p:cNvPr id="4" name="TextBox 3"/>
          <p:cNvSpPr txBox="1"/>
          <p:nvPr/>
        </p:nvSpPr>
        <p:spPr>
          <a:xfrm>
            <a:off x="457200" y="914400"/>
            <a:ext cx="11274552" cy="365760"/>
          </a:xfrm>
          <a:prstGeom prst="rect">
            <a:avLst/>
          </a:prstGeom>
          <a:noFill/>
        </p:spPr>
        <p:txBody>
          <a:bodyPr wrap="square">
            <a:spAutoFit/>
          </a:bodyPr>
          <a:lstStyle/>
          <a:p>
            <a:r>
              <a:rPr sz="1300" i="1">
                <a:solidFill>
                  <a:srgbClr val="666666"/>
                </a:solidFill>
                <a:latin typeface="Calibri"/>
              </a:rPr>
              <a:t>.claude/skills/&lt;name&gt;/  — invoked by subagents, share procedures across them.</a:t>
            </a:r>
          </a:p>
        </p:txBody>
      </p:sp>
      <p:sp>
        <p:nvSpPr>
          <p:cNvPr id="5" name="TextBox 4"/>
          <p:cNvSpPr txBox="1"/>
          <p:nvPr/>
        </p:nvSpPr>
        <p:spPr>
          <a:xfrm>
            <a:off x="457200" y="1463040"/>
            <a:ext cx="11274552" cy="4754880"/>
          </a:xfrm>
          <a:prstGeom prst="rect">
            <a:avLst/>
          </a:prstGeom>
          <a:noFill/>
        </p:spPr>
        <p:txBody>
          <a:bodyPr wrap="square">
            <a:spAutoFit/>
          </a:bodyPr>
          <a:lstStyle/>
          <a:p>
            <a:pPr algn="l">
              <a:lnSpc>
                <a:spcPct val="115000"/>
              </a:lnSpc>
            </a:pPr>
            <a:r>
              <a:rPr sz="1300" b="1">
                <a:solidFill>
                  <a:srgbClr val="333333"/>
                </a:solidFill>
                <a:latin typeface="Calibri"/>
              </a:rPr>
              <a:t>• smart-brevity/</a:t>
            </a:r>
          </a:p>
          <a:p>
            <a:pPr algn="l">
              <a:lnSpc>
                <a:spcPct val="115000"/>
              </a:lnSpc>
            </a:pPr>
            <a:r>
              <a:rPr sz="1100" i="1">
                <a:solidFill>
                  <a:srgbClr val="666666"/>
                </a:solidFill>
                <a:latin typeface="Calibri"/>
              </a:rPr>
              <a:t>   Brief composition rules. Banned phrases, active voice, lead-with-impact, preflight checklist. Invoked by briefer on every brief. Has references/ subdirectory: banned-phrases.md, brief-templates.md, preflight-checklist.md.</a:t>
            </a:r>
          </a:p>
          <a:p>
            <a:pPr algn="l">
              <a:lnSpc>
                <a:spcPct val="115000"/>
              </a:lnSpc>
              <a:spcBef>
                <a:spcPts val="600"/>
              </a:spcBef>
            </a:pPr>
            <a:r>
              <a:rPr sz="1300" b="1">
                <a:solidFill>
                  <a:srgbClr val="333333"/>
                </a:solidFill>
                <a:latin typeface="Calibri"/>
              </a:rPr>
              <a:t>• admiralty-grading/</a:t>
            </a:r>
          </a:p>
          <a:p>
            <a:pPr algn="l">
              <a:lnSpc>
                <a:spcPct val="115000"/>
              </a:lnSpc>
            </a:pPr>
            <a:r>
              <a:rPr sz="1100" i="1">
                <a:solidFill>
                  <a:srgbClr val="666666"/>
                </a:solidFill>
                <a:latin typeface="Calibri"/>
              </a:rPr>
              <a:t>   Source reliability + credibility evaluation procedure. Invoked by grader on every finding promotion. Generates the digraph the grader writes to the finding's frontmatter.</a:t>
            </a:r>
          </a:p>
          <a:p>
            <a:pPr algn="l">
              <a:lnSpc>
                <a:spcPct val="115000"/>
              </a:lnSpc>
              <a:spcBef>
                <a:spcPts val="600"/>
              </a:spcBef>
            </a:pPr>
            <a:r>
              <a:rPr sz="1300" b="1">
                <a:solidFill>
                  <a:srgbClr val="333333"/>
                </a:solidFill>
                <a:latin typeface="Calibri"/>
              </a:rPr>
              <a:t>• sat-ach/</a:t>
            </a:r>
          </a:p>
          <a:p>
            <a:pPr algn="l">
              <a:lnSpc>
                <a:spcPct val="115000"/>
              </a:lnSpc>
            </a:pPr>
            <a:r>
              <a:rPr sz="1100" i="1">
                <a:solidFill>
                  <a:srgbClr val="666666"/>
                </a:solidFill>
                <a:latin typeface="Calibri"/>
              </a:rPr>
              <a:t>   Analysis of Competing Hypotheses — structured analytic technique. Builds an N×M matrix of hypotheses × evidence, ranks by inconsistency count. Invoked by analyst (primary) and red-team-analyst (contrarian).</a:t>
            </a:r>
          </a:p>
          <a:p>
            <a:pPr algn="l">
              <a:lnSpc>
                <a:spcPct val="115000"/>
              </a:lnSpc>
              <a:spcBef>
                <a:spcPts val="600"/>
              </a:spcBef>
            </a:pPr>
            <a:r>
              <a:rPr sz="1300" b="1">
                <a:solidFill>
                  <a:srgbClr val="333333"/>
                </a:solidFill>
                <a:latin typeface="Calibri"/>
              </a:rPr>
              <a:t>• sat-kac/</a:t>
            </a:r>
          </a:p>
          <a:p>
            <a:pPr algn="l">
              <a:lnSpc>
                <a:spcPct val="115000"/>
              </a:lnSpc>
            </a:pPr>
            <a:r>
              <a:rPr sz="1100" i="1">
                <a:solidFill>
                  <a:srgbClr val="666666"/>
                </a:solidFill>
                <a:latin typeface="Calibri"/>
              </a:rPr>
              <a:t>   Key Assumptions Check — surface load-bearing premises that the finding rests on. Invoked by analyst when a finding's WEP is 'likely' or higher.</a:t>
            </a:r>
          </a:p>
          <a:p>
            <a:pPr algn="l">
              <a:lnSpc>
                <a:spcPct val="115000"/>
              </a:lnSpc>
              <a:spcBef>
                <a:spcPts val="600"/>
              </a:spcBef>
            </a:pPr>
            <a:r>
              <a:rPr sz="1300" b="1">
                <a:solidFill>
                  <a:srgbClr val="333333"/>
                </a:solidFill>
                <a:latin typeface="Calibri"/>
              </a:rPr>
              <a:t>• threat-box-scoring/</a:t>
            </a:r>
          </a:p>
          <a:p>
            <a:pPr algn="l">
              <a:lnSpc>
                <a:spcPct val="115000"/>
              </a:lnSpc>
            </a:pPr>
            <a:r>
              <a:rPr sz="1100" i="1">
                <a:solidFill>
                  <a:srgbClr val="666666"/>
                </a:solidFill>
                <a:latin typeface="Calibri"/>
              </a:rPr>
              <a:t>   Per-category composite scoring procedure with evidence-minimum table enforcement. Invoked by actor-profiler. Outputs the proposed threat-box.yaml; routes HIGH proposals to the /approve-scoring gate.</a:t>
            </a:r>
          </a:p>
          <a:p>
            <a:pPr algn="l">
              <a:lnSpc>
                <a:spcPct val="115000"/>
              </a:lnSpc>
              <a:spcBef>
                <a:spcPts val="600"/>
              </a:spcBef>
            </a:pPr>
            <a:r>
              <a:rPr sz="1300" b="1">
                <a:solidFill>
                  <a:srgbClr val="333333"/>
                </a:solidFill>
                <a:latin typeface="Calibri"/>
              </a:rPr>
              <a:t>• ioc-extraction/</a:t>
            </a:r>
          </a:p>
          <a:p>
            <a:pPr algn="l">
              <a:lnSpc>
                <a:spcPct val="115000"/>
              </a:lnSpc>
            </a:pPr>
            <a:r>
              <a:rPr sz="1100" i="1">
                <a:solidFill>
                  <a:srgbClr val="666666"/>
                </a:solidFill>
                <a:latin typeface="Calibri"/>
              </a:rPr>
              <a:t>   Pull indicators from finding body text — IPs, domains, hashes, CVEs, actor mentions, MITRE IDs. Invoked by collector.</a:t>
            </a:r>
          </a:p>
        </p:txBody>
      </p:sp>
      <p:sp>
        <p:nvSpPr>
          <p:cNvPr id="6" name="TextBox 5"/>
          <p:cNvSpPr txBox="1"/>
          <p:nvPr/>
        </p:nvSpPr>
        <p:spPr>
          <a:xfrm>
            <a:off x="457200" y="6446520"/>
            <a:ext cx="11274552" cy="274320"/>
          </a:xfrm>
          <a:prstGeom prst="rect">
            <a:avLst/>
          </a:prstGeom>
          <a:noFill/>
        </p:spPr>
        <p:txBody>
          <a:bodyPr wrap="none">
            <a:spAutoFit/>
          </a:bodyPr>
          <a:lstStyle/>
          <a:p>
            <a:pPr algn="l"/>
            <a:r>
              <a:rPr sz="800" i="1">
                <a:solidFill>
                  <a:srgbClr val="666666"/>
                </a:solidFill>
                <a:latin typeface="Calibri"/>
              </a:rPr>
              <a:t>Archimedes · Architecture Walkthrough</a:t>
            </a:r>
          </a:p>
        </p:txBody>
      </p:sp>
      <p:sp>
        <p:nvSpPr>
          <p:cNvPr id="7" name="TextBox 6"/>
          <p:cNvSpPr txBox="1"/>
          <p:nvPr/>
        </p:nvSpPr>
        <p:spPr>
          <a:xfrm>
            <a:off x="10515600" y="6446520"/>
            <a:ext cx="1188720" cy="274320"/>
          </a:xfrm>
          <a:prstGeom prst="rect">
            <a:avLst/>
          </a:prstGeom>
          <a:noFill/>
        </p:spPr>
        <p:txBody>
          <a:bodyPr wrap="none">
            <a:spAutoFit/>
          </a:bodyPr>
          <a:lstStyle/>
          <a:p>
            <a:pPr algn="r"/>
            <a:r>
              <a:rPr sz="800">
                <a:solidFill>
                  <a:srgbClr val="666666"/>
                </a:solidFill>
                <a:latin typeface="Calibri"/>
              </a:rPr>
              <a:t>8 / 32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28600"/>
          </a:xfrm>
          <a:prstGeom prst="rect">
            <a:avLst/>
          </a:prstGeom>
          <a:solidFill>
            <a:srgbClr val="4A90E2"/>
          </a:solidFill>
          <a:ln>
            <a:noFill/>
          </a:ln>
        </p:spPr>
        <p:style>
          <a:lnRef idx="1">
            <a:schemeClr val="accent1"/>
          </a:lnRef>
          <a:fillRef idx="3">
            <a:schemeClr val="accent1"/>
          </a:fillRef>
          <a:effectRef idx="2">
            <a:schemeClr val="accent1"/>
          </a:effectRef>
          <a:fontRef idx="minor">
            <a:schemeClr val="lt1"/>
          </a:fontRef>
        </p:style>
        <p:txBody>
          <a:bodyPr rtlCol="0" anchor="ctr" tIns="18288" lIns="457200"/>
          <a:lstStyle/>
          <a:p>
            <a:pPr algn="ctr"/>
            <a:r>
              <a:rPr sz="1000" b="1">
                <a:solidFill>
                  <a:srgbClr val="FFFFFF"/>
                </a:solidFill>
                <a:latin typeface="Calibri"/>
              </a:rPr>
              <a:t>§2  ·  Subagents</a:t>
            </a:r>
          </a:p>
        </p:txBody>
      </p:sp>
      <p:sp>
        <p:nvSpPr>
          <p:cNvPr id="3" name="TextBox 2"/>
          <p:cNvSpPr txBox="1"/>
          <p:nvPr/>
        </p:nvSpPr>
        <p:spPr>
          <a:xfrm>
            <a:off x="457200" y="274320"/>
            <a:ext cx="11274552" cy="640080"/>
          </a:xfrm>
          <a:prstGeom prst="rect">
            <a:avLst/>
          </a:prstGeom>
          <a:noFill/>
        </p:spPr>
        <p:txBody>
          <a:bodyPr wrap="square">
            <a:spAutoFit/>
          </a:bodyPr>
          <a:lstStyle/>
          <a:p>
            <a:pPr algn="l"/>
            <a:r>
              <a:rPr sz="2800" b="1">
                <a:solidFill>
                  <a:srgbClr val="1F3A5F"/>
                </a:solidFill>
                <a:latin typeface="Calibri"/>
              </a:rPr>
              <a:t>Subagent inventory</a:t>
            </a:r>
          </a:p>
        </p:txBody>
      </p:sp>
      <p:sp>
        <p:nvSpPr>
          <p:cNvPr id="4" name="TextBox 3"/>
          <p:cNvSpPr txBox="1"/>
          <p:nvPr/>
        </p:nvSpPr>
        <p:spPr>
          <a:xfrm>
            <a:off x="457200" y="914400"/>
            <a:ext cx="11274552" cy="365760"/>
          </a:xfrm>
          <a:prstGeom prst="rect">
            <a:avLst/>
          </a:prstGeom>
          <a:noFill/>
        </p:spPr>
        <p:txBody>
          <a:bodyPr wrap="square">
            <a:spAutoFit/>
          </a:bodyPr>
          <a:lstStyle/>
          <a:p>
            <a:r>
              <a:rPr sz="1300" i="1">
                <a:solidFill>
                  <a:srgbClr val="666666"/>
                </a:solidFill>
                <a:latin typeface="Calibri"/>
              </a:rPr>
              <a:t>9 subagents, each with isolated context, write scope, doctrine read, tool set.</a:t>
            </a:r>
          </a:p>
        </p:txBody>
      </p:sp>
      <p:sp>
        <p:nvSpPr>
          <p:cNvPr id="5" name="Rectangle 4"/>
          <p:cNvSpPr/>
          <p:nvPr/>
        </p:nvSpPr>
        <p:spPr>
          <a:xfrm>
            <a:off x="457200" y="1371600"/>
            <a:ext cx="1645920" cy="50292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tIns="73152"/>
          <a:lstStyle/>
          <a:p>
            <a:pPr algn="ctr"/>
            <a:r>
              <a:rPr sz="1000" b="1">
                <a:solidFill>
                  <a:srgbClr val="FFFFFF"/>
                </a:solidFill>
                <a:latin typeface="Calibri"/>
              </a:rPr>
              <a:t>  Subagent</a:t>
            </a:r>
          </a:p>
        </p:txBody>
      </p:sp>
      <p:sp>
        <p:nvSpPr>
          <p:cNvPr id="6" name="Rectangle 5"/>
          <p:cNvSpPr/>
          <p:nvPr/>
        </p:nvSpPr>
        <p:spPr>
          <a:xfrm>
            <a:off x="2103120" y="1371600"/>
            <a:ext cx="3474720" cy="50292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tIns="73152"/>
          <a:lstStyle/>
          <a:p>
            <a:pPr algn="ctr"/>
            <a:r>
              <a:rPr sz="1000" b="1">
                <a:solidFill>
                  <a:srgbClr val="FFFFFF"/>
                </a:solidFill>
                <a:latin typeface="Calibri"/>
              </a:rPr>
              <a:t>  Role</a:t>
            </a:r>
          </a:p>
        </p:txBody>
      </p:sp>
      <p:sp>
        <p:nvSpPr>
          <p:cNvPr id="7" name="Rectangle 6"/>
          <p:cNvSpPr/>
          <p:nvPr/>
        </p:nvSpPr>
        <p:spPr>
          <a:xfrm>
            <a:off x="5577840" y="1371600"/>
            <a:ext cx="2377440" cy="50292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tIns="73152"/>
          <a:lstStyle/>
          <a:p>
            <a:pPr algn="ctr"/>
            <a:r>
              <a:rPr sz="1000" b="1">
                <a:solidFill>
                  <a:srgbClr val="FFFFFF"/>
                </a:solidFill>
                <a:latin typeface="Calibri"/>
              </a:rPr>
              <a:t>  Write scope</a:t>
            </a:r>
          </a:p>
        </p:txBody>
      </p:sp>
      <p:sp>
        <p:nvSpPr>
          <p:cNvPr id="8" name="Rectangle 7"/>
          <p:cNvSpPr/>
          <p:nvPr/>
        </p:nvSpPr>
        <p:spPr>
          <a:xfrm>
            <a:off x="7955279" y="1371600"/>
            <a:ext cx="2103120" cy="50292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tIns="73152"/>
          <a:lstStyle/>
          <a:p>
            <a:pPr algn="ctr"/>
            <a:r>
              <a:rPr sz="1000" b="1">
                <a:solidFill>
                  <a:srgbClr val="FFFFFF"/>
                </a:solidFill>
                <a:latin typeface="Calibri"/>
              </a:rPr>
              <a:t>  Doctrine read</a:t>
            </a:r>
          </a:p>
        </p:txBody>
      </p:sp>
      <p:sp>
        <p:nvSpPr>
          <p:cNvPr id="9" name="Rectangle 8"/>
          <p:cNvSpPr/>
          <p:nvPr/>
        </p:nvSpPr>
        <p:spPr>
          <a:xfrm>
            <a:off x="10058400" y="1371600"/>
            <a:ext cx="1673352" cy="50292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tIns="73152"/>
          <a:lstStyle/>
          <a:p>
            <a:pPr algn="ctr"/>
            <a:r>
              <a:rPr sz="1000" b="1">
                <a:solidFill>
                  <a:srgbClr val="FFFFFF"/>
                </a:solidFill>
                <a:latin typeface="Calibri"/>
              </a:rPr>
              <a:t>  Tools</a:t>
            </a:r>
          </a:p>
        </p:txBody>
      </p:sp>
      <p:sp>
        <p:nvSpPr>
          <p:cNvPr id="10" name="Rectangle 9"/>
          <p:cNvSpPr/>
          <p:nvPr/>
        </p:nvSpPr>
        <p:spPr>
          <a:xfrm>
            <a:off x="457200" y="1874519"/>
            <a:ext cx="164592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b="1">
                <a:solidFill>
                  <a:srgbClr val="333333"/>
                </a:solidFill>
                <a:latin typeface="Calibri"/>
              </a:rPr>
              <a:t>  collector</a:t>
            </a:r>
          </a:p>
        </p:txBody>
      </p:sp>
      <p:sp>
        <p:nvSpPr>
          <p:cNvPr id="11" name="Rectangle 10"/>
          <p:cNvSpPr/>
          <p:nvPr/>
        </p:nvSpPr>
        <p:spPr>
          <a:xfrm>
            <a:off x="2103120" y="1874519"/>
            <a:ext cx="347472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a:solidFill>
                  <a:srgbClr val="333333"/>
                </a:solidFill>
                <a:latin typeface="Calibri"/>
              </a:rPr>
              <a:t>  raw OSINT collection + watchlist filter</a:t>
            </a:r>
          </a:p>
        </p:txBody>
      </p:sp>
      <p:sp>
        <p:nvSpPr>
          <p:cNvPr id="12" name="Rectangle 11"/>
          <p:cNvSpPr/>
          <p:nvPr/>
        </p:nvSpPr>
        <p:spPr>
          <a:xfrm>
            <a:off x="5577840" y="1874519"/>
            <a:ext cx="237744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a:solidFill>
                  <a:srgbClr val="333333"/>
                </a:solidFill>
                <a:latin typeface="Calibri"/>
              </a:rPr>
              <a:t>  threats/raw-signal/</a:t>
            </a:r>
          </a:p>
        </p:txBody>
      </p:sp>
      <p:sp>
        <p:nvSpPr>
          <p:cNvPr id="13" name="Rectangle 12"/>
          <p:cNvSpPr/>
          <p:nvPr/>
        </p:nvSpPr>
        <p:spPr>
          <a:xfrm>
            <a:off x="7955279" y="1874519"/>
            <a:ext cx="210312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a:solidFill>
                  <a:srgbClr val="333333"/>
                </a:solidFill>
                <a:latin typeface="Calibri"/>
              </a:rPr>
              <a:t>  FLASH-POLICY, LEGAL-POLICY</a:t>
            </a:r>
          </a:p>
        </p:txBody>
      </p:sp>
      <p:sp>
        <p:nvSpPr>
          <p:cNvPr id="14" name="Rectangle 13"/>
          <p:cNvSpPr/>
          <p:nvPr/>
        </p:nvSpPr>
        <p:spPr>
          <a:xfrm>
            <a:off x="10058400" y="1874519"/>
            <a:ext cx="1673352"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a:solidFill>
                  <a:srgbClr val="333333"/>
                </a:solidFill>
                <a:latin typeface="Calibri"/>
              </a:rPr>
              <a:t>  WebFetch, WebSearch, MCP tools</a:t>
            </a:r>
          </a:p>
        </p:txBody>
      </p:sp>
      <p:sp>
        <p:nvSpPr>
          <p:cNvPr id="15" name="Rectangle 14"/>
          <p:cNvSpPr/>
          <p:nvPr/>
        </p:nvSpPr>
        <p:spPr>
          <a:xfrm>
            <a:off x="457200" y="2377439"/>
            <a:ext cx="1645920" cy="50292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b="1">
                <a:solidFill>
                  <a:srgbClr val="333333"/>
                </a:solidFill>
                <a:latin typeface="Calibri"/>
              </a:rPr>
              <a:t>  grader</a:t>
            </a:r>
          </a:p>
        </p:txBody>
      </p:sp>
      <p:sp>
        <p:nvSpPr>
          <p:cNvPr id="16" name="Rectangle 15"/>
          <p:cNvSpPr/>
          <p:nvPr/>
        </p:nvSpPr>
        <p:spPr>
          <a:xfrm>
            <a:off x="2103120" y="2377439"/>
            <a:ext cx="3474720" cy="50292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a:solidFill>
                  <a:srgbClr val="333333"/>
                </a:solidFill>
                <a:latin typeface="Calibri"/>
              </a:rPr>
              <a:t>  promote raw → finding · apply Admiralty + WEP</a:t>
            </a:r>
          </a:p>
        </p:txBody>
      </p:sp>
      <p:sp>
        <p:nvSpPr>
          <p:cNvPr id="17" name="Rectangle 16"/>
          <p:cNvSpPr/>
          <p:nvPr/>
        </p:nvSpPr>
        <p:spPr>
          <a:xfrm>
            <a:off x="5577840" y="2377439"/>
            <a:ext cx="2377440" cy="50292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a:solidFill>
                  <a:srgbClr val="333333"/>
                </a:solidFill>
                <a:latin typeface="Calibri"/>
              </a:rPr>
              <a:t>  threats/findings/</a:t>
            </a:r>
          </a:p>
        </p:txBody>
      </p:sp>
      <p:sp>
        <p:nvSpPr>
          <p:cNvPr id="18" name="Rectangle 17"/>
          <p:cNvSpPr/>
          <p:nvPr/>
        </p:nvSpPr>
        <p:spPr>
          <a:xfrm>
            <a:off x="7955279" y="2377439"/>
            <a:ext cx="2103120" cy="50292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a:solidFill>
                  <a:srgbClr val="333333"/>
                </a:solidFill>
                <a:latin typeface="Calibri"/>
              </a:rPr>
              <a:t>  INTEL-GRADING, RETRACTION</a:t>
            </a:r>
          </a:p>
        </p:txBody>
      </p:sp>
      <p:sp>
        <p:nvSpPr>
          <p:cNvPr id="19" name="Rectangle 18"/>
          <p:cNvSpPr/>
          <p:nvPr/>
        </p:nvSpPr>
        <p:spPr>
          <a:xfrm>
            <a:off x="10058400" y="2377439"/>
            <a:ext cx="1673352" cy="50292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a:solidFill>
                  <a:srgbClr val="333333"/>
                </a:solidFill>
                <a:latin typeface="Calibri"/>
              </a:rPr>
              <a:t>  Read, Write, Edit, Splunk</a:t>
            </a:r>
          </a:p>
        </p:txBody>
      </p:sp>
      <p:sp>
        <p:nvSpPr>
          <p:cNvPr id="20" name="Rectangle 19"/>
          <p:cNvSpPr/>
          <p:nvPr/>
        </p:nvSpPr>
        <p:spPr>
          <a:xfrm>
            <a:off x="457200" y="2880360"/>
            <a:ext cx="164592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b="1">
                <a:solidFill>
                  <a:srgbClr val="333333"/>
                </a:solidFill>
                <a:latin typeface="Calibri"/>
              </a:rPr>
              <a:t>  analyst</a:t>
            </a:r>
          </a:p>
        </p:txBody>
      </p:sp>
      <p:sp>
        <p:nvSpPr>
          <p:cNvPr id="21" name="Rectangle 20"/>
          <p:cNvSpPr/>
          <p:nvPr/>
        </p:nvSpPr>
        <p:spPr>
          <a:xfrm>
            <a:off x="2103120" y="2880360"/>
            <a:ext cx="347472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a:solidFill>
                  <a:srgbClr val="333333"/>
                </a:solidFill>
                <a:latin typeface="Calibri"/>
              </a:rPr>
              <a:t>  SAT / ACH / KAC structured analysis</a:t>
            </a:r>
          </a:p>
        </p:txBody>
      </p:sp>
      <p:sp>
        <p:nvSpPr>
          <p:cNvPr id="22" name="Rectangle 21"/>
          <p:cNvSpPr/>
          <p:nvPr/>
        </p:nvSpPr>
        <p:spPr>
          <a:xfrm>
            <a:off x="5577840" y="2880360"/>
            <a:ext cx="237744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a:solidFill>
                  <a:srgbClr val="333333"/>
                </a:solidFill>
                <a:latin typeface="Calibri"/>
              </a:rPr>
              <a:t>  findings (analysis sections)</a:t>
            </a:r>
          </a:p>
        </p:txBody>
      </p:sp>
      <p:sp>
        <p:nvSpPr>
          <p:cNvPr id="23" name="Rectangle 22"/>
          <p:cNvSpPr/>
          <p:nvPr/>
        </p:nvSpPr>
        <p:spPr>
          <a:xfrm>
            <a:off x="7955279" y="2880360"/>
            <a:ext cx="210312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a:solidFill>
                  <a:srgbClr val="333333"/>
                </a:solidFill>
                <a:latin typeface="Calibri"/>
              </a:rPr>
              <a:t>  INTEL-GRADING, SAT skills</a:t>
            </a:r>
          </a:p>
        </p:txBody>
      </p:sp>
      <p:sp>
        <p:nvSpPr>
          <p:cNvPr id="24" name="Rectangle 23"/>
          <p:cNvSpPr/>
          <p:nvPr/>
        </p:nvSpPr>
        <p:spPr>
          <a:xfrm>
            <a:off x="10058400" y="2880360"/>
            <a:ext cx="1673352"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a:solidFill>
                  <a:srgbClr val="333333"/>
                </a:solidFill>
                <a:latin typeface="Calibri"/>
              </a:rPr>
              <a:t>  Read, Write, Edit</a:t>
            </a:r>
          </a:p>
        </p:txBody>
      </p:sp>
      <p:sp>
        <p:nvSpPr>
          <p:cNvPr id="25" name="Rectangle 24"/>
          <p:cNvSpPr/>
          <p:nvPr/>
        </p:nvSpPr>
        <p:spPr>
          <a:xfrm>
            <a:off x="457200" y="3383280"/>
            <a:ext cx="1645920" cy="50292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b="1">
                <a:solidFill>
                  <a:srgbClr val="333333"/>
                </a:solidFill>
                <a:latin typeface="Calibri"/>
              </a:rPr>
              <a:t>  red-team-analyst</a:t>
            </a:r>
          </a:p>
        </p:txBody>
      </p:sp>
      <p:sp>
        <p:nvSpPr>
          <p:cNvPr id="26" name="Rectangle 25"/>
          <p:cNvSpPr/>
          <p:nvPr/>
        </p:nvSpPr>
        <p:spPr>
          <a:xfrm>
            <a:off x="2103120" y="3383280"/>
            <a:ext cx="3474720" cy="50292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a:solidFill>
                  <a:srgbClr val="333333"/>
                </a:solidFill>
                <a:latin typeface="Calibri"/>
              </a:rPr>
              <a:t>  challenge HIGH-confidence findings</a:t>
            </a:r>
          </a:p>
        </p:txBody>
      </p:sp>
      <p:sp>
        <p:nvSpPr>
          <p:cNvPr id="27" name="Rectangle 26"/>
          <p:cNvSpPr/>
          <p:nvPr/>
        </p:nvSpPr>
        <p:spPr>
          <a:xfrm>
            <a:off x="5577840" y="3383280"/>
            <a:ext cx="2377440" cy="50292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a:solidFill>
                  <a:srgbClr val="333333"/>
                </a:solidFill>
                <a:latin typeface="Calibri"/>
              </a:rPr>
              <a:t>  findings (red_team section)</a:t>
            </a:r>
          </a:p>
        </p:txBody>
      </p:sp>
      <p:sp>
        <p:nvSpPr>
          <p:cNvPr id="28" name="Rectangle 27"/>
          <p:cNvSpPr/>
          <p:nvPr/>
        </p:nvSpPr>
        <p:spPr>
          <a:xfrm>
            <a:off x="7955279" y="3383280"/>
            <a:ext cx="2103120" cy="50292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a:solidFill>
                  <a:srgbClr val="333333"/>
                </a:solidFill>
                <a:latin typeface="Calibri"/>
              </a:rPr>
              <a:t>  sat-ach (contrarian)</a:t>
            </a:r>
          </a:p>
        </p:txBody>
      </p:sp>
      <p:sp>
        <p:nvSpPr>
          <p:cNvPr id="29" name="Rectangle 28"/>
          <p:cNvSpPr/>
          <p:nvPr/>
        </p:nvSpPr>
        <p:spPr>
          <a:xfrm>
            <a:off x="10058400" y="3383280"/>
            <a:ext cx="1673352" cy="50292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a:solidFill>
                  <a:srgbClr val="333333"/>
                </a:solidFill>
                <a:latin typeface="Calibri"/>
              </a:rPr>
              <a:t>  Read, Edit</a:t>
            </a:r>
          </a:p>
        </p:txBody>
      </p:sp>
      <p:sp>
        <p:nvSpPr>
          <p:cNvPr id="30" name="Rectangle 29"/>
          <p:cNvSpPr/>
          <p:nvPr/>
        </p:nvSpPr>
        <p:spPr>
          <a:xfrm>
            <a:off x="457200" y="3886200"/>
            <a:ext cx="164592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b="1">
                <a:solidFill>
                  <a:srgbClr val="333333"/>
                </a:solidFill>
                <a:latin typeface="Calibri"/>
              </a:rPr>
              <a:t>  actor-profiler</a:t>
            </a:r>
          </a:p>
        </p:txBody>
      </p:sp>
      <p:sp>
        <p:nvSpPr>
          <p:cNvPr id="31" name="Rectangle 30"/>
          <p:cNvSpPr/>
          <p:nvPr/>
        </p:nvSpPr>
        <p:spPr>
          <a:xfrm>
            <a:off x="2103120" y="3886200"/>
            <a:ext cx="347472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a:solidFill>
                  <a:srgbClr val="333333"/>
                </a:solidFill>
                <a:latin typeface="Calibri"/>
              </a:rPr>
              <a:t>  dossier maintenance + threat-box scoring</a:t>
            </a:r>
          </a:p>
        </p:txBody>
      </p:sp>
      <p:sp>
        <p:nvSpPr>
          <p:cNvPr id="32" name="Rectangle 31"/>
          <p:cNvSpPr/>
          <p:nvPr/>
        </p:nvSpPr>
        <p:spPr>
          <a:xfrm>
            <a:off x="5577840" y="3886200"/>
            <a:ext cx="237744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a:solidFill>
                  <a:srgbClr val="333333"/>
                </a:solidFill>
                <a:latin typeface="Calibri"/>
              </a:rPr>
              <a:t>  threats/threat-actors/*/</a:t>
            </a:r>
          </a:p>
        </p:txBody>
      </p:sp>
      <p:sp>
        <p:nvSpPr>
          <p:cNvPr id="33" name="Rectangle 32"/>
          <p:cNvSpPr/>
          <p:nvPr/>
        </p:nvSpPr>
        <p:spPr>
          <a:xfrm>
            <a:off x="7955279" y="3886200"/>
            <a:ext cx="210312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a:solidFill>
                  <a:srgbClr val="333333"/>
                </a:solidFill>
                <a:latin typeface="Calibri"/>
              </a:rPr>
              <a:t>  THREAT-BOX, ACTOR-STANDARD</a:t>
            </a:r>
          </a:p>
        </p:txBody>
      </p:sp>
      <p:sp>
        <p:nvSpPr>
          <p:cNvPr id="34" name="Rectangle 33"/>
          <p:cNvSpPr/>
          <p:nvPr/>
        </p:nvSpPr>
        <p:spPr>
          <a:xfrm>
            <a:off x="10058400" y="3886200"/>
            <a:ext cx="1673352"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a:solidFill>
                  <a:srgbClr val="333333"/>
                </a:solidFill>
                <a:latin typeface="Calibri"/>
              </a:rPr>
              <a:t>  Read, Write, Edit, Splunk</a:t>
            </a:r>
          </a:p>
        </p:txBody>
      </p:sp>
      <p:sp>
        <p:nvSpPr>
          <p:cNvPr id="35" name="Rectangle 34"/>
          <p:cNvSpPr/>
          <p:nvPr/>
        </p:nvSpPr>
        <p:spPr>
          <a:xfrm>
            <a:off x="457200" y="4389120"/>
            <a:ext cx="1645920" cy="50292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b="1">
                <a:solidFill>
                  <a:srgbClr val="333333"/>
                </a:solidFill>
                <a:latin typeface="Calibri"/>
              </a:rPr>
              <a:t>  vuln-tracker</a:t>
            </a:r>
          </a:p>
        </p:txBody>
      </p:sp>
      <p:sp>
        <p:nvSpPr>
          <p:cNvPr id="36" name="Rectangle 35"/>
          <p:cNvSpPr/>
          <p:nvPr/>
        </p:nvSpPr>
        <p:spPr>
          <a:xfrm>
            <a:off x="2103120" y="4389120"/>
            <a:ext cx="3474720" cy="50292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a:solidFill>
                  <a:srgbClr val="333333"/>
                </a:solidFill>
                <a:latin typeface="Calibri"/>
              </a:rPr>
              <a:t>  CVE tracking · KEV monitoring</a:t>
            </a:r>
          </a:p>
        </p:txBody>
      </p:sp>
      <p:sp>
        <p:nvSpPr>
          <p:cNvPr id="37" name="Rectangle 36"/>
          <p:cNvSpPr/>
          <p:nvPr/>
        </p:nvSpPr>
        <p:spPr>
          <a:xfrm>
            <a:off x="5577840" y="4389120"/>
            <a:ext cx="2377440" cy="50292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a:solidFill>
                  <a:srgbClr val="333333"/>
                </a:solidFill>
                <a:latin typeface="Calibri"/>
              </a:rPr>
              <a:t>  threats/vulnerabilities/*/</a:t>
            </a:r>
          </a:p>
        </p:txBody>
      </p:sp>
      <p:sp>
        <p:nvSpPr>
          <p:cNvPr id="38" name="Rectangle 37"/>
          <p:cNvSpPr/>
          <p:nvPr/>
        </p:nvSpPr>
        <p:spPr>
          <a:xfrm>
            <a:off x="7955279" y="4389120"/>
            <a:ext cx="2103120" cy="50292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a:solidFill>
                  <a:srgbClr val="333333"/>
                </a:solidFill>
                <a:latin typeface="Calibri"/>
              </a:rPr>
              <a:t>  NVD + KEV refs</a:t>
            </a:r>
          </a:p>
        </p:txBody>
      </p:sp>
      <p:sp>
        <p:nvSpPr>
          <p:cNvPr id="39" name="Rectangle 38"/>
          <p:cNvSpPr/>
          <p:nvPr/>
        </p:nvSpPr>
        <p:spPr>
          <a:xfrm>
            <a:off x="10058400" y="4389120"/>
            <a:ext cx="1673352" cy="50292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a:solidFill>
                  <a:srgbClr val="333333"/>
                </a:solidFill>
                <a:latin typeface="Calibri"/>
              </a:rPr>
              <a:t>  Read, Write, WebFetch</a:t>
            </a:r>
          </a:p>
        </p:txBody>
      </p:sp>
      <p:sp>
        <p:nvSpPr>
          <p:cNvPr id="40" name="Rectangle 39"/>
          <p:cNvSpPr/>
          <p:nvPr/>
        </p:nvSpPr>
        <p:spPr>
          <a:xfrm>
            <a:off x="457200" y="4892040"/>
            <a:ext cx="164592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b="1">
                <a:solidFill>
                  <a:srgbClr val="333333"/>
                </a:solidFill>
                <a:latin typeface="Calibri"/>
              </a:rPr>
              <a:t>  briefer</a:t>
            </a:r>
          </a:p>
        </p:txBody>
      </p:sp>
      <p:sp>
        <p:nvSpPr>
          <p:cNvPr id="41" name="Rectangle 40"/>
          <p:cNvSpPr/>
          <p:nvPr/>
        </p:nvSpPr>
        <p:spPr>
          <a:xfrm>
            <a:off x="2103120" y="4892040"/>
            <a:ext cx="347472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a:solidFill>
                  <a:srgbClr val="333333"/>
                </a:solidFill>
                <a:latin typeface="Calibri"/>
              </a:rPr>
              <a:t>  compose all brief types · Layer 1 + Layer 2</a:t>
            </a:r>
          </a:p>
        </p:txBody>
      </p:sp>
      <p:sp>
        <p:nvSpPr>
          <p:cNvPr id="42" name="Rectangle 41"/>
          <p:cNvSpPr/>
          <p:nvPr/>
        </p:nvSpPr>
        <p:spPr>
          <a:xfrm>
            <a:off x="5577840" y="4892040"/>
            <a:ext cx="237744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a:solidFill>
                  <a:srgbClr val="333333"/>
                </a:solidFill>
                <a:latin typeface="Calibri"/>
              </a:rPr>
              <a:t>  threats/briefs/</a:t>
            </a:r>
          </a:p>
        </p:txBody>
      </p:sp>
      <p:sp>
        <p:nvSpPr>
          <p:cNvPr id="43" name="Rectangle 42"/>
          <p:cNvSpPr/>
          <p:nvPr/>
        </p:nvSpPr>
        <p:spPr>
          <a:xfrm>
            <a:off x="7955279" y="4892040"/>
            <a:ext cx="210312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a:solidFill>
                  <a:srgbClr val="333333"/>
                </a:solidFill>
                <a:latin typeface="Calibri"/>
              </a:rPr>
              <a:t>  INTEL-BRIEF-STANDARDS</a:t>
            </a:r>
          </a:p>
        </p:txBody>
      </p:sp>
      <p:sp>
        <p:nvSpPr>
          <p:cNvPr id="44" name="Rectangle 43"/>
          <p:cNvSpPr/>
          <p:nvPr/>
        </p:nvSpPr>
        <p:spPr>
          <a:xfrm>
            <a:off x="10058400" y="4892040"/>
            <a:ext cx="1673352"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a:solidFill>
                  <a:srgbClr val="333333"/>
                </a:solidFill>
                <a:latin typeface="Calibri"/>
              </a:rPr>
              <a:t>  Read, Write, Edit</a:t>
            </a:r>
          </a:p>
        </p:txBody>
      </p:sp>
      <p:sp>
        <p:nvSpPr>
          <p:cNvPr id="45" name="Rectangle 44"/>
          <p:cNvSpPr/>
          <p:nvPr/>
        </p:nvSpPr>
        <p:spPr>
          <a:xfrm>
            <a:off x="457200" y="5394960"/>
            <a:ext cx="1645920" cy="50292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b="1">
                <a:solidFill>
                  <a:srgbClr val="333333"/>
                </a:solidFill>
                <a:latin typeface="Calibri"/>
              </a:rPr>
              <a:t>  librarian</a:t>
            </a:r>
          </a:p>
        </p:txBody>
      </p:sp>
      <p:sp>
        <p:nvSpPr>
          <p:cNvPr id="46" name="Rectangle 45"/>
          <p:cNvSpPr/>
          <p:nvPr/>
        </p:nvSpPr>
        <p:spPr>
          <a:xfrm>
            <a:off x="2103120" y="5394960"/>
            <a:ext cx="3474720" cy="50292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a:solidFill>
                  <a:srgbClr val="333333"/>
                </a:solidFill>
                <a:latin typeface="Calibri"/>
              </a:rPr>
              <a:t>  commit · post Discord · log Splunk · regen indices</a:t>
            </a:r>
          </a:p>
        </p:txBody>
      </p:sp>
      <p:sp>
        <p:nvSpPr>
          <p:cNvPr id="47" name="Rectangle 46"/>
          <p:cNvSpPr/>
          <p:nvPr/>
        </p:nvSpPr>
        <p:spPr>
          <a:xfrm>
            <a:off x="5577840" y="5394960"/>
            <a:ext cx="2377440" cy="50292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a:solidFill>
                  <a:srgbClr val="333333"/>
                </a:solidFill>
                <a:latin typeface="Calibri"/>
              </a:rPr>
              <a:t>  git + Splunk + Discord + indices</a:t>
            </a:r>
          </a:p>
        </p:txBody>
      </p:sp>
      <p:sp>
        <p:nvSpPr>
          <p:cNvPr id="48" name="Rectangle 47"/>
          <p:cNvSpPr/>
          <p:nvPr/>
        </p:nvSpPr>
        <p:spPr>
          <a:xfrm>
            <a:off x="7955279" y="5394960"/>
            <a:ext cx="2103120" cy="50292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a:solidFill>
                  <a:srgbClr val="333333"/>
                </a:solidFill>
                <a:latin typeface="Calibri"/>
              </a:rPr>
              <a:t>  RETRACTION-POLICY</a:t>
            </a:r>
          </a:p>
        </p:txBody>
      </p:sp>
      <p:sp>
        <p:nvSpPr>
          <p:cNvPr id="49" name="Rectangle 48"/>
          <p:cNvSpPr/>
          <p:nvPr/>
        </p:nvSpPr>
        <p:spPr>
          <a:xfrm>
            <a:off x="10058400" y="5394960"/>
            <a:ext cx="1673352" cy="50292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a:solidFill>
                  <a:srgbClr val="333333"/>
                </a:solidFill>
                <a:latin typeface="Calibri"/>
              </a:rPr>
              <a:t>  Read, Bash, Edit</a:t>
            </a:r>
          </a:p>
        </p:txBody>
      </p:sp>
      <p:sp>
        <p:nvSpPr>
          <p:cNvPr id="50" name="TextBox 49"/>
          <p:cNvSpPr txBox="1"/>
          <p:nvPr/>
        </p:nvSpPr>
        <p:spPr>
          <a:xfrm>
            <a:off x="457200" y="6446520"/>
            <a:ext cx="11274552" cy="274320"/>
          </a:xfrm>
          <a:prstGeom prst="rect">
            <a:avLst/>
          </a:prstGeom>
          <a:noFill/>
        </p:spPr>
        <p:txBody>
          <a:bodyPr wrap="none">
            <a:spAutoFit/>
          </a:bodyPr>
          <a:lstStyle/>
          <a:p>
            <a:pPr algn="l"/>
            <a:r>
              <a:rPr sz="800" i="1">
                <a:solidFill>
                  <a:srgbClr val="666666"/>
                </a:solidFill>
                <a:latin typeface="Calibri"/>
              </a:rPr>
              <a:t>Archimedes · Architecture Walkthrough</a:t>
            </a:r>
          </a:p>
        </p:txBody>
      </p:sp>
      <p:sp>
        <p:nvSpPr>
          <p:cNvPr id="51" name="TextBox 50"/>
          <p:cNvSpPr txBox="1"/>
          <p:nvPr/>
        </p:nvSpPr>
        <p:spPr>
          <a:xfrm>
            <a:off x="10515600" y="6446520"/>
            <a:ext cx="1188720" cy="274320"/>
          </a:xfrm>
          <a:prstGeom prst="rect">
            <a:avLst/>
          </a:prstGeom>
          <a:noFill/>
        </p:spPr>
        <p:txBody>
          <a:bodyPr wrap="none">
            <a:spAutoFit/>
          </a:bodyPr>
          <a:lstStyle/>
          <a:p>
            <a:pPr algn="r"/>
            <a:r>
              <a:rPr sz="800">
                <a:solidFill>
                  <a:srgbClr val="666666"/>
                </a:solidFill>
                <a:latin typeface="Calibri"/>
              </a:rPr>
              <a:t>9 / 32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28600"/>
          </a:xfrm>
          <a:prstGeom prst="rect">
            <a:avLst/>
          </a:prstGeom>
          <a:solidFill>
            <a:srgbClr val="4A90E2"/>
          </a:solidFill>
          <a:ln>
            <a:noFill/>
          </a:ln>
        </p:spPr>
        <p:style>
          <a:lnRef idx="1">
            <a:schemeClr val="accent1"/>
          </a:lnRef>
          <a:fillRef idx="3">
            <a:schemeClr val="accent1"/>
          </a:fillRef>
          <a:effectRef idx="2">
            <a:schemeClr val="accent1"/>
          </a:effectRef>
          <a:fontRef idx="minor">
            <a:schemeClr val="lt1"/>
          </a:fontRef>
        </p:style>
        <p:txBody>
          <a:bodyPr rtlCol="0" anchor="ctr" tIns="18288" lIns="457200"/>
          <a:lstStyle/>
          <a:p>
            <a:pPr algn="ctr"/>
            <a:r>
              <a:rPr sz="1000" b="1">
                <a:solidFill>
                  <a:srgbClr val="FFFFFF"/>
                </a:solidFill>
                <a:latin typeface="Calibri"/>
              </a:rPr>
              <a:t>§2  ·  Subagents</a:t>
            </a:r>
          </a:p>
        </p:txBody>
      </p:sp>
      <p:sp>
        <p:nvSpPr>
          <p:cNvPr id="3" name="TextBox 2"/>
          <p:cNvSpPr txBox="1"/>
          <p:nvPr/>
        </p:nvSpPr>
        <p:spPr>
          <a:xfrm>
            <a:off x="457200" y="274320"/>
            <a:ext cx="11274552" cy="640080"/>
          </a:xfrm>
          <a:prstGeom prst="rect">
            <a:avLst/>
          </a:prstGeom>
          <a:noFill/>
        </p:spPr>
        <p:txBody>
          <a:bodyPr wrap="square">
            <a:spAutoFit/>
          </a:bodyPr>
          <a:lstStyle/>
          <a:p>
            <a:pPr algn="l"/>
            <a:r>
              <a:rPr sz="2800" b="1">
                <a:solidFill>
                  <a:srgbClr val="1F3A5F"/>
                </a:solidFill>
                <a:latin typeface="Calibri"/>
              </a:rPr>
              <a:t>Anatomy of a subagent definition</a:t>
            </a:r>
          </a:p>
        </p:txBody>
      </p:sp>
      <p:sp>
        <p:nvSpPr>
          <p:cNvPr id="4" name="TextBox 3"/>
          <p:cNvSpPr txBox="1"/>
          <p:nvPr/>
        </p:nvSpPr>
        <p:spPr>
          <a:xfrm>
            <a:off x="457200" y="914400"/>
            <a:ext cx="11274552" cy="365760"/>
          </a:xfrm>
          <a:prstGeom prst="rect">
            <a:avLst/>
          </a:prstGeom>
          <a:noFill/>
        </p:spPr>
        <p:txBody>
          <a:bodyPr wrap="square">
            <a:spAutoFit/>
          </a:bodyPr>
          <a:lstStyle/>
          <a:p>
            <a:r>
              <a:rPr sz="1300" i="1">
                <a:solidFill>
                  <a:srgbClr val="666666"/>
                </a:solidFill>
                <a:latin typeface="Calibri"/>
              </a:rPr>
              <a:t>Real excerpt — .claude/agents/briefer.md (frontmatter + structure)</a:t>
            </a:r>
          </a:p>
        </p:txBody>
      </p:sp>
      <p:sp>
        <p:nvSpPr>
          <p:cNvPr id="5" name="Rectangle 4"/>
          <p:cNvSpPr/>
          <p:nvPr/>
        </p:nvSpPr>
        <p:spPr>
          <a:xfrm>
            <a:off x="457200" y="1417320"/>
            <a:ext cx="11274552" cy="50292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508760"/>
            <a:ext cx="11000232" cy="4846320"/>
          </a:xfrm>
          <a:prstGeom prst="rect">
            <a:avLst/>
          </a:prstGeom>
          <a:noFill/>
        </p:spPr>
        <p:txBody>
          <a:bodyPr wrap="square">
            <a:spAutoFit/>
          </a:bodyPr>
          <a:lstStyle/>
          <a:p>
            <a:pPr algn="l"/>
            <a:r>
              <a:rPr sz="1000">
                <a:solidFill>
                  <a:srgbClr val="333333"/>
                </a:solidFill>
                <a:latin typeface="Consolas"/>
              </a:rPr>
              <a:t>---</a:t>
            </a:r>
          </a:p>
          <a:p>
            <a:pPr algn="l"/>
            <a:r>
              <a:rPr sz="1000">
                <a:solidFill>
                  <a:srgbClr val="333333"/>
                </a:solidFill>
                <a:latin typeface="Consolas"/>
              </a:rPr>
              <a:t>name: briefer</a:t>
            </a:r>
          </a:p>
          <a:p>
            <a:pPr algn="l"/>
            <a:r>
              <a:rPr sz="1000">
                <a:solidFill>
                  <a:srgbClr val="333333"/>
                </a:solidFill>
                <a:latin typeface="Consolas"/>
              </a:rPr>
              <a:t>description: Use to compose every Archimedes brief from graded findings.</a:t>
            </a:r>
          </a:p>
          <a:p>
            <a:pPr algn="l"/>
            <a:r>
              <a:rPr sz="1000">
                <a:solidFill>
                  <a:srgbClr val="333333"/>
                </a:solidFill>
                <a:latin typeface="Consolas"/>
              </a:rPr>
              <a:t>  Invoke for scheduled morning brief (08:00 EDT), scheduled afternoon brief</a:t>
            </a:r>
          </a:p>
          <a:p>
            <a:pPr algn="l"/>
            <a:r>
              <a:rPr sz="1000">
                <a:solidFill>
                  <a:srgbClr val="333333"/>
                </a:solidFill>
                <a:latin typeface="Consolas"/>
              </a:rPr>
              <a:t>  (16:00 EDT), async FLASH alerts ... Reads approved findings, the coverage</a:t>
            </a:r>
          </a:p>
          <a:p>
            <a:pPr algn="l"/>
            <a:r>
              <a:rPr sz="1000">
                <a:solidFill>
                  <a:srgbClr val="333333"/>
                </a:solidFill>
                <a:latin typeface="Consolas"/>
              </a:rPr>
              <a:t>  log for anti-repetition, watch-config for standing sections, and doctrine.</a:t>
            </a:r>
          </a:p>
          <a:p>
            <a:pPr algn="l"/>
            <a:r>
              <a:rPr sz="1000">
                <a:solidFill>
                  <a:srgbClr val="333333"/>
                </a:solidFill>
                <a:latin typeface="Consolas"/>
              </a:rPr>
              <a:t>  Invokes the smart-brevity skill always — drafts prose, runs the 13-item</a:t>
            </a:r>
          </a:p>
          <a:p>
            <a:pPr algn="l"/>
            <a:r>
              <a:rPr sz="1000">
                <a:solidFill>
                  <a:srgbClr val="333333"/>
                </a:solidFill>
                <a:latin typeface="Consolas"/>
              </a:rPr>
              <a:t>  pre-flight checklist, regenerates failing sections until all pass.</a:t>
            </a:r>
          </a:p>
          <a:p>
            <a:pPr algn="l"/>
            <a:r>
              <a:rPr sz="1000">
                <a:solidFill>
                  <a:srgbClr val="333333"/>
                </a:solidFill>
                <a:latin typeface="Consolas"/>
              </a:rPr>
              <a:t>  Writes only to threats/briefs/. Does not post to Discord (librarian's job),</a:t>
            </a:r>
          </a:p>
          <a:p>
            <a:pPr algn="l"/>
            <a:r>
              <a:rPr sz="1000">
                <a:solidFill>
                  <a:srgbClr val="333333"/>
                </a:solidFill>
                <a:latin typeface="Consolas"/>
              </a:rPr>
              <a:t>  does not grade (grader's job), does not run SATs (analyst's job).</a:t>
            </a:r>
          </a:p>
          <a:p>
            <a:pPr algn="l"/>
            <a:r>
              <a:rPr sz="1000">
                <a:solidFill>
                  <a:srgbClr val="333333"/>
                </a:solidFill>
                <a:latin typeface="Consolas"/>
              </a:rPr>
              <a:t>tools: Read, Write, Edit, Glob, Grep</a:t>
            </a:r>
          </a:p>
          <a:p>
            <a:pPr algn="l"/>
            <a:r>
              <a:rPr sz="1000">
                <a:solidFill>
                  <a:srgbClr val="333333"/>
                </a:solidFill>
                <a:latin typeface="Consolas"/>
              </a:rPr>
              <a:t>model: opus</a:t>
            </a:r>
          </a:p>
          <a:p>
            <a:pPr algn="l"/>
            <a:r>
              <a:rPr sz="1000">
                <a:solidFill>
                  <a:srgbClr val="333333"/>
                </a:solidFill>
                <a:latin typeface="Consolas"/>
              </a:rPr>
              <a:t>---</a:t>
            </a:r>
          </a:p>
          <a:p>
            <a:pPr algn="l"/>
            <a:r>
              <a:rPr sz="1000">
                <a:solidFill>
                  <a:srgbClr val="333333"/>
                </a:solidFill>
                <a:latin typeface="Consolas"/>
              </a:rPr>
              <a:t> </a:t>
            </a:r>
          </a:p>
          <a:p>
            <a:pPr algn="l"/>
            <a:r>
              <a:rPr sz="1000">
                <a:solidFill>
                  <a:srgbClr val="333333"/>
                </a:solidFill>
                <a:latin typeface="Consolas"/>
              </a:rPr>
              <a:t># Briefer Subagent</a:t>
            </a:r>
          </a:p>
          <a:p>
            <a:pPr algn="l"/>
            <a:r>
              <a:rPr sz="1000">
                <a:solidFill>
                  <a:srgbClr val="333333"/>
                </a:solidFill>
                <a:latin typeface="Consolas"/>
              </a:rPr>
              <a:t> </a:t>
            </a:r>
          </a:p>
          <a:p>
            <a:pPr algn="l"/>
            <a:r>
              <a:rPr sz="1000">
                <a:solidFill>
                  <a:srgbClr val="333333"/>
                </a:solidFill>
                <a:latin typeface="Consolas"/>
              </a:rPr>
              <a:t>## Role</a:t>
            </a:r>
          </a:p>
          <a:p>
            <a:pPr algn="l"/>
            <a:r>
              <a:rPr sz="1000">
                <a:solidFill>
                  <a:srgbClr val="333333"/>
                </a:solidFill>
                <a:latin typeface="Consolas"/>
              </a:rPr>
              <a:t>You are the briefer. You take the graded, analyzed, red-teamed findings</a:t>
            </a:r>
          </a:p>
          <a:p>
            <a:pPr algn="l"/>
            <a:r>
              <a:rPr sz="1000">
                <a:solidFill>
                  <a:srgbClr val="333333"/>
                </a:solidFill>
                <a:latin typeface="Consolas"/>
              </a:rPr>
              <a:t>the other subagents produced and compose them into the documents Ryan</a:t>
            </a:r>
          </a:p>
          <a:p>
            <a:pPr algn="l"/>
            <a:r>
              <a:rPr sz="1000">
                <a:solidFill>
                  <a:srgbClr val="333333"/>
                </a:solidFill>
                <a:latin typeface="Consolas"/>
              </a:rPr>
              <a:t>actually reads: six brief types plus retractions.</a:t>
            </a:r>
          </a:p>
          <a:p>
            <a:pPr algn="l"/>
            <a:r>
              <a:rPr sz="1000">
                <a:solidFill>
                  <a:srgbClr val="333333"/>
                </a:solidFill>
                <a:latin typeface="Consolas"/>
              </a:rPr>
              <a:t> </a:t>
            </a:r>
          </a:p>
          <a:p>
            <a:pPr algn="l"/>
            <a:r>
              <a:rPr sz="1000">
                <a:solidFill>
                  <a:srgbClr val="333333"/>
                </a:solidFill>
                <a:latin typeface="Consolas"/>
              </a:rPr>
              <a:t>## Before any action — consult LEGAL-POLICY</a:t>
            </a:r>
          </a:p>
          <a:p>
            <a:pPr algn="l"/>
            <a:r>
              <a:rPr sz="1000">
                <a:solidFill>
                  <a:srgbClr val="333333"/>
                </a:solidFill>
                <a:latin typeface="Consolas"/>
              </a:rPr>
              <a:t>- Hard Rule 6 (quote discipline) is your operational constraint</a:t>
            </a:r>
          </a:p>
          <a:p>
            <a:pPr algn="l"/>
            <a:r>
              <a:rPr sz="1000">
                <a:solidFill>
                  <a:srgbClr val="333333"/>
                </a:solidFill>
                <a:latin typeface="Consolas"/>
              </a:rPr>
              <a:t>- ITAR/export-control check on every brief</a:t>
            </a:r>
          </a:p>
          <a:p>
            <a:pPr algn="l"/>
            <a:r>
              <a:rPr sz="1000">
                <a:solidFill>
                  <a:srgbClr val="333333"/>
                </a:solidFill>
                <a:latin typeface="Consolas"/>
              </a:rPr>
              <a:t> </a:t>
            </a:r>
          </a:p>
          <a:p>
            <a:pPr algn="l"/>
            <a:r>
              <a:rPr sz="1000">
                <a:solidFill>
                  <a:srgbClr val="333333"/>
                </a:solidFill>
                <a:latin typeface="Consolas"/>
              </a:rPr>
              <a:t>## Procedure — scheduled brief (Morning or Afternoon)</a:t>
            </a:r>
          </a:p>
          <a:p>
            <a:pPr algn="l"/>
            <a:r>
              <a:rPr sz="1000">
                <a:solidFill>
                  <a:srgbClr val="333333"/>
                </a:solidFill>
                <a:latin typeface="Consolas"/>
              </a:rPr>
              <a:t>1. Load inputs (findings, coverage log, watch-config)</a:t>
            </a:r>
          </a:p>
          <a:p>
            <a:pPr algn="l"/>
            <a:r>
              <a:rPr sz="1000">
                <a:solidFill>
                  <a:srgbClr val="333333"/>
                </a:solidFill>
                <a:latin typeface="Consolas"/>
              </a:rPr>
              <a:t>2. Filter by digraph ≥ B2, by freshness window</a:t>
            </a:r>
          </a:p>
          <a:p>
            <a:pPr algn="l"/>
            <a:r>
              <a:rPr sz="1000">
                <a:solidFill>
                  <a:srgbClr val="333333"/>
                </a:solidFill>
                <a:latin typeface="Consolas"/>
              </a:rPr>
              <a:t>3. Categorize into sections per INTEL-BRIEF-STANDARDS</a:t>
            </a:r>
          </a:p>
          <a:p>
            <a:pPr algn="l"/>
            <a:r>
              <a:rPr sz="1000">
                <a:solidFill>
                  <a:srgbClr val="333333"/>
                </a:solidFill>
                <a:latin typeface="Consolas"/>
              </a:rPr>
              <a:t>4. Apply correlation callouts</a:t>
            </a:r>
          </a:p>
          <a:p>
            <a:pPr algn="l"/>
            <a:r>
              <a:rPr sz="1000">
                <a:solidFill>
                  <a:srgbClr val="333333"/>
                </a:solidFill>
                <a:latin typeface="Consolas"/>
              </a:rPr>
              <a:t>5. Compose Layer 1 + Layer 2</a:t>
            </a:r>
          </a:p>
          <a:p>
            <a:pPr algn="l"/>
            <a:r>
              <a:rPr sz="1000">
                <a:solidFill>
                  <a:srgbClr val="333333"/>
                </a:solidFill>
                <a:latin typeface="Consolas"/>
              </a:rPr>
              <a:t>6. Run 13-item preflight checklist (smart-brevity skill)</a:t>
            </a:r>
          </a:p>
          <a:p>
            <a:pPr algn="l"/>
            <a:r>
              <a:rPr sz="1000">
                <a:solidFill>
                  <a:srgbClr val="333333"/>
                </a:solidFill>
                <a:latin typeface="Consolas"/>
              </a:rPr>
              <a:t>7. Write file, update _coverage-log.yaml, back-write findings</a:t>
            </a:r>
          </a:p>
        </p:txBody>
      </p:sp>
      <p:sp>
        <p:nvSpPr>
          <p:cNvPr id="7" name="TextBox 6"/>
          <p:cNvSpPr txBox="1"/>
          <p:nvPr/>
        </p:nvSpPr>
        <p:spPr>
          <a:xfrm>
            <a:off x="457200" y="6446520"/>
            <a:ext cx="11274552" cy="274320"/>
          </a:xfrm>
          <a:prstGeom prst="rect">
            <a:avLst/>
          </a:prstGeom>
          <a:noFill/>
        </p:spPr>
        <p:txBody>
          <a:bodyPr wrap="none">
            <a:spAutoFit/>
          </a:bodyPr>
          <a:lstStyle/>
          <a:p>
            <a:pPr algn="l"/>
            <a:r>
              <a:rPr sz="800" i="1">
                <a:solidFill>
                  <a:srgbClr val="666666"/>
                </a:solidFill>
                <a:latin typeface="Calibri"/>
              </a:rPr>
              <a:t>Archimedes · Architecture Walkthrough</a:t>
            </a:r>
          </a:p>
        </p:txBody>
      </p:sp>
      <p:sp>
        <p:nvSpPr>
          <p:cNvPr id="8" name="TextBox 7"/>
          <p:cNvSpPr txBox="1"/>
          <p:nvPr/>
        </p:nvSpPr>
        <p:spPr>
          <a:xfrm>
            <a:off x="10515600" y="6446520"/>
            <a:ext cx="1188720" cy="274320"/>
          </a:xfrm>
          <a:prstGeom prst="rect">
            <a:avLst/>
          </a:prstGeom>
          <a:noFill/>
        </p:spPr>
        <p:txBody>
          <a:bodyPr wrap="none">
            <a:spAutoFit/>
          </a:bodyPr>
          <a:lstStyle/>
          <a:p>
            <a:pPr algn="r"/>
            <a:r>
              <a:rPr sz="800">
                <a:solidFill>
                  <a:srgbClr val="666666"/>
                </a:solidFill>
                <a:latin typeface="Calibri"/>
              </a:rPr>
              <a:t>10 / 32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28600"/>
          </a:xfrm>
          <a:prstGeom prst="rect">
            <a:avLst/>
          </a:prstGeom>
          <a:solidFill>
            <a:srgbClr val="4A90E2"/>
          </a:solidFill>
          <a:ln>
            <a:noFill/>
          </a:ln>
        </p:spPr>
        <p:style>
          <a:lnRef idx="1">
            <a:schemeClr val="accent1"/>
          </a:lnRef>
          <a:fillRef idx="3">
            <a:schemeClr val="accent1"/>
          </a:fillRef>
          <a:effectRef idx="2">
            <a:schemeClr val="accent1"/>
          </a:effectRef>
          <a:fontRef idx="minor">
            <a:schemeClr val="lt1"/>
          </a:fontRef>
        </p:style>
        <p:txBody>
          <a:bodyPr rtlCol="0" anchor="ctr" tIns="18288" lIns="457200"/>
          <a:lstStyle/>
          <a:p>
            <a:pPr algn="ctr"/>
            <a:r>
              <a:rPr sz="1000" b="1">
                <a:solidFill>
                  <a:srgbClr val="FFFFFF"/>
                </a:solidFill>
                <a:latin typeface="Calibri"/>
              </a:rPr>
              <a:t>§2  ·  Subagents</a:t>
            </a:r>
          </a:p>
        </p:txBody>
      </p:sp>
      <p:sp>
        <p:nvSpPr>
          <p:cNvPr id="3" name="TextBox 2"/>
          <p:cNvSpPr txBox="1"/>
          <p:nvPr/>
        </p:nvSpPr>
        <p:spPr>
          <a:xfrm>
            <a:off x="457200" y="274320"/>
            <a:ext cx="11274552" cy="640080"/>
          </a:xfrm>
          <a:prstGeom prst="rect">
            <a:avLst/>
          </a:prstGeom>
          <a:noFill/>
        </p:spPr>
        <p:txBody>
          <a:bodyPr wrap="square">
            <a:spAutoFit/>
          </a:bodyPr>
          <a:lstStyle/>
          <a:p>
            <a:pPr algn="l"/>
            <a:r>
              <a:rPr sz="2800" b="1">
                <a:solidFill>
                  <a:srgbClr val="1F3A5F"/>
                </a:solidFill>
                <a:latin typeface="Calibri"/>
              </a:rPr>
              <a:t>Context isolation — what each subagent sees vs. doesn't</a:t>
            </a:r>
          </a:p>
        </p:txBody>
      </p:sp>
      <p:sp>
        <p:nvSpPr>
          <p:cNvPr id="4" name="TextBox 3"/>
          <p:cNvSpPr txBox="1"/>
          <p:nvPr/>
        </p:nvSpPr>
        <p:spPr>
          <a:xfrm>
            <a:off x="457200" y="914400"/>
            <a:ext cx="11274552" cy="365760"/>
          </a:xfrm>
          <a:prstGeom prst="rect">
            <a:avLst/>
          </a:prstGeom>
          <a:noFill/>
        </p:spPr>
        <p:txBody>
          <a:bodyPr wrap="square">
            <a:spAutoFit/>
          </a:bodyPr>
          <a:lstStyle/>
          <a:p>
            <a:r>
              <a:rPr sz="1300" i="1">
                <a:solidFill>
                  <a:srgbClr val="666666"/>
                </a:solidFill>
                <a:latin typeface="Calibri"/>
              </a:rPr>
              <a:t>The counterintuitive insight: less context per agent = lower error rate.</a:t>
            </a:r>
          </a:p>
        </p:txBody>
      </p:sp>
      <p:sp>
        <p:nvSpPr>
          <p:cNvPr id="5" name="TextBox 4"/>
          <p:cNvSpPr txBox="1"/>
          <p:nvPr/>
        </p:nvSpPr>
        <p:spPr>
          <a:xfrm>
            <a:off x="457200" y="1463040"/>
            <a:ext cx="11274552" cy="4754880"/>
          </a:xfrm>
          <a:prstGeom prst="rect">
            <a:avLst/>
          </a:prstGeom>
          <a:noFill/>
        </p:spPr>
        <p:txBody>
          <a:bodyPr wrap="square">
            <a:spAutoFit/>
          </a:bodyPr>
          <a:lstStyle/>
          <a:p>
            <a:pPr algn="l">
              <a:lnSpc>
                <a:spcPct val="115000"/>
              </a:lnSpc>
            </a:pPr>
            <a:r>
              <a:rPr sz="1300" b="1">
                <a:solidFill>
                  <a:srgbClr val="333333"/>
                </a:solidFill>
                <a:latin typeface="Calibri"/>
              </a:rPr>
              <a:t>• orchestrator</a:t>
            </a:r>
          </a:p>
          <a:p>
            <a:pPr algn="l">
              <a:lnSpc>
                <a:spcPct val="115000"/>
              </a:lnSpc>
            </a:pPr>
            <a:r>
              <a:rPr sz="1100" i="1">
                <a:solidFill>
                  <a:srgbClr val="666666"/>
                </a:solidFill>
                <a:latin typeface="Calibri"/>
              </a:rPr>
              <a:t>   schedule, delegation directives, pipeline state. Never reads raw articles. Never sees graded findings in detail.</a:t>
            </a:r>
          </a:p>
          <a:p>
            <a:pPr algn="l">
              <a:lnSpc>
                <a:spcPct val="115000"/>
              </a:lnSpc>
              <a:spcBef>
                <a:spcPts val="600"/>
              </a:spcBef>
            </a:pPr>
            <a:r>
              <a:rPr sz="1300" b="1">
                <a:solidFill>
                  <a:srgbClr val="333333"/>
                </a:solidFill>
                <a:latin typeface="Calibri"/>
              </a:rPr>
              <a:t>• collector</a:t>
            </a:r>
          </a:p>
          <a:p>
            <a:pPr algn="l">
              <a:lnSpc>
                <a:spcPct val="115000"/>
              </a:lnSpc>
            </a:pPr>
            <a:r>
              <a:rPr sz="1100" i="1">
                <a:solidFill>
                  <a:srgbClr val="666666"/>
                </a:solidFill>
                <a:latin typeface="Calibri"/>
              </a:rPr>
              <a:t>   source list, watchlists, time window. Never reads coverage log. Never sees prior briefs.</a:t>
            </a:r>
          </a:p>
          <a:p>
            <a:pPr algn="l">
              <a:lnSpc>
                <a:spcPct val="115000"/>
              </a:lnSpc>
              <a:spcBef>
                <a:spcPts val="600"/>
              </a:spcBef>
            </a:pPr>
            <a:r>
              <a:rPr sz="1300" b="1">
                <a:solidFill>
                  <a:srgbClr val="333333"/>
                </a:solidFill>
                <a:latin typeface="Calibri"/>
              </a:rPr>
              <a:t>• grader</a:t>
            </a:r>
          </a:p>
          <a:p>
            <a:pPr algn="l">
              <a:lnSpc>
                <a:spcPct val="115000"/>
              </a:lnSpc>
            </a:pPr>
            <a:r>
              <a:rPr sz="1100" i="1">
                <a:solidFill>
                  <a:srgbClr val="666666"/>
                </a:solidFill>
                <a:latin typeface="Calibri"/>
              </a:rPr>
              <a:t>   raw signal from current sweep, INTEL-GRADING, historical-source health. Never sees brief text.</a:t>
            </a:r>
          </a:p>
          <a:p>
            <a:pPr algn="l">
              <a:lnSpc>
                <a:spcPct val="115000"/>
              </a:lnSpc>
              <a:spcBef>
                <a:spcPts val="600"/>
              </a:spcBef>
            </a:pPr>
            <a:r>
              <a:rPr sz="1300" b="1">
                <a:solidFill>
                  <a:srgbClr val="333333"/>
                </a:solidFill>
                <a:latin typeface="Calibri"/>
              </a:rPr>
              <a:t>• analyst</a:t>
            </a:r>
          </a:p>
          <a:p>
            <a:pPr algn="l">
              <a:lnSpc>
                <a:spcPct val="115000"/>
              </a:lnSpc>
            </a:pPr>
            <a:r>
              <a:rPr sz="1100" i="1">
                <a:solidFill>
                  <a:srgbClr val="666666"/>
                </a:solidFill>
                <a:latin typeface="Calibri"/>
              </a:rPr>
              <a:t>   the finding it's analyzing + analytic framework references. Never sees other findings.</a:t>
            </a:r>
          </a:p>
          <a:p>
            <a:pPr algn="l">
              <a:lnSpc>
                <a:spcPct val="115000"/>
              </a:lnSpc>
              <a:spcBef>
                <a:spcPts val="600"/>
              </a:spcBef>
            </a:pPr>
            <a:r>
              <a:rPr sz="1300" b="1">
                <a:solidFill>
                  <a:srgbClr val="333333"/>
                </a:solidFill>
                <a:latin typeface="Calibri"/>
              </a:rPr>
              <a:t>• red-team-analyst</a:t>
            </a:r>
          </a:p>
          <a:p>
            <a:pPr algn="l">
              <a:lnSpc>
                <a:spcPct val="115000"/>
              </a:lnSpc>
            </a:pPr>
            <a:r>
              <a:rPr sz="1100" i="1">
                <a:solidFill>
                  <a:srgbClr val="666666"/>
                </a:solidFill>
                <a:latin typeface="Calibri"/>
              </a:rPr>
              <a:t>   ONE finding + the analyst's own analysis. Cannot have written the primary — contrarian by construction.</a:t>
            </a:r>
          </a:p>
          <a:p>
            <a:pPr algn="l">
              <a:lnSpc>
                <a:spcPct val="115000"/>
              </a:lnSpc>
              <a:spcBef>
                <a:spcPts val="600"/>
              </a:spcBef>
            </a:pPr>
            <a:r>
              <a:rPr sz="1300" b="1">
                <a:solidFill>
                  <a:srgbClr val="333333"/>
                </a:solidFill>
                <a:latin typeface="Calibri"/>
              </a:rPr>
              <a:t>• briefer</a:t>
            </a:r>
          </a:p>
          <a:p>
            <a:pPr algn="l">
              <a:lnSpc>
                <a:spcPct val="115000"/>
              </a:lnSpc>
            </a:pPr>
            <a:r>
              <a:rPr sz="1100" i="1">
                <a:solidFill>
                  <a:srgbClr val="666666"/>
                </a:solidFill>
                <a:latin typeface="Calibri"/>
              </a:rPr>
              <a:t>   approved findings + coverage log + watch-config + doctrine. Never reads raw signal.</a:t>
            </a:r>
          </a:p>
          <a:p>
            <a:pPr algn="l">
              <a:lnSpc>
                <a:spcPct val="115000"/>
              </a:lnSpc>
              <a:spcBef>
                <a:spcPts val="600"/>
              </a:spcBef>
            </a:pPr>
            <a:r>
              <a:rPr sz="1300" b="1">
                <a:solidFill>
                  <a:srgbClr val="333333"/>
                </a:solidFill>
                <a:latin typeface="Calibri"/>
              </a:rPr>
              <a:t>• librarian</a:t>
            </a:r>
          </a:p>
          <a:p>
            <a:pPr algn="l">
              <a:lnSpc>
                <a:spcPct val="115000"/>
              </a:lnSpc>
            </a:pPr>
            <a:r>
              <a:rPr sz="1100" i="1">
                <a:solidFill>
                  <a:srgbClr val="666666"/>
                </a:solidFill>
                <a:latin typeface="Calibri"/>
              </a:rPr>
              <a:t>   the file or files it's about to ship + the change summary. Never composes content.</a:t>
            </a:r>
          </a:p>
        </p:txBody>
      </p:sp>
      <p:sp>
        <p:nvSpPr>
          <p:cNvPr id="6" name="Rounded Rectangle 5"/>
          <p:cNvSpPr/>
          <p:nvPr/>
        </p:nvSpPr>
        <p:spPr>
          <a:xfrm>
            <a:off x="457200" y="5486400"/>
            <a:ext cx="11274552" cy="777240"/>
          </a:xfrm>
          <a:prstGeom prst="roundRect">
            <a:avLst/>
          </a:prstGeom>
          <a:solidFill>
            <a:srgbClr val="E6F4EA"/>
          </a:solidFill>
          <a:ln w="1905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tIns="109728" lIns="182880" rIns="182880" wrap="square"/>
          <a:lstStyle/>
          <a:p>
            <a:pPr algn="ctr"/>
            <a:r>
              <a:rPr sz="1200" i="1">
                <a:solidFill>
                  <a:srgbClr val="333333"/>
                </a:solidFill>
                <a:latin typeface="Calibri"/>
              </a:rPr>
              <a:t>Why this matters: agents hallucinate against context they don't need. Giving the briefer access to raw articles makes it tempted to re-grade. Giving the red-team the primary author's reasoning makes it harder to disagree. Minimum context = minimum surface for the wrong inference.</a:t>
            </a:r>
          </a:p>
        </p:txBody>
      </p:sp>
      <p:sp>
        <p:nvSpPr>
          <p:cNvPr id="7" name="TextBox 6"/>
          <p:cNvSpPr txBox="1"/>
          <p:nvPr/>
        </p:nvSpPr>
        <p:spPr>
          <a:xfrm>
            <a:off x="457200" y="6446520"/>
            <a:ext cx="11274552" cy="274320"/>
          </a:xfrm>
          <a:prstGeom prst="rect">
            <a:avLst/>
          </a:prstGeom>
          <a:noFill/>
        </p:spPr>
        <p:txBody>
          <a:bodyPr wrap="none">
            <a:spAutoFit/>
          </a:bodyPr>
          <a:lstStyle/>
          <a:p>
            <a:pPr algn="l"/>
            <a:r>
              <a:rPr sz="800" i="1">
                <a:solidFill>
                  <a:srgbClr val="666666"/>
                </a:solidFill>
                <a:latin typeface="Calibri"/>
              </a:rPr>
              <a:t>Archimedes · Architecture Walkthrough</a:t>
            </a:r>
          </a:p>
        </p:txBody>
      </p:sp>
      <p:sp>
        <p:nvSpPr>
          <p:cNvPr id="8" name="TextBox 7"/>
          <p:cNvSpPr txBox="1"/>
          <p:nvPr/>
        </p:nvSpPr>
        <p:spPr>
          <a:xfrm>
            <a:off x="10515600" y="6446520"/>
            <a:ext cx="1188720" cy="274320"/>
          </a:xfrm>
          <a:prstGeom prst="rect">
            <a:avLst/>
          </a:prstGeom>
          <a:noFill/>
        </p:spPr>
        <p:txBody>
          <a:bodyPr wrap="none">
            <a:spAutoFit/>
          </a:bodyPr>
          <a:lstStyle/>
          <a:p>
            <a:pPr algn="r"/>
            <a:r>
              <a:rPr sz="800">
                <a:solidFill>
                  <a:srgbClr val="666666"/>
                </a:solidFill>
                <a:latin typeface="Calibri"/>
              </a:rPr>
              <a:t>11 / 32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28600"/>
          </a:xfrm>
          <a:prstGeom prst="rect">
            <a:avLst/>
          </a:prstGeom>
          <a:solidFill>
            <a:srgbClr val="4A90E2"/>
          </a:solidFill>
          <a:ln>
            <a:noFill/>
          </a:ln>
        </p:spPr>
        <p:style>
          <a:lnRef idx="1">
            <a:schemeClr val="accent1"/>
          </a:lnRef>
          <a:fillRef idx="3">
            <a:schemeClr val="accent1"/>
          </a:fillRef>
          <a:effectRef idx="2">
            <a:schemeClr val="accent1"/>
          </a:effectRef>
          <a:fontRef idx="minor">
            <a:schemeClr val="lt1"/>
          </a:fontRef>
        </p:style>
        <p:txBody>
          <a:bodyPr rtlCol="0" anchor="ctr" tIns="18288" lIns="457200"/>
          <a:lstStyle/>
          <a:p>
            <a:pPr algn="ctr"/>
            <a:r>
              <a:rPr sz="1000" b="1">
                <a:solidFill>
                  <a:srgbClr val="FFFFFF"/>
                </a:solidFill>
                <a:latin typeface="Calibri"/>
              </a:rPr>
              <a:t>§2  ·  Subagents</a:t>
            </a:r>
          </a:p>
        </p:txBody>
      </p:sp>
      <p:sp>
        <p:nvSpPr>
          <p:cNvPr id="3" name="TextBox 2"/>
          <p:cNvSpPr txBox="1"/>
          <p:nvPr/>
        </p:nvSpPr>
        <p:spPr>
          <a:xfrm>
            <a:off x="457200" y="274320"/>
            <a:ext cx="11274552" cy="640080"/>
          </a:xfrm>
          <a:prstGeom prst="rect">
            <a:avLst/>
          </a:prstGeom>
          <a:noFill/>
        </p:spPr>
        <p:txBody>
          <a:bodyPr wrap="square">
            <a:spAutoFit/>
          </a:bodyPr>
          <a:lstStyle/>
          <a:p>
            <a:pPr algn="l"/>
            <a:r>
              <a:rPr sz="2800" b="1">
                <a:solidFill>
                  <a:srgbClr val="1F3A5F"/>
                </a:solidFill>
                <a:latin typeface="Calibri"/>
              </a:rPr>
              <a:t>The grading chain — case study</a:t>
            </a:r>
          </a:p>
        </p:txBody>
      </p:sp>
      <p:sp>
        <p:nvSpPr>
          <p:cNvPr id="4" name="TextBox 3"/>
          <p:cNvSpPr txBox="1"/>
          <p:nvPr/>
        </p:nvSpPr>
        <p:spPr>
          <a:xfrm>
            <a:off x="457200" y="914400"/>
            <a:ext cx="11274552" cy="365760"/>
          </a:xfrm>
          <a:prstGeom prst="rect">
            <a:avLst/>
          </a:prstGeom>
          <a:noFill/>
        </p:spPr>
        <p:txBody>
          <a:bodyPr wrap="square">
            <a:spAutoFit/>
          </a:bodyPr>
          <a:lstStyle/>
          <a:p>
            <a:r>
              <a:rPr sz="1300" i="1">
                <a:solidFill>
                  <a:srgbClr val="666666"/>
                </a:solidFill>
                <a:latin typeface="Calibri"/>
              </a:rPr>
              <a:t>One CVE-attribution claim traced through collector → grader → analyst → red-team</a:t>
            </a:r>
          </a:p>
        </p:txBody>
      </p:sp>
      <p:sp>
        <p:nvSpPr>
          <p:cNvPr id="5" name="Rounded Rectangle 4"/>
          <p:cNvSpPr/>
          <p:nvPr/>
        </p:nvSpPr>
        <p:spPr>
          <a:xfrm>
            <a:off x="457200" y="1417320"/>
            <a:ext cx="11274552" cy="914400"/>
          </a:xfrm>
          <a:prstGeom prst="roundRect">
            <a:avLst/>
          </a:prstGeom>
          <a:solidFill>
            <a:srgbClr val="FFFFFF"/>
          </a:solidFill>
          <a:ln w="19050">
            <a:solidFill>
              <a:srgbClr val="4A90E2"/>
            </a:solidFill>
          </a:ln>
        </p:spPr>
        <p:style>
          <a:lnRef idx="1">
            <a:schemeClr val="accent1"/>
          </a:lnRef>
          <a:fillRef idx="3">
            <a:schemeClr val="accent1"/>
          </a:fillRef>
          <a:effectRef idx="2">
            <a:schemeClr val="accent1"/>
          </a:effectRef>
          <a:fontRef idx="minor">
            <a:schemeClr val="lt1"/>
          </a:fontRef>
        </p:style>
        <p:txBody>
          <a:bodyPr rtlCol="0" anchor="ctr" tIns="91440" lIns="182880" wrap="square"/>
          <a:lstStyle/>
          <a:p>
            <a:pPr algn="ctr"/>
            <a:r>
              <a:rPr sz="1200" b="1">
                <a:solidFill>
                  <a:srgbClr val="4A90E2"/>
                </a:solidFill>
                <a:latin typeface="Calibri"/>
              </a:rPr>
              <a:t>collector</a:t>
            </a:r>
          </a:p>
          <a:p>
            <a:pPr>
              <a:spcBef>
                <a:spcPts val="300"/>
              </a:spcBef>
            </a:pPr>
            <a:r>
              <a:rPr sz="1000">
                <a:solidFill>
                  <a:srgbClr val="333333"/>
                </a:solidFill>
                <a:latin typeface="Calibri"/>
              </a:rPr>
              <a:t>Picks up Rapid7 blog post via RSS. Filters against watchlist (MuddyWater = tracked actor → KEEP). Writes raw-signal/2026-05-06-1218-rapid7-muddywater.md with minimal frontmatter. No grading.</a:t>
            </a:r>
          </a:p>
        </p:txBody>
      </p:sp>
      <p:sp>
        <p:nvSpPr>
          <p:cNvPr id="6" name="Rounded Rectangle 5"/>
          <p:cNvSpPr/>
          <p:nvPr/>
        </p:nvSpPr>
        <p:spPr>
          <a:xfrm>
            <a:off x="457200" y="2423160"/>
            <a:ext cx="11274552" cy="914400"/>
          </a:xfrm>
          <a:prstGeom prst="roundRect">
            <a:avLst/>
          </a:prstGeom>
          <a:solidFill>
            <a:srgbClr val="FFFFFF"/>
          </a:solidFill>
          <a:ln w="19050">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tIns="91440" lIns="182880" wrap="square"/>
          <a:lstStyle/>
          <a:p>
            <a:pPr algn="ctr"/>
            <a:r>
              <a:rPr sz="1200" b="1">
                <a:solidFill>
                  <a:srgbClr val="1F3A5F"/>
                </a:solidFill>
                <a:latin typeface="Calibri"/>
              </a:rPr>
              <a:t>grader</a:t>
            </a:r>
          </a:p>
          <a:p>
            <a:pPr>
              <a:spcBef>
                <a:spcPts val="300"/>
              </a:spcBef>
            </a:pPr>
            <a:r>
              <a:rPr sz="1000">
                <a:solidFill>
                  <a:srgbClr val="333333"/>
                </a:solidFill>
                <a:latin typeface="Calibri"/>
              </a:rPr>
              <a:t>Reads the raw signal. Applies INTEL-GRADING: Rapid7 provisional A · single source → credibility 2 max. Single-source-veto caps forward claim at 'likely.' Promotes to findings/finding-2026-05-06-FLASH-0002.md with digraph A2, wep likely, corroboration.independent=false, 72h auto-downgrade clock set.</a:t>
            </a:r>
          </a:p>
        </p:txBody>
      </p:sp>
      <p:sp>
        <p:nvSpPr>
          <p:cNvPr id="7" name="Rounded Rectangle 6"/>
          <p:cNvSpPr/>
          <p:nvPr/>
        </p:nvSpPr>
        <p:spPr>
          <a:xfrm>
            <a:off x="457200" y="3429000"/>
            <a:ext cx="11274552" cy="914400"/>
          </a:xfrm>
          <a:prstGeom prst="roundRect">
            <a:avLst/>
          </a:prstGeom>
          <a:solidFill>
            <a:srgbClr val="FFFFFF"/>
          </a:solidFill>
          <a:ln w="19050">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tIns="91440" lIns="182880" wrap="square"/>
          <a:lstStyle/>
          <a:p>
            <a:pPr algn="ctr"/>
            <a:r>
              <a:rPr sz="1200" b="1">
                <a:solidFill>
                  <a:srgbClr val="1F3A5F"/>
                </a:solidFill>
                <a:latin typeface="Calibri"/>
              </a:rPr>
              <a:t>analyst</a:t>
            </a:r>
          </a:p>
          <a:p>
            <a:pPr>
              <a:spcBef>
                <a:spcPts val="300"/>
              </a:spcBef>
            </a:pPr>
            <a:r>
              <a:rPr sz="1000">
                <a:solidFill>
                  <a:srgbClr val="333333"/>
                </a:solidFill>
                <a:latin typeface="Calibri"/>
              </a:rPr>
              <a:t>Reads ONLY this finding + sat-ach / sat-kac skills. Builds ACH matrix of attribution hypotheses (TeamPCP / MuddyWater / unattributed). Records analysis_sections.ach + .kac on the finding. Flags red_team_review_required because WEP=likely on single source — not 'very likely' but close.</a:t>
            </a:r>
          </a:p>
        </p:txBody>
      </p:sp>
      <p:sp>
        <p:nvSpPr>
          <p:cNvPr id="8" name="Rounded Rectangle 7"/>
          <p:cNvSpPr/>
          <p:nvPr/>
        </p:nvSpPr>
        <p:spPr>
          <a:xfrm>
            <a:off x="457200" y="4434840"/>
            <a:ext cx="11274552" cy="914400"/>
          </a:xfrm>
          <a:prstGeom prst="roundRect">
            <a:avLst/>
          </a:prstGeom>
          <a:solidFill>
            <a:srgbClr val="FFFFFF"/>
          </a:solidFill>
          <a:ln w="1905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tIns="91440" lIns="182880" wrap="square"/>
          <a:lstStyle/>
          <a:p>
            <a:pPr algn="ctr"/>
            <a:r>
              <a:rPr sz="1200" b="1">
                <a:solidFill>
                  <a:srgbClr val="C0392B"/>
                </a:solidFill>
                <a:latin typeface="Calibri"/>
              </a:rPr>
              <a:t>red-team-analyst</a:t>
            </a:r>
          </a:p>
          <a:p>
            <a:pPr>
              <a:spcBef>
                <a:spcPts val="300"/>
              </a:spcBef>
            </a:pPr>
            <a:r>
              <a:rPr sz="1000">
                <a:solidFill>
                  <a:srgbClr val="333333"/>
                </a:solidFill>
                <a:latin typeface="Calibri"/>
              </a:rPr>
              <a:t>Receives just this finding + analyst's analysis. Argues FOR rejected hypotheses. Tests for confirmation bias. Either confirms the assessment (signs off) or flags weaknesses. Writes findings.red_team_review section.</a:t>
            </a:r>
          </a:p>
        </p:txBody>
      </p:sp>
      <p:sp>
        <p:nvSpPr>
          <p:cNvPr id="9" name="Rounded Rectangle 8"/>
          <p:cNvSpPr/>
          <p:nvPr/>
        </p:nvSpPr>
        <p:spPr>
          <a:xfrm>
            <a:off x="457200" y="5440680"/>
            <a:ext cx="11274552" cy="914400"/>
          </a:xfrm>
          <a:prstGeom prst="roundRect">
            <a:avLst/>
          </a:prstGeom>
          <a:solidFill>
            <a:srgbClr val="FFFFFF"/>
          </a:solidFill>
          <a:ln w="1905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tIns="91440" lIns="182880" wrap="square"/>
          <a:lstStyle/>
          <a:p>
            <a:pPr algn="ctr"/>
            <a:r>
              <a:rPr sz="1200" b="1">
                <a:solidFill>
                  <a:srgbClr val="2E7D32"/>
                </a:solidFill>
                <a:latin typeface="Calibri"/>
              </a:rPr>
              <a:t>→ next: briefer reads this finding (along with others promoted same window) and composes Layer 1 + Layer 2</a:t>
            </a:r>
          </a:p>
          <a:p>
            <a:pPr>
              <a:spcBef>
                <a:spcPts val="300"/>
              </a:spcBef>
            </a:pPr>
            <a:r>
              <a:rPr sz="1000">
                <a:solidFill>
                  <a:srgbClr val="333333"/>
                </a:solidFill>
                <a:latin typeface="Calibri"/>
              </a:rPr>
              <a:t>Briefer never re-grades. Librarian never re-composes. Each subagent stays in its lane.</a:t>
            </a:r>
          </a:p>
        </p:txBody>
      </p:sp>
      <p:sp>
        <p:nvSpPr>
          <p:cNvPr id="10" name="TextBox 9"/>
          <p:cNvSpPr txBox="1"/>
          <p:nvPr/>
        </p:nvSpPr>
        <p:spPr>
          <a:xfrm>
            <a:off x="457200" y="6446520"/>
            <a:ext cx="11274552" cy="274320"/>
          </a:xfrm>
          <a:prstGeom prst="rect">
            <a:avLst/>
          </a:prstGeom>
          <a:noFill/>
        </p:spPr>
        <p:txBody>
          <a:bodyPr wrap="none">
            <a:spAutoFit/>
          </a:bodyPr>
          <a:lstStyle/>
          <a:p>
            <a:pPr algn="l"/>
            <a:r>
              <a:rPr sz="800" i="1">
                <a:solidFill>
                  <a:srgbClr val="666666"/>
                </a:solidFill>
                <a:latin typeface="Calibri"/>
              </a:rPr>
              <a:t>Archimedes · Architecture Walkthrough</a:t>
            </a:r>
          </a:p>
        </p:txBody>
      </p:sp>
      <p:sp>
        <p:nvSpPr>
          <p:cNvPr id="11" name="TextBox 10"/>
          <p:cNvSpPr txBox="1"/>
          <p:nvPr/>
        </p:nvSpPr>
        <p:spPr>
          <a:xfrm>
            <a:off x="10515600" y="6446520"/>
            <a:ext cx="1188720" cy="274320"/>
          </a:xfrm>
          <a:prstGeom prst="rect">
            <a:avLst/>
          </a:prstGeom>
          <a:noFill/>
        </p:spPr>
        <p:txBody>
          <a:bodyPr wrap="none">
            <a:spAutoFit/>
          </a:bodyPr>
          <a:lstStyle/>
          <a:p>
            <a:pPr algn="r"/>
            <a:r>
              <a:rPr sz="800">
                <a:solidFill>
                  <a:srgbClr val="666666"/>
                </a:solidFill>
                <a:latin typeface="Calibri"/>
              </a:rPr>
              <a:t>12 / 32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28600"/>
          </a:xfrm>
          <a:prstGeom prst="rect">
            <a:avLst/>
          </a:prstGeom>
          <a:solidFill>
            <a:srgbClr val="4A90E2"/>
          </a:solidFill>
          <a:ln>
            <a:noFill/>
          </a:ln>
        </p:spPr>
        <p:style>
          <a:lnRef idx="1">
            <a:schemeClr val="accent1"/>
          </a:lnRef>
          <a:fillRef idx="3">
            <a:schemeClr val="accent1"/>
          </a:fillRef>
          <a:effectRef idx="2">
            <a:schemeClr val="accent1"/>
          </a:effectRef>
          <a:fontRef idx="minor">
            <a:schemeClr val="lt1"/>
          </a:fontRef>
        </p:style>
        <p:txBody>
          <a:bodyPr rtlCol="0" anchor="ctr" tIns="18288" lIns="457200"/>
          <a:lstStyle/>
          <a:p>
            <a:pPr algn="ctr"/>
            <a:r>
              <a:rPr sz="1000" b="1">
                <a:solidFill>
                  <a:srgbClr val="FFFFFF"/>
                </a:solidFill>
                <a:latin typeface="Calibri"/>
              </a:rPr>
              <a:t>§2  ·  Subagents</a:t>
            </a:r>
          </a:p>
        </p:txBody>
      </p:sp>
      <p:sp>
        <p:nvSpPr>
          <p:cNvPr id="3" name="TextBox 2"/>
          <p:cNvSpPr txBox="1"/>
          <p:nvPr/>
        </p:nvSpPr>
        <p:spPr>
          <a:xfrm>
            <a:off x="457200" y="274320"/>
            <a:ext cx="11274552" cy="640080"/>
          </a:xfrm>
          <a:prstGeom prst="rect">
            <a:avLst/>
          </a:prstGeom>
          <a:noFill/>
        </p:spPr>
        <p:txBody>
          <a:bodyPr wrap="square">
            <a:spAutoFit/>
          </a:bodyPr>
          <a:lstStyle/>
          <a:p>
            <a:pPr algn="l"/>
            <a:r>
              <a:rPr sz="2800" b="1">
                <a:solidFill>
                  <a:srgbClr val="1F3A5F"/>
                </a:solidFill>
                <a:latin typeface="Calibri"/>
              </a:rPr>
              <a:t>The librarian — the only writer to side effects</a:t>
            </a:r>
          </a:p>
        </p:txBody>
      </p:sp>
      <p:sp>
        <p:nvSpPr>
          <p:cNvPr id="4" name="TextBox 3"/>
          <p:cNvSpPr txBox="1"/>
          <p:nvPr/>
        </p:nvSpPr>
        <p:spPr>
          <a:xfrm>
            <a:off x="457200" y="914400"/>
            <a:ext cx="11274552" cy="365760"/>
          </a:xfrm>
          <a:prstGeom prst="rect">
            <a:avLst/>
          </a:prstGeom>
          <a:noFill/>
        </p:spPr>
        <p:txBody>
          <a:bodyPr wrap="square">
            <a:spAutoFit/>
          </a:bodyPr>
          <a:lstStyle/>
          <a:p>
            <a:r>
              <a:rPr sz="1300" i="1">
                <a:solidFill>
                  <a:srgbClr val="666666"/>
                </a:solidFill>
                <a:latin typeface="Calibri"/>
              </a:rPr>
              <a:t>LEGAL-POLICY content scan + git + Splunk + Discord, in that order, every time.</a:t>
            </a:r>
          </a:p>
        </p:txBody>
      </p:sp>
      <p:sp>
        <p:nvSpPr>
          <p:cNvPr id="5" name="TextBox 4"/>
          <p:cNvSpPr txBox="1"/>
          <p:nvPr/>
        </p:nvSpPr>
        <p:spPr>
          <a:xfrm>
            <a:off x="457200" y="1463040"/>
            <a:ext cx="11274552" cy="4754880"/>
          </a:xfrm>
          <a:prstGeom prst="rect">
            <a:avLst/>
          </a:prstGeom>
          <a:noFill/>
        </p:spPr>
        <p:txBody>
          <a:bodyPr wrap="square">
            <a:spAutoFit/>
          </a:bodyPr>
          <a:lstStyle/>
          <a:p>
            <a:pPr algn="l">
              <a:lnSpc>
                <a:spcPct val="115000"/>
              </a:lnSpc>
            </a:pPr>
            <a:r>
              <a:rPr sz="1300" b="1">
                <a:solidFill>
                  <a:srgbClr val="333333"/>
                </a:solidFill>
                <a:latin typeface="Calibri"/>
              </a:rPr>
              <a:t>• Why one writer</a:t>
            </a:r>
          </a:p>
          <a:p>
            <a:pPr algn="l">
              <a:lnSpc>
                <a:spcPct val="115000"/>
              </a:lnSpc>
            </a:pPr>
            <a:r>
              <a:rPr sz="1100" i="1">
                <a:solidFill>
                  <a:srgbClr val="666666"/>
                </a:solidFill>
                <a:latin typeface="Calibri"/>
              </a:rPr>
              <a:t>   Every external publication funnels through one agent — easy to audit, easy to rate-limit, easy to add a LEGAL-POLICY content-scan gate before anything leaves the building.</a:t>
            </a:r>
          </a:p>
          <a:p>
            <a:pPr algn="l">
              <a:lnSpc>
                <a:spcPct val="115000"/>
              </a:lnSpc>
              <a:spcBef>
                <a:spcPts val="600"/>
              </a:spcBef>
            </a:pPr>
            <a:r>
              <a:rPr sz="1300" b="1">
                <a:solidFill>
                  <a:srgbClr val="333333"/>
                </a:solidFill>
                <a:latin typeface="Calibri"/>
              </a:rPr>
              <a:t>• Mode-based procedure catalog (8 modes)</a:t>
            </a:r>
          </a:p>
          <a:p>
            <a:pPr algn="l">
              <a:lnSpc>
                <a:spcPct val="115000"/>
              </a:lnSpc>
            </a:pPr>
            <a:r>
              <a:rPr sz="1100" i="1">
                <a:solidFill>
                  <a:srgbClr val="666666"/>
                </a:solidFill>
                <a:latin typeface="Calibri"/>
              </a:rPr>
              <a:t>   Mode 1: post scheduled brief · Mode 2: post FLASH (with quiet-hours/critical-override logic) · Mode 3: process FLASH queue at 09:00 · Mode 4: actor-profiler commit · Mode 5: vuln-tracker commit · Mode 6: retraction · Mode 7: source-grade update · Mode 8: index regen</a:t>
            </a:r>
          </a:p>
          <a:p>
            <a:pPr algn="l">
              <a:lnSpc>
                <a:spcPct val="115000"/>
              </a:lnSpc>
              <a:spcBef>
                <a:spcPts val="600"/>
              </a:spcBef>
            </a:pPr>
            <a:r>
              <a:rPr sz="1300" b="1">
                <a:solidFill>
                  <a:srgbClr val="333333"/>
                </a:solidFill>
                <a:latin typeface="Calibri"/>
              </a:rPr>
              <a:t>• Tools = Bash, Read, Edit, Glob, Grep</a:t>
            </a:r>
          </a:p>
          <a:p>
            <a:pPr algn="l">
              <a:lnSpc>
                <a:spcPct val="115000"/>
              </a:lnSpc>
            </a:pPr>
            <a:r>
              <a:rPr sz="1100" i="1">
                <a:solidFill>
                  <a:srgbClr val="666666"/>
                </a:solidFill>
                <a:latin typeface="Calibri"/>
              </a:rPr>
              <a:t>   Bash for hook invocation (.claude/hooks/discord-post.sh, .claude/hooks/splunk-log.sh, git commands). Read + Edit for the file(s) being shipped. NO Write — librarian doesn't author content.</a:t>
            </a:r>
          </a:p>
          <a:p>
            <a:pPr algn="l">
              <a:lnSpc>
                <a:spcPct val="115000"/>
              </a:lnSpc>
              <a:spcBef>
                <a:spcPts val="600"/>
              </a:spcBef>
            </a:pPr>
            <a:r>
              <a:rPr sz="1300" b="1">
                <a:solidFill>
                  <a:srgbClr val="333333"/>
                </a:solidFill>
                <a:latin typeface="Calibri"/>
              </a:rPr>
              <a:t>• Hook layer for deterministic side effects</a:t>
            </a:r>
          </a:p>
          <a:p>
            <a:pPr algn="l">
              <a:lnSpc>
                <a:spcPct val="115000"/>
              </a:lnSpc>
            </a:pPr>
            <a:r>
              <a:rPr sz="1100" i="1">
                <a:solidFill>
                  <a:srgbClr val="666666"/>
                </a:solidFill>
                <a:latin typeface="Calibri"/>
              </a:rPr>
              <a:t>   Discord posts go through discord-post.sh; Splunk events through splunk-log.sh. Bash scripts, not subagents — no LLM cost on every post, deterministic behavior, easy to debug.</a:t>
            </a:r>
          </a:p>
          <a:p>
            <a:pPr algn="l">
              <a:lnSpc>
                <a:spcPct val="115000"/>
              </a:lnSpc>
              <a:spcBef>
                <a:spcPts val="600"/>
              </a:spcBef>
            </a:pPr>
            <a:r>
              <a:rPr sz="1300" b="1">
                <a:solidFill>
                  <a:srgbClr val="333333"/>
                </a:solidFill>
                <a:latin typeface="Calibri"/>
              </a:rPr>
              <a:t>• LEGAL-POLICY content scan is the gate</a:t>
            </a:r>
          </a:p>
          <a:p>
            <a:pPr algn="l">
              <a:lnSpc>
                <a:spcPct val="115000"/>
              </a:lnSpc>
            </a:pPr>
            <a:r>
              <a:rPr sz="1100" i="1">
                <a:solidFill>
                  <a:srgbClr val="666666"/>
                </a:solidFill>
                <a:latin typeface="Calibri"/>
              </a:rPr>
              <a:t>   Every Discord post preceded by content scan: no credentials, no TLP:RED, no ITAR-questionable detail. If anything trips, halt and flag. The librarian is the last gate before content becomes public.</a:t>
            </a:r>
          </a:p>
          <a:p>
            <a:pPr algn="l">
              <a:lnSpc>
                <a:spcPct val="115000"/>
              </a:lnSpc>
              <a:spcBef>
                <a:spcPts val="600"/>
              </a:spcBef>
            </a:pPr>
            <a:r>
              <a:rPr sz="1300" b="1">
                <a:solidFill>
                  <a:srgbClr val="333333"/>
                </a:solidFill>
                <a:latin typeface="Calibri"/>
              </a:rPr>
              <a:t>• Wrapper catchup-push</a:t>
            </a:r>
          </a:p>
          <a:p>
            <a:pPr algn="l">
              <a:lnSpc>
                <a:spcPct val="115000"/>
              </a:lnSpc>
            </a:pPr>
            <a:r>
              <a:rPr sz="1100" i="1">
                <a:solidFill>
                  <a:srgbClr val="666666"/>
                </a:solidFill>
                <a:latin typeface="Calibri"/>
              </a:rPr>
              <a:t>   scripts/run_phase.ps1 runs `git push origin main` at end of every phase. If librarian's push hung or skipped, wrapper catches up. Belt-and-suspenders against subagent variance.</a:t>
            </a:r>
          </a:p>
        </p:txBody>
      </p:sp>
      <p:sp>
        <p:nvSpPr>
          <p:cNvPr id="6" name="TextBox 5"/>
          <p:cNvSpPr txBox="1"/>
          <p:nvPr/>
        </p:nvSpPr>
        <p:spPr>
          <a:xfrm>
            <a:off x="457200" y="6446520"/>
            <a:ext cx="11274552" cy="274320"/>
          </a:xfrm>
          <a:prstGeom prst="rect">
            <a:avLst/>
          </a:prstGeom>
          <a:noFill/>
        </p:spPr>
        <p:txBody>
          <a:bodyPr wrap="none">
            <a:spAutoFit/>
          </a:bodyPr>
          <a:lstStyle/>
          <a:p>
            <a:pPr algn="l"/>
            <a:r>
              <a:rPr sz="800" i="1">
                <a:solidFill>
                  <a:srgbClr val="666666"/>
                </a:solidFill>
                <a:latin typeface="Calibri"/>
              </a:rPr>
              <a:t>Archimedes · Architecture Walkthrough</a:t>
            </a:r>
          </a:p>
        </p:txBody>
      </p:sp>
      <p:sp>
        <p:nvSpPr>
          <p:cNvPr id="7" name="TextBox 6"/>
          <p:cNvSpPr txBox="1"/>
          <p:nvPr/>
        </p:nvSpPr>
        <p:spPr>
          <a:xfrm>
            <a:off x="10515600" y="6446520"/>
            <a:ext cx="1188720" cy="274320"/>
          </a:xfrm>
          <a:prstGeom prst="rect">
            <a:avLst/>
          </a:prstGeom>
          <a:noFill/>
        </p:spPr>
        <p:txBody>
          <a:bodyPr wrap="none">
            <a:spAutoFit/>
          </a:bodyPr>
          <a:lstStyle/>
          <a:p>
            <a:pPr algn="r"/>
            <a:r>
              <a:rPr sz="800">
                <a:solidFill>
                  <a:srgbClr val="666666"/>
                </a:solidFill>
                <a:latin typeface="Calibri"/>
              </a:rPr>
              <a:t>13 / 32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28600"/>
          </a:xfrm>
          <a:prstGeom prst="rect">
            <a:avLst/>
          </a:prstGeom>
          <a:solidFill>
            <a:srgbClr val="4A90E2"/>
          </a:solidFill>
          <a:ln>
            <a:noFill/>
          </a:ln>
        </p:spPr>
        <p:style>
          <a:lnRef idx="1">
            <a:schemeClr val="accent1"/>
          </a:lnRef>
          <a:fillRef idx="3">
            <a:schemeClr val="accent1"/>
          </a:fillRef>
          <a:effectRef idx="2">
            <a:schemeClr val="accent1"/>
          </a:effectRef>
          <a:fontRef idx="minor">
            <a:schemeClr val="lt1"/>
          </a:fontRef>
        </p:style>
        <p:txBody>
          <a:bodyPr rtlCol="0" anchor="ctr" tIns="18288" lIns="457200"/>
          <a:lstStyle/>
          <a:p>
            <a:pPr algn="ctr"/>
            <a:r>
              <a:rPr sz="1000" b="1">
                <a:solidFill>
                  <a:srgbClr val="FFFFFF"/>
                </a:solidFill>
                <a:latin typeface="Calibri"/>
              </a:rPr>
              <a:t>§2  ·  Subagents</a:t>
            </a:r>
          </a:p>
        </p:txBody>
      </p:sp>
      <p:sp>
        <p:nvSpPr>
          <p:cNvPr id="3" name="TextBox 2"/>
          <p:cNvSpPr txBox="1"/>
          <p:nvPr/>
        </p:nvSpPr>
        <p:spPr>
          <a:xfrm>
            <a:off x="457200" y="274320"/>
            <a:ext cx="11274552" cy="640080"/>
          </a:xfrm>
          <a:prstGeom prst="rect">
            <a:avLst/>
          </a:prstGeom>
          <a:noFill/>
        </p:spPr>
        <p:txBody>
          <a:bodyPr wrap="square">
            <a:spAutoFit/>
          </a:bodyPr>
          <a:lstStyle/>
          <a:p>
            <a:pPr algn="l"/>
            <a:r>
              <a:rPr sz="2800" b="1">
                <a:solidFill>
                  <a:srgbClr val="1F3A5F"/>
                </a:solidFill>
                <a:latin typeface="Calibri"/>
              </a:rPr>
              <a:t>The orchestrator — what it does and never does</a:t>
            </a:r>
          </a:p>
        </p:txBody>
      </p:sp>
      <p:sp>
        <p:nvSpPr>
          <p:cNvPr id="4" name="TextBox 3"/>
          <p:cNvSpPr txBox="1"/>
          <p:nvPr/>
        </p:nvSpPr>
        <p:spPr>
          <a:xfrm>
            <a:off x="457200" y="914400"/>
            <a:ext cx="11274552" cy="365760"/>
          </a:xfrm>
          <a:prstGeom prst="rect">
            <a:avLst/>
          </a:prstGeom>
          <a:noFill/>
        </p:spPr>
        <p:txBody>
          <a:bodyPr wrap="square">
            <a:spAutoFit/>
          </a:bodyPr>
          <a:lstStyle/>
          <a:p>
            <a:r>
              <a:rPr sz="1300" i="1">
                <a:solidFill>
                  <a:srgbClr val="666666"/>
                </a:solidFill>
                <a:latin typeface="Calibri"/>
              </a:rPr>
              <a:t>Claude Code session itself. Schedules. Delegates. Never analyzes or writes.</a:t>
            </a:r>
          </a:p>
        </p:txBody>
      </p:sp>
      <p:sp>
        <p:nvSpPr>
          <p:cNvPr id="5" name="Rectangle 4"/>
          <p:cNvSpPr/>
          <p:nvPr/>
        </p:nvSpPr>
        <p:spPr>
          <a:xfrm>
            <a:off x="457200" y="1463040"/>
            <a:ext cx="5486400" cy="36576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tIns="54864"/>
          <a:lstStyle/>
          <a:p>
            <a:pPr algn="ctr"/>
            <a:r>
              <a:rPr sz="1400" b="1">
                <a:solidFill>
                  <a:srgbClr val="FFFFFF"/>
                </a:solidFill>
                <a:latin typeface="Calibri"/>
              </a:rPr>
              <a:t>DOES</a:t>
            </a:r>
          </a:p>
        </p:txBody>
      </p:sp>
      <p:sp>
        <p:nvSpPr>
          <p:cNvPr id="6" name="Rectangle 5"/>
          <p:cNvSpPr/>
          <p:nvPr/>
        </p:nvSpPr>
        <p:spPr>
          <a:xfrm>
            <a:off x="6245352" y="1463040"/>
            <a:ext cx="5486400" cy="36576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tIns="54864"/>
          <a:lstStyle/>
          <a:p>
            <a:pPr algn="ctr"/>
            <a:r>
              <a:rPr sz="1400" b="1">
                <a:solidFill>
                  <a:srgbClr val="FFFFFF"/>
                </a:solidFill>
                <a:latin typeface="Calibri"/>
              </a:rPr>
              <a:t>NEVER DOES</a:t>
            </a:r>
          </a:p>
        </p:txBody>
      </p:sp>
      <p:sp>
        <p:nvSpPr>
          <p:cNvPr id="7" name="TextBox 6"/>
          <p:cNvSpPr txBox="1"/>
          <p:nvPr/>
        </p:nvSpPr>
        <p:spPr>
          <a:xfrm>
            <a:off x="457200" y="1920240"/>
            <a:ext cx="5486400" cy="4114800"/>
          </a:xfrm>
          <a:prstGeom prst="rect">
            <a:avLst/>
          </a:prstGeom>
          <a:noFill/>
        </p:spPr>
        <p:txBody>
          <a:bodyPr wrap="square">
            <a:spAutoFit/>
          </a:bodyPr>
          <a:lstStyle/>
          <a:p>
            <a:pPr algn="l">
              <a:lnSpc>
                <a:spcPct val="115000"/>
              </a:lnSpc>
            </a:pPr>
            <a:r>
              <a:rPr sz="1300">
                <a:solidFill>
                  <a:srgbClr val="333333"/>
                </a:solidFill>
                <a:latin typeface="Calibri"/>
              </a:rPr>
              <a:t>• Receive trigger (scheduled / FLASH / on-demand)</a:t>
            </a:r>
          </a:p>
          <a:p>
            <a:pPr algn="l">
              <a:lnSpc>
                <a:spcPct val="115000"/>
              </a:lnSpc>
              <a:spcBef>
                <a:spcPts val="600"/>
              </a:spcBef>
            </a:pPr>
            <a:r>
              <a:rPr sz="1300">
                <a:solidFill>
                  <a:srgbClr val="333333"/>
                </a:solidFill>
                <a:latin typeface="Calibri"/>
              </a:rPr>
              <a:t>• Read pipeline doctrine (which subagents in what order)</a:t>
            </a:r>
          </a:p>
          <a:p>
            <a:pPr algn="l">
              <a:lnSpc>
                <a:spcPct val="115000"/>
              </a:lnSpc>
              <a:spcBef>
                <a:spcPts val="600"/>
              </a:spcBef>
            </a:pPr>
            <a:r>
              <a:rPr sz="1300">
                <a:solidFill>
                  <a:srgbClr val="333333"/>
                </a:solidFill>
                <a:latin typeface="Calibri"/>
              </a:rPr>
              <a:t>• Delegate to subagents via Task tool</a:t>
            </a:r>
          </a:p>
          <a:p>
            <a:pPr algn="l">
              <a:lnSpc>
                <a:spcPct val="115000"/>
              </a:lnSpc>
              <a:spcBef>
                <a:spcPts val="600"/>
              </a:spcBef>
            </a:pPr>
            <a:r>
              <a:rPr sz="1300">
                <a:solidFill>
                  <a:srgbClr val="333333"/>
                </a:solidFill>
                <a:latin typeface="Calibri"/>
              </a:rPr>
              <a:t>• Pass minimal context between subagent invocations</a:t>
            </a:r>
          </a:p>
          <a:p>
            <a:pPr algn="l">
              <a:lnSpc>
                <a:spcPct val="115000"/>
              </a:lnSpc>
              <a:spcBef>
                <a:spcPts val="600"/>
              </a:spcBef>
            </a:pPr>
            <a:r>
              <a:rPr sz="1300">
                <a:solidFill>
                  <a:srgbClr val="333333"/>
                </a:solidFill>
                <a:latin typeface="Calibri"/>
              </a:rPr>
              <a:t>• Track run state across handoffs</a:t>
            </a:r>
          </a:p>
          <a:p>
            <a:pPr algn="l">
              <a:lnSpc>
                <a:spcPct val="115000"/>
              </a:lnSpc>
              <a:spcBef>
                <a:spcPts val="600"/>
              </a:spcBef>
            </a:pPr>
            <a:r>
              <a:rPr sz="1300">
                <a:solidFill>
                  <a:srgbClr val="333333"/>
                </a:solidFill>
                <a:latin typeface="Calibri"/>
              </a:rPr>
              <a:t>• Surface high-stakes decisions to operator</a:t>
            </a:r>
          </a:p>
          <a:p>
            <a:pPr algn="l">
              <a:lnSpc>
                <a:spcPct val="115000"/>
              </a:lnSpc>
              <a:spcBef>
                <a:spcPts val="600"/>
              </a:spcBef>
            </a:pPr>
            <a:r>
              <a:rPr sz="1300">
                <a:solidFill>
                  <a:srgbClr val="333333"/>
                </a:solidFill>
                <a:latin typeface="Calibri"/>
              </a:rPr>
              <a:t>• Handle pipeline failures (retry / degrade / abort)</a:t>
            </a:r>
          </a:p>
        </p:txBody>
      </p:sp>
      <p:sp>
        <p:nvSpPr>
          <p:cNvPr id="8" name="TextBox 7"/>
          <p:cNvSpPr txBox="1"/>
          <p:nvPr/>
        </p:nvSpPr>
        <p:spPr>
          <a:xfrm>
            <a:off x="6245352" y="1920240"/>
            <a:ext cx="5486400" cy="4114800"/>
          </a:xfrm>
          <a:prstGeom prst="rect">
            <a:avLst/>
          </a:prstGeom>
          <a:noFill/>
        </p:spPr>
        <p:txBody>
          <a:bodyPr wrap="square">
            <a:spAutoFit/>
          </a:bodyPr>
          <a:lstStyle/>
          <a:p>
            <a:pPr algn="l">
              <a:lnSpc>
                <a:spcPct val="115000"/>
              </a:lnSpc>
            </a:pPr>
            <a:r>
              <a:rPr sz="1300">
                <a:solidFill>
                  <a:srgbClr val="333333"/>
                </a:solidFill>
                <a:latin typeface="Calibri"/>
              </a:rPr>
              <a:t>• Read raw articles (collector's job)</a:t>
            </a:r>
          </a:p>
          <a:p>
            <a:pPr algn="l">
              <a:lnSpc>
                <a:spcPct val="115000"/>
              </a:lnSpc>
              <a:spcBef>
                <a:spcPts val="600"/>
              </a:spcBef>
            </a:pPr>
            <a:r>
              <a:rPr sz="1300">
                <a:solidFill>
                  <a:srgbClr val="333333"/>
                </a:solidFill>
                <a:latin typeface="Calibri"/>
              </a:rPr>
              <a:t>• Grade findings (grader's job)</a:t>
            </a:r>
          </a:p>
          <a:p>
            <a:pPr algn="l">
              <a:lnSpc>
                <a:spcPct val="115000"/>
              </a:lnSpc>
              <a:spcBef>
                <a:spcPts val="600"/>
              </a:spcBef>
            </a:pPr>
            <a:r>
              <a:rPr sz="1300">
                <a:solidFill>
                  <a:srgbClr val="333333"/>
                </a:solidFill>
                <a:latin typeface="Calibri"/>
              </a:rPr>
              <a:t>• Compose brief content (briefer's job)</a:t>
            </a:r>
          </a:p>
          <a:p>
            <a:pPr algn="l">
              <a:lnSpc>
                <a:spcPct val="115000"/>
              </a:lnSpc>
              <a:spcBef>
                <a:spcPts val="600"/>
              </a:spcBef>
            </a:pPr>
            <a:r>
              <a:rPr sz="1300">
                <a:solidFill>
                  <a:srgbClr val="333333"/>
                </a:solidFill>
                <a:latin typeface="Calibri"/>
              </a:rPr>
              <a:t>• Write to git, Splunk, or Discord (librarian's job)</a:t>
            </a:r>
          </a:p>
          <a:p>
            <a:pPr algn="l">
              <a:lnSpc>
                <a:spcPct val="115000"/>
              </a:lnSpc>
              <a:spcBef>
                <a:spcPts val="600"/>
              </a:spcBef>
            </a:pPr>
            <a:r>
              <a:rPr sz="1300">
                <a:solidFill>
                  <a:srgbClr val="333333"/>
                </a:solidFill>
                <a:latin typeface="Calibri"/>
              </a:rPr>
              <a:t>• Make attribution claims (no one's job — Hard Rule 2)</a:t>
            </a:r>
          </a:p>
          <a:p>
            <a:pPr algn="l">
              <a:lnSpc>
                <a:spcPct val="115000"/>
              </a:lnSpc>
              <a:spcBef>
                <a:spcPts val="600"/>
              </a:spcBef>
            </a:pPr>
            <a:r>
              <a:rPr sz="1300">
                <a:solidFill>
                  <a:srgbClr val="333333"/>
                </a:solidFill>
                <a:latin typeface="Calibri"/>
              </a:rPr>
              <a:t>• Approve HIGH scoring (operator's job — Hard Rule 5)</a:t>
            </a:r>
          </a:p>
          <a:p>
            <a:pPr algn="l">
              <a:lnSpc>
                <a:spcPct val="115000"/>
              </a:lnSpc>
              <a:spcBef>
                <a:spcPts val="600"/>
              </a:spcBef>
            </a:pPr>
            <a:r>
              <a:rPr sz="1300">
                <a:solidFill>
                  <a:srgbClr val="333333"/>
                </a:solidFill>
                <a:latin typeface="Calibri"/>
              </a:rPr>
              <a:t>• Read .env or anything credential-bearing</a:t>
            </a:r>
          </a:p>
        </p:txBody>
      </p:sp>
      <p:sp>
        <p:nvSpPr>
          <p:cNvPr id="9" name="TextBox 8"/>
          <p:cNvSpPr txBox="1"/>
          <p:nvPr/>
        </p:nvSpPr>
        <p:spPr>
          <a:xfrm>
            <a:off x="457200" y="6446520"/>
            <a:ext cx="11274552" cy="274320"/>
          </a:xfrm>
          <a:prstGeom prst="rect">
            <a:avLst/>
          </a:prstGeom>
          <a:noFill/>
        </p:spPr>
        <p:txBody>
          <a:bodyPr wrap="none">
            <a:spAutoFit/>
          </a:bodyPr>
          <a:lstStyle/>
          <a:p>
            <a:pPr algn="l"/>
            <a:r>
              <a:rPr sz="800" i="1">
                <a:solidFill>
                  <a:srgbClr val="666666"/>
                </a:solidFill>
                <a:latin typeface="Calibri"/>
              </a:rPr>
              <a:t>Archimedes · Architecture Walkthrough</a:t>
            </a:r>
          </a:p>
        </p:txBody>
      </p:sp>
      <p:sp>
        <p:nvSpPr>
          <p:cNvPr id="10" name="TextBox 9"/>
          <p:cNvSpPr txBox="1"/>
          <p:nvPr/>
        </p:nvSpPr>
        <p:spPr>
          <a:xfrm>
            <a:off x="10515600" y="6446520"/>
            <a:ext cx="1188720" cy="274320"/>
          </a:xfrm>
          <a:prstGeom prst="rect">
            <a:avLst/>
          </a:prstGeom>
          <a:noFill/>
        </p:spPr>
        <p:txBody>
          <a:bodyPr wrap="none">
            <a:spAutoFit/>
          </a:bodyPr>
          <a:lstStyle/>
          <a:p>
            <a:pPr algn="r"/>
            <a:r>
              <a:rPr sz="800">
                <a:solidFill>
                  <a:srgbClr val="666666"/>
                </a:solidFill>
                <a:latin typeface="Calibri"/>
              </a:rPr>
              <a:t>14 / 32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28600"/>
          </a:xfrm>
          <a:prstGeom prst="rect">
            <a:avLst/>
          </a:prstGeom>
          <a:solidFill>
            <a:srgbClr val="4A90E2"/>
          </a:solidFill>
          <a:ln>
            <a:noFill/>
          </a:ln>
        </p:spPr>
        <p:style>
          <a:lnRef idx="1">
            <a:schemeClr val="accent1"/>
          </a:lnRef>
          <a:fillRef idx="3">
            <a:schemeClr val="accent1"/>
          </a:fillRef>
          <a:effectRef idx="2">
            <a:schemeClr val="accent1"/>
          </a:effectRef>
          <a:fontRef idx="minor">
            <a:schemeClr val="lt1"/>
          </a:fontRef>
        </p:style>
        <p:txBody>
          <a:bodyPr rtlCol="0" anchor="ctr" tIns="18288" lIns="457200"/>
          <a:lstStyle/>
          <a:p>
            <a:pPr algn="ctr"/>
            <a:r>
              <a:rPr sz="1000" b="1">
                <a:solidFill>
                  <a:srgbClr val="FFFFFF"/>
                </a:solidFill>
                <a:latin typeface="Calibri"/>
              </a:rPr>
              <a:t>§3  ·  MCPs + tool integration</a:t>
            </a:r>
          </a:p>
        </p:txBody>
      </p:sp>
      <p:sp>
        <p:nvSpPr>
          <p:cNvPr id="3" name="TextBox 2"/>
          <p:cNvSpPr txBox="1"/>
          <p:nvPr/>
        </p:nvSpPr>
        <p:spPr>
          <a:xfrm>
            <a:off x="457200" y="274320"/>
            <a:ext cx="11274552" cy="640080"/>
          </a:xfrm>
          <a:prstGeom prst="rect">
            <a:avLst/>
          </a:prstGeom>
          <a:noFill/>
        </p:spPr>
        <p:txBody>
          <a:bodyPr wrap="square">
            <a:spAutoFit/>
          </a:bodyPr>
          <a:lstStyle/>
          <a:p>
            <a:pPr algn="l"/>
            <a:r>
              <a:rPr sz="2800" b="1">
                <a:solidFill>
                  <a:srgbClr val="1F3A5F"/>
                </a:solidFill>
                <a:latin typeface="Calibri"/>
              </a:rPr>
              <a:t>MCP architecture</a:t>
            </a:r>
          </a:p>
        </p:txBody>
      </p:sp>
      <p:sp>
        <p:nvSpPr>
          <p:cNvPr id="4" name="TextBox 3"/>
          <p:cNvSpPr txBox="1"/>
          <p:nvPr/>
        </p:nvSpPr>
        <p:spPr>
          <a:xfrm>
            <a:off x="457200" y="914400"/>
            <a:ext cx="11274552" cy="365760"/>
          </a:xfrm>
          <a:prstGeom prst="rect">
            <a:avLst/>
          </a:prstGeom>
          <a:noFill/>
        </p:spPr>
        <p:txBody>
          <a:bodyPr wrap="square">
            <a:spAutoFit/>
          </a:bodyPr>
          <a:lstStyle/>
          <a:p>
            <a:r>
              <a:rPr sz="1300" i="1">
                <a:solidFill>
                  <a:srgbClr val="666666"/>
                </a:solidFill>
                <a:latin typeface="Calibri"/>
              </a:rPr>
              <a:t>Model Context Protocol — stdio + JSON-RPC between Claude Code and tool servers.</a:t>
            </a:r>
          </a:p>
        </p:txBody>
      </p:sp>
      <p:sp>
        <p:nvSpPr>
          <p:cNvPr id="5" name="TextBox 4"/>
          <p:cNvSpPr txBox="1"/>
          <p:nvPr/>
        </p:nvSpPr>
        <p:spPr>
          <a:xfrm>
            <a:off x="457200" y="1463040"/>
            <a:ext cx="11274552" cy="4754880"/>
          </a:xfrm>
          <a:prstGeom prst="rect">
            <a:avLst/>
          </a:prstGeom>
          <a:noFill/>
        </p:spPr>
        <p:txBody>
          <a:bodyPr wrap="square">
            <a:spAutoFit/>
          </a:bodyPr>
          <a:lstStyle/>
          <a:p>
            <a:pPr algn="l">
              <a:lnSpc>
                <a:spcPct val="115000"/>
              </a:lnSpc>
            </a:pPr>
            <a:r>
              <a:rPr sz="1300" b="1">
                <a:solidFill>
                  <a:srgbClr val="333333"/>
                </a:solidFill>
                <a:latin typeface="Calibri"/>
              </a:rPr>
              <a:t>• MCP = Model Context Protocol</a:t>
            </a:r>
          </a:p>
          <a:p>
            <a:pPr algn="l">
              <a:lnSpc>
                <a:spcPct val="115000"/>
              </a:lnSpc>
            </a:pPr>
            <a:r>
              <a:rPr sz="1100" i="1">
                <a:solidFill>
                  <a:srgbClr val="666666"/>
                </a:solidFill>
                <a:latin typeface="Calibri"/>
              </a:rPr>
              <a:t>   Open spec from Anthropic. Defines stdio+JSON-RPC contract between an LLM runtime (Claude Code) and a tool server. Tools are discovered at runtime via `tools/list`; called via `tools/call`.</a:t>
            </a:r>
          </a:p>
          <a:p>
            <a:pPr algn="l">
              <a:lnSpc>
                <a:spcPct val="115000"/>
              </a:lnSpc>
              <a:spcBef>
                <a:spcPts val="600"/>
              </a:spcBef>
            </a:pPr>
            <a:r>
              <a:rPr sz="1300" b="1">
                <a:solidFill>
                  <a:srgbClr val="333333"/>
                </a:solidFill>
                <a:latin typeface="Calibri"/>
              </a:rPr>
              <a:t>• Each MCP is its own process</a:t>
            </a:r>
          </a:p>
          <a:p>
            <a:pPr algn="l">
              <a:lnSpc>
                <a:spcPct val="115000"/>
              </a:lnSpc>
            </a:pPr>
            <a:r>
              <a:rPr sz="1100" i="1">
                <a:solidFill>
                  <a:srgbClr val="666666"/>
                </a:solidFill>
                <a:latin typeface="Calibri"/>
              </a:rPr>
              <a:t>   Claude Code spawns the MCP server as a subprocess on session start. .mcp.json declares 'this server is named X, run command Y in directory Z.' Server lives as long as the Claude Code session.</a:t>
            </a:r>
          </a:p>
          <a:p>
            <a:pPr algn="l">
              <a:lnSpc>
                <a:spcPct val="115000"/>
              </a:lnSpc>
              <a:spcBef>
                <a:spcPts val="600"/>
              </a:spcBef>
            </a:pPr>
            <a:r>
              <a:rPr sz="1300" b="1">
                <a:solidFill>
                  <a:srgbClr val="333333"/>
                </a:solidFill>
                <a:latin typeface="Calibri"/>
              </a:rPr>
              <a:t>• FastMCP — our framework choice</a:t>
            </a:r>
          </a:p>
          <a:p>
            <a:pPr algn="l">
              <a:lnSpc>
                <a:spcPct val="115000"/>
              </a:lnSpc>
            </a:pPr>
            <a:r>
              <a:rPr sz="1100" i="1">
                <a:solidFill>
                  <a:srgbClr val="666666"/>
                </a:solidFill>
                <a:latin typeface="Calibri"/>
              </a:rPr>
              <a:t>   Python wrapper around the MCP spec. Decorator-style tool definition. Handles protocol plumbing; we write the tool functions.</a:t>
            </a:r>
          </a:p>
          <a:p>
            <a:pPr algn="l">
              <a:lnSpc>
                <a:spcPct val="115000"/>
              </a:lnSpc>
              <a:spcBef>
                <a:spcPts val="600"/>
              </a:spcBef>
            </a:pPr>
            <a:r>
              <a:rPr sz="1300" b="1">
                <a:solidFill>
                  <a:srgbClr val="333333"/>
                </a:solidFill>
                <a:latin typeface="Calibri"/>
              </a:rPr>
              <a:t>• Per-MCP isolated venv</a:t>
            </a:r>
          </a:p>
          <a:p>
            <a:pPr algn="l">
              <a:lnSpc>
                <a:spcPct val="115000"/>
              </a:lnSpc>
            </a:pPr>
            <a:r>
              <a:rPr sz="1100" i="1">
                <a:solidFill>
                  <a:srgbClr val="666666"/>
                </a:solidFill>
                <a:latin typeface="Calibri"/>
              </a:rPr>
              <a:t>   uv workspace member per MCP. Each has its own pyproject.toml + dependencies + tests. Why: dependency conflicts between MCPs (e.g. SpiderFoot wants CherryPy 18; theHarvester wants dnspython 2.3) — isolation prevents them.</a:t>
            </a:r>
          </a:p>
          <a:p>
            <a:pPr algn="l">
              <a:lnSpc>
                <a:spcPct val="115000"/>
              </a:lnSpc>
              <a:spcBef>
                <a:spcPts val="600"/>
              </a:spcBef>
            </a:pPr>
            <a:r>
              <a:rPr sz="1300" b="1">
                <a:solidFill>
                  <a:srgbClr val="333333"/>
                </a:solidFill>
                <a:latin typeface="Calibri"/>
              </a:rPr>
              <a:t>• Tools surface as mcp__&lt;server&gt;__&lt;tool&gt;</a:t>
            </a:r>
          </a:p>
          <a:p>
            <a:pPr algn="l">
              <a:lnSpc>
                <a:spcPct val="115000"/>
              </a:lnSpc>
            </a:pPr>
            <a:r>
              <a:rPr sz="1100" i="1">
                <a:solidFill>
                  <a:srgbClr val="666666"/>
                </a:solidFill>
                <a:latin typeface="Calibri"/>
              </a:rPr>
              <a:t>   From the agent's perspective: mcp__shodan__lookup_host, mcp__virustotal__lookup_file, mcp__theharvester__enumerate, mcp__spiderfoot__passive_scan. Namespace per server.</a:t>
            </a:r>
          </a:p>
        </p:txBody>
      </p:sp>
      <p:sp>
        <p:nvSpPr>
          <p:cNvPr id="6" name="TextBox 5"/>
          <p:cNvSpPr txBox="1"/>
          <p:nvPr/>
        </p:nvSpPr>
        <p:spPr>
          <a:xfrm>
            <a:off x="457200" y="6446520"/>
            <a:ext cx="11274552" cy="274320"/>
          </a:xfrm>
          <a:prstGeom prst="rect">
            <a:avLst/>
          </a:prstGeom>
          <a:noFill/>
        </p:spPr>
        <p:txBody>
          <a:bodyPr wrap="none">
            <a:spAutoFit/>
          </a:bodyPr>
          <a:lstStyle/>
          <a:p>
            <a:pPr algn="l"/>
            <a:r>
              <a:rPr sz="800" i="1">
                <a:solidFill>
                  <a:srgbClr val="666666"/>
                </a:solidFill>
                <a:latin typeface="Calibri"/>
              </a:rPr>
              <a:t>Archimedes · Architecture Walkthrough</a:t>
            </a:r>
          </a:p>
        </p:txBody>
      </p:sp>
      <p:sp>
        <p:nvSpPr>
          <p:cNvPr id="7" name="TextBox 6"/>
          <p:cNvSpPr txBox="1"/>
          <p:nvPr/>
        </p:nvSpPr>
        <p:spPr>
          <a:xfrm>
            <a:off x="10515600" y="6446520"/>
            <a:ext cx="1188720" cy="274320"/>
          </a:xfrm>
          <a:prstGeom prst="rect">
            <a:avLst/>
          </a:prstGeom>
          <a:noFill/>
        </p:spPr>
        <p:txBody>
          <a:bodyPr wrap="none">
            <a:spAutoFit/>
          </a:bodyPr>
          <a:lstStyle/>
          <a:p>
            <a:pPr algn="r"/>
            <a:r>
              <a:rPr sz="800">
                <a:solidFill>
                  <a:srgbClr val="666666"/>
                </a:solidFill>
                <a:latin typeface="Calibri"/>
              </a:rPr>
              <a:t>15 / 32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28600"/>
          </a:xfrm>
          <a:prstGeom prst="rect">
            <a:avLst/>
          </a:prstGeom>
          <a:solidFill>
            <a:srgbClr val="4A90E2"/>
          </a:solidFill>
          <a:ln>
            <a:noFill/>
          </a:ln>
        </p:spPr>
        <p:style>
          <a:lnRef idx="1">
            <a:schemeClr val="accent1"/>
          </a:lnRef>
          <a:fillRef idx="3">
            <a:schemeClr val="accent1"/>
          </a:fillRef>
          <a:effectRef idx="2">
            <a:schemeClr val="accent1"/>
          </a:effectRef>
          <a:fontRef idx="minor">
            <a:schemeClr val="lt1"/>
          </a:fontRef>
        </p:style>
        <p:txBody>
          <a:bodyPr rtlCol="0" anchor="ctr" tIns="18288" lIns="457200"/>
          <a:lstStyle/>
          <a:p>
            <a:pPr algn="ctr"/>
            <a:r>
              <a:rPr sz="1000" b="1">
                <a:solidFill>
                  <a:srgbClr val="FFFFFF"/>
                </a:solidFill>
                <a:latin typeface="Calibri"/>
              </a:rPr>
              <a:t>§3  ·  MCPs + tool integration</a:t>
            </a:r>
          </a:p>
        </p:txBody>
      </p:sp>
      <p:sp>
        <p:nvSpPr>
          <p:cNvPr id="3" name="TextBox 2"/>
          <p:cNvSpPr txBox="1"/>
          <p:nvPr/>
        </p:nvSpPr>
        <p:spPr>
          <a:xfrm>
            <a:off x="457200" y="274320"/>
            <a:ext cx="11274552" cy="640080"/>
          </a:xfrm>
          <a:prstGeom prst="rect">
            <a:avLst/>
          </a:prstGeom>
          <a:noFill/>
        </p:spPr>
        <p:txBody>
          <a:bodyPr wrap="square">
            <a:spAutoFit/>
          </a:bodyPr>
          <a:lstStyle/>
          <a:p>
            <a:pPr algn="l"/>
            <a:r>
              <a:rPr sz="2800" b="1">
                <a:solidFill>
                  <a:srgbClr val="1F3A5F"/>
                </a:solidFill>
                <a:latin typeface="Calibri"/>
              </a:rPr>
              <a:t>Anatomy of an MCP wrapper</a:t>
            </a:r>
          </a:p>
        </p:txBody>
      </p:sp>
      <p:sp>
        <p:nvSpPr>
          <p:cNvPr id="4" name="TextBox 3"/>
          <p:cNvSpPr txBox="1"/>
          <p:nvPr/>
        </p:nvSpPr>
        <p:spPr>
          <a:xfrm>
            <a:off x="457200" y="914400"/>
            <a:ext cx="11274552" cy="365760"/>
          </a:xfrm>
          <a:prstGeom prst="rect">
            <a:avLst/>
          </a:prstGeom>
          <a:noFill/>
        </p:spPr>
        <p:txBody>
          <a:bodyPr wrap="square">
            <a:spAutoFit/>
          </a:bodyPr>
          <a:lstStyle/>
          <a:p>
            <a:r>
              <a:rPr sz="1300" i="1">
                <a:solidFill>
                  <a:srgbClr val="666666"/>
                </a:solidFill>
                <a:latin typeface="Calibri"/>
              </a:rPr>
              <a:t>Real directory structure — mcps/spiderfoot/</a:t>
            </a:r>
          </a:p>
        </p:txBody>
      </p:sp>
      <p:sp>
        <p:nvSpPr>
          <p:cNvPr id="5" name="Rectangle 4"/>
          <p:cNvSpPr/>
          <p:nvPr/>
        </p:nvSpPr>
        <p:spPr>
          <a:xfrm>
            <a:off x="457200" y="1417320"/>
            <a:ext cx="11274552" cy="49377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508760"/>
            <a:ext cx="11000232" cy="4754880"/>
          </a:xfrm>
          <a:prstGeom prst="rect">
            <a:avLst/>
          </a:prstGeom>
          <a:noFill/>
        </p:spPr>
        <p:txBody>
          <a:bodyPr wrap="square">
            <a:spAutoFit/>
          </a:bodyPr>
          <a:lstStyle/>
          <a:p>
            <a:pPr algn="l"/>
            <a:r>
              <a:rPr sz="1000">
                <a:solidFill>
                  <a:srgbClr val="333333"/>
                </a:solidFill>
                <a:latin typeface="Consolas"/>
              </a:rPr>
              <a:t>mcps/spiderfoot/</a:t>
            </a:r>
          </a:p>
          <a:p>
            <a:pPr algn="l"/>
            <a:r>
              <a:rPr sz="1000">
                <a:solidFill>
                  <a:srgbClr val="333333"/>
                </a:solidFill>
                <a:latin typeface="Consolas"/>
              </a:rPr>
              <a:t>├── pyproject.toml                  # spiderfoot-mcp; httpx + mcp[cli] + pydantic</a:t>
            </a:r>
          </a:p>
          <a:p>
            <a:pPr algn="l"/>
            <a:r>
              <a:rPr sz="1000">
                <a:solidFill>
                  <a:srgbClr val="333333"/>
                </a:solidFill>
                <a:latin typeface="Consolas"/>
              </a:rPr>
              <a:t>├── README.md                       # public-facing doc — what tools, what auth</a:t>
            </a:r>
          </a:p>
          <a:p>
            <a:pPr algn="l"/>
            <a:r>
              <a:rPr sz="1000">
                <a:solidFill>
                  <a:srgbClr val="333333"/>
                </a:solidFill>
                <a:latin typeface="Consolas"/>
              </a:rPr>
              <a:t>└── src/spiderfoot_mcp/</a:t>
            </a:r>
          </a:p>
          <a:p>
            <a:pPr algn="l"/>
            <a:r>
              <a:rPr sz="1000">
                <a:solidFill>
                  <a:srgbClr val="333333"/>
                </a:solidFill>
                <a:latin typeface="Consolas"/>
              </a:rPr>
              <a:t>    ├── __init__.py                 # version + main() entry point</a:t>
            </a:r>
          </a:p>
          <a:p>
            <a:pPr algn="l"/>
            <a:r>
              <a:rPr sz="1000">
                <a:solidFill>
                  <a:srgbClr val="333333"/>
                </a:solidFill>
                <a:latin typeface="Consolas"/>
              </a:rPr>
              <a:t>    ├── config.py                   # pydantic-settings; reads .env</a:t>
            </a:r>
          </a:p>
          <a:p>
            <a:pPr algn="l"/>
            <a:r>
              <a:rPr sz="1000">
                <a:solidFill>
                  <a:srgbClr val="333333"/>
                </a:solidFill>
                <a:latin typeface="Consolas"/>
              </a:rPr>
              <a:t>    │                               # SPIDERFOOT_URL, _USERNAME, _PASSWORD,</a:t>
            </a:r>
          </a:p>
          <a:p>
            <a:pPr algn="l"/>
            <a:r>
              <a:rPr sz="1000">
                <a:solidFill>
                  <a:srgbClr val="333333"/>
                </a:solidFill>
                <a:latin typeface="Consolas"/>
              </a:rPr>
              <a:t>    │                               # _SCAN_TIMEOUT_SECONDS, _POLL_INTERVAL_SECONDS</a:t>
            </a:r>
          </a:p>
          <a:p>
            <a:pPr algn="l"/>
            <a:r>
              <a:rPr sz="1000">
                <a:solidFill>
                  <a:srgbClr val="333333"/>
                </a:solidFill>
                <a:latin typeface="Consolas"/>
              </a:rPr>
              <a:t>    ├── exceptions.py               # SpiderFootError + 6 subclasses</a:t>
            </a:r>
          </a:p>
          <a:p>
            <a:pPr algn="l"/>
            <a:r>
              <a:rPr sz="1000">
                <a:solidFill>
                  <a:srgbClr val="333333"/>
                </a:solidFill>
                <a:latin typeface="Consolas"/>
              </a:rPr>
              <a:t>    │                               # SpiderFootConnectionError, AuthError,</a:t>
            </a:r>
          </a:p>
          <a:p>
            <a:pPr algn="l"/>
            <a:r>
              <a:rPr sz="1000">
                <a:solidFill>
                  <a:srgbClr val="333333"/>
                </a:solidFill>
                <a:latin typeface="Consolas"/>
              </a:rPr>
              <a:t>    │                               # RequestError, PolicyError, ScanError,</a:t>
            </a:r>
          </a:p>
          <a:p>
            <a:pPr algn="l"/>
            <a:r>
              <a:rPr sz="1000">
                <a:solidFill>
                  <a:srgbClr val="333333"/>
                </a:solidFill>
                <a:latin typeface="Consolas"/>
              </a:rPr>
              <a:t>    │                               # TimeoutError(scan_id)</a:t>
            </a:r>
          </a:p>
          <a:p>
            <a:pPr algn="l"/>
            <a:r>
              <a:rPr sz="1000">
                <a:solidFill>
                  <a:srgbClr val="333333"/>
                </a:solidFill>
                <a:latin typeface="Consolas"/>
              </a:rPr>
              <a:t>    ├── models.py                   # pydantic models + PASSIVE_MODULE_ALLOWLIST</a:t>
            </a:r>
          </a:p>
          <a:p>
            <a:pPr algn="l"/>
            <a:r>
              <a:rPr sz="1000">
                <a:solidFill>
                  <a:srgbClr val="333333"/>
                </a:solidFill>
                <a:latin typeface="Consolas"/>
              </a:rPr>
              <a:t>    │                               # the load-bearing safety primitive</a:t>
            </a:r>
          </a:p>
          <a:p>
            <a:pPr algn="l"/>
            <a:r>
              <a:rPr sz="1000">
                <a:solidFill>
                  <a:srgbClr val="333333"/>
                </a:solidFill>
                <a:latin typeface="Consolas"/>
              </a:rPr>
              <a:t>    ├── policy.py                   # validate_modules() — refuse non-passive</a:t>
            </a:r>
          </a:p>
          <a:p>
            <a:pPr algn="l"/>
            <a:r>
              <a:rPr sz="1000">
                <a:solidFill>
                  <a:srgbClr val="333333"/>
                </a:solidFill>
                <a:latin typeface="Consolas"/>
              </a:rPr>
              <a:t>    │                               # before any HTTP call</a:t>
            </a:r>
          </a:p>
          <a:p>
            <a:pPr algn="l"/>
            <a:r>
              <a:rPr sz="1000">
                <a:solidFill>
                  <a:srgbClr val="333333"/>
                </a:solidFill>
                <a:latin typeface="Consolas"/>
              </a:rPr>
              <a:t>    ├── spiderfoot_client.py        # synchronous httpx client</a:t>
            </a:r>
          </a:p>
          <a:p>
            <a:pPr algn="l"/>
            <a:r>
              <a:rPr sz="1000">
                <a:solidFill>
                  <a:srgbClr val="333333"/>
                </a:solidFill>
                <a:latin typeface="Consolas"/>
              </a:rPr>
              <a:t>    │                               # start_scan, get_scan_status, export_results,</a:t>
            </a:r>
          </a:p>
          <a:p>
            <a:pPr algn="l"/>
            <a:r>
              <a:rPr sz="1000">
                <a:solidFill>
                  <a:srgbClr val="333333"/>
                </a:solidFill>
                <a:latin typeface="Consolas"/>
              </a:rPr>
              <a:t>    │                               # run_passive_scan (orchestrates poll loop)</a:t>
            </a:r>
          </a:p>
          <a:p>
            <a:pPr algn="l"/>
            <a:r>
              <a:rPr sz="1000">
                <a:solidFill>
                  <a:srgbClr val="333333"/>
                </a:solidFill>
                <a:latin typeface="Consolas"/>
              </a:rPr>
              <a:t>    └── server.py                   # @mcp.tool() decorated entry points</a:t>
            </a:r>
          </a:p>
          <a:p>
            <a:pPr algn="l"/>
            <a:r>
              <a:rPr sz="1000">
                <a:solidFill>
                  <a:srgbClr val="333333"/>
                </a:solidFill>
                <a:latin typeface="Consolas"/>
              </a:rPr>
              <a:t>                                    # passive_scan, list_modules, health</a:t>
            </a:r>
          </a:p>
          <a:p>
            <a:pPr algn="l"/>
            <a:r>
              <a:rPr sz="1000">
                <a:solidFill>
                  <a:srgbClr val="333333"/>
                </a:solidFill>
                <a:latin typeface="Consolas"/>
              </a:rPr>
              <a:t> </a:t>
            </a:r>
          </a:p>
          <a:p>
            <a:pPr algn="l"/>
            <a:r>
              <a:rPr sz="1000">
                <a:solidFill>
                  <a:srgbClr val="333333"/>
                </a:solidFill>
                <a:latin typeface="Consolas"/>
              </a:rPr>
              <a:t>tests/</a:t>
            </a:r>
          </a:p>
          <a:p>
            <a:pPr algn="l"/>
            <a:r>
              <a:rPr sz="1000">
                <a:solidFill>
                  <a:srgbClr val="333333"/>
                </a:solidFill>
                <a:latin typeface="Consolas"/>
              </a:rPr>
              <a:t>├── test_config.py                  # config-loader unit tests</a:t>
            </a:r>
          </a:p>
          <a:p>
            <a:pPr algn="l"/>
            <a:r>
              <a:rPr sz="1000">
                <a:solidFill>
                  <a:srgbClr val="333333"/>
                </a:solidFill>
                <a:latin typeface="Consolas"/>
              </a:rPr>
              <a:t>├── test_policy.py                  # allowlist enforcement — 14 cases</a:t>
            </a:r>
          </a:p>
          <a:p>
            <a:pPr algn="l"/>
            <a:r>
              <a:rPr sz="1000">
                <a:solidFill>
                  <a:srgbClr val="333333"/>
                </a:solidFill>
                <a:latin typeface="Consolas"/>
              </a:rPr>
              <a:t>└── test_client.py                  # respx-mocked HTTP behavior — 23 cases</a:t>
            </a:r>
          </a:p>
        </p:txBody>
      </p:sp>
      <p:sp>
        <p:nvSpPr>
          <p:cNvPr id="7" name="TextBox 6"/>
          <p:cNvSpPr txBox="1"/>
          <p:nvPr/>
        </p:nvSpPr>
        <p:spPr>
          <a:xfrm>
            <a:off x="457200" y="6446520"/>
            <a:ext cx="11274552" cy="274320"/>
          </a:xfrm>
          <a:prstGeom prst="rect">
            <a:avLst/>
          </a:prstGeom>
          <a:noFill/>
        </p:spPr>
        <p:txBody>
          <a:bodyPr wrap="none">
            <a:spAutoFit/>
          </a:bodyPr>
          <a:lstStyle/>
          <a:p>
            <a:pPr algn="l"/>
            <a:r>
              <a:rPr sz="800" i="1">
                <a:solidFill>
                  <a:srgbClr val="666666"/>
                </a:solidFill>
                <a:latin typeface="Calibri"/>
              </a:rPr>
              <a:t>Archimedes · Architecture Walkthrough</a:t>
            </a:r>
          </a:p>
        </p:txBody>
      </p:sp>
      <p:sp>
        <p:nvSpPr>
          <p:cNvPr id="8" name="TextBox 7"/>
          <p:cNvSpPr txBox="1"/>
          <p:nvPr/>
        </p:nvSpPr>
        <p:spPr>
          <a:xfrm>
            <a:off x="10515600" y="6446520"/>
            <a:ext cx="1188720" cy="274320"/>
          </a:xfrm>
          <a:prstGeom prst="rect">
            <a:avLst/>
          </a:prstGeom>
          <a:noFill/>
        </p:spPr>
        <p:txBody>
          <a:bodyPr wrap="none">
            <a:spAutoFit/>
          </a:bodyPr>
          <a:lstStyle/>
          <a:p>
            <a:pPr algn="r"/>
            <a:r>
              <a:rPr sz="800">
                <a:solidFill>
                  <a:srgbClr val="666666"/>
                </a:solidFill>
                <a:latin typeface="Calibri"/>
              </a:rPr>
              <a:t>16 / 32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28600"/>
          </a:xfrm>
          <a:prstGeom prst="rect">
            <a:avLst/>
          </a:prstGeom>
          <a:solidFill>
            <a:srgbClr val="4A90E2"/>
          </a:solidFill>
          <a:ln>
            <a:noFill/>
          </a:ln>
        </p:spPr>
        <p:style>
          <a:lnRef idx="1">
            <a:schemeClr val="accent1"/>
          </a:lnRef>
          <a:fillRef idx="3">
            <a:schemeClr val="accent1"/>
          </a:fillRef>
          <a:effectRef idx="2">
            <a:schemeClr val="accent1"/>
          </a:effectRef>
          <a:fontRef idx="minor">
            <a:schemeClr val="lt1"/>
          </a:fontRef>
        </p:style>
        <p:txBody>
          <a:bodyPr rtlCol="0" anchor="ctr" tIns="18288" lIns="457200"/>
          <a:lstStyle/>
          <a:p>
            <a:pPr algn="ctr"/>
            <a:r>
              <a:rPr sz="1000" b="1">
                <a:solidFill>
                  <a:srgbClr val="FFFFFF"/>
                </a:solidFill>
                <a:latin typeface="Calibri"/>
              </a:rPr>
              <a:t>§3  ·  MCPs + tool integration</a:t>
            </a:r>
          </a:p>
        </p:txBody>
      </p:sp>
      <p:sp>
        <p:nvSpPr>
          <p:cNvPr id="3" name="TextBox 2"/>
          <p:cNvSpPr txBox="1"/>
          <p:nvPr/>
        </p:nvSpPr>
        <p:spPr>
          <a:xfrm>
            <a:off x="457200" y="274320"/>
            <a:ext cx="11274552" cy="640080"/>
          </a:xfrm>
          <a:prstGeom prst="rect">
            <a:avLst/>
          </a:prstGeom>
          <a:noFill/>
        </p:spPr>
        <p:txBody>
          <a:bodyPr wrap="square">
            <a:spAutoFit/>
          </a:bodyPr>
          <a:lstStyle/>
          <a:p>
            <a:pPr algn="l"/>
            <a:r>
              <a:rPr sz="2800" b="1">
                <a:solidFill>
                  <a:srgbClr val="1F3A5F"/>
                </a:solidFill>
                <a:latin typeface="Calibri"/>
              </a:rPr>
              <a:t>The load-bearing safety primitive — policy.py</a:t>
            </a:r>
          </a:p>
        </p:txBody>
      </p:sp>
      <p:sp>
        <p:nvSpPr>
          <p:cNvPr id="4" name="TextBox 3"/>
          <p:cNvSpPr txBox="1"/>
          <p:nvPr/>
        </p:nvSpPr>
        <p:spPr>
          <a:xfrm>
            <a:off x="457200" y="914400"/>
            <a:ext cx="11274552" cy="365760"/>
          </a:xfrm>
          <a:prstGeom prst="rect">
            <a:avLst/>
          </a:prstGeom>
          <a:noFill/>
        </p:spPr>
        <p:txBody>
          <a:bodyPr wrap="square">
            <a:spAutoFit/>
          </a:bodyPr>
          <a:lstStyle/>
          <a:p>
            <a:r>
              <a:rPr sz="1300" i="1">
                <a:solidFill>
                  <a:srgbClr val="666666"/>
                </a:solidFill>
                <a:latin typeface="Calibri"/>
              </a:rPr>
              <a:t>Real code from mcps/spiderfoot/src/spiderfoot_mcp/ — Hard Rule 4 enforced before any HTTP call.</a:t>
            </a:r>
          </a:p>
        </p:txBody>
      </p:sp>
      <p:sp>
        <p:nvSpPr>
          <p:cNvPr id="5" name="Rectangle 4"/>
          <p:cNvSpPr/>
          <p:nvPr/>
        </p:nvSpPr>
        <p:spPr>
          <a:xfrm>
            <a:off x="457200" y="1417320"/>
            <a:ext cx="11274552" cy="5029200"/>
          </a:xfrm>
          <a:prstGeom prst="rect">
            <a:avLst/>
          </a:prstGeom>
          <a:solidFill>
            <a:srgbClr val="2D3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508760"/>
            <a:ext cx="11000232" cy="4846320"/>
          </a:xfrm>
          <a:prstGeom prst="rect">
            <a:avLst/>
          </a:prstGeom>
          <a:noFill/>
        </p:spPr>
        <p:txBody>
          <a:bodyPr wrap="square">
            <a:spAutoFit/>
          </a:bodyPr>
          <a:lstStyle/>
          <a:p>
            <a:pPr algn="l"/>
            <a:r>
              <a:rPr sz="1000">
                <a:solidFill>
                  <a:srgbClr val="E6E6E6"/>
                </a:solidFill>
                <a:latin typeface="Consolas"/>
              </a:rPr>
              <a:t># models.py — the allowlist + prohibited list (data)</a:t>
            </a:r>
          </a:p>
          <a:p>
            <a:pPr algn="l"/>
            <a:r>
              <a:rPr sz="1000">
                <a:solidFill>
                  <a:srgbClr val="E6E6E6"/>
                </a:solidFill>
                <a:latin typeface="Consolas"/>
              </a:rPr>
              <a:t> </a:t>
            </a:r>
          </a:p>
          <a:p>
            <a:pPr algn="l"/>
            <a:r>
              <a:rPr sz="1000">
                <a:solidFill>
                  <a:srgbClr val="E6E6E6"/>
                </a:solidFill>
                <a:latin typeface="Consolas"/>
              </a:rPr>
              <a:t>PASSIVE_MODULE_ALLOWLIST: tuple[str, ...] = (</a:t>
            </a:r>
          </a:p>
          <a:p>
            <a:pPr algn="l"/>
            <a:r>
              <a:rPr sz="1000">
                <a:solidFill>
                  <a:srgbClr val="E6E6E6"/>
                </a:solidFill>
                <a:latin typeface="Consolas"/>
              </a:rPr>
              <a:t>    "sfp_dnsresolve", "sfp_whois", "sfp_crt", "sfp_certspotter",</a:t>
            </a:r>
          </a:p>
          <a:p>
            <a:pPr algn="l"/>
            <a:r>
              <a:rPr sz="1000">
                <a:solidFill>
                  <a:srgbClr val="E6E6E6"/>
                </a:solidFill>
                <a:latin typeface="Consolas"/>
              </a:rPr>
              <a:t>    "sfp_archiveorg", "sfp_threatfox", "sfp_virustotal",</a:t>
            </a:r>
          </a:p>
          <a:p>
            <a:pPr algn="l"/>
            <a:r>
              <a:rPr sz="1000">
                <a:solidFill>
                  <a:srgbClr val="E6E6E6"/>
                </a:solidFill>
                <a:latin typeface="Consolas"/>
              </a:rPr>
              <a:t>    "sfp_bingsearch", "sfp_duckduckgo", "sfp_hibp_pastes",</a:t>
            </a:r>
          </a:p>
          <a:p>
            <a:pPr algn="l"/>
            <a:r>
              <a:rPr sz="1000">
                <a:solidFill>
                  <a:srgbClr val="E6E6E6"/>
                </a:solidFill>
                <a:latin typeface="Consolas"/>
              </a:rPr>
              <a:t>    # ... 45 entries total</a:t>
            </a:r>
          </a:p>
          <a:p>
            <a:pPr algn="l"/>
            <a:r>
              <a:rPr sz="1000">
                <a:solidFill>
                  <a:srgbClr val="E6E6E6"/>
                </a:solidFill>
                <a:latin typeface="Consolas"/>
              </a:rPr>
              <a:t>)</a:t>
            </a:r>
          </a:p>
          <a:p>
            <a:pPr algn="l"/>
            <a:r>
              <a:rPr sz="1000">
                <a:solidFill>
                  <a:srgbClr val="E6E6E6"/>
                </a:solidFill>
                <a:latin typeface="Consolas"/>
              </a:rPr>
              <a:t> </a:t>
            </a:r>
          </a:p>
          <a:p>
            <a:pPr algn="l"/>
            <a:r>
              <a:rPr sz="1000">
                <a:solidFill>
                  <a:srgbClr val="E6E6E6"/>
                </a:solidFill>
                <a:latin typeface="Consolas"/>
              </a:rPr>
              <a:t>PROHIBITED_MODULES: tuple[str, ...] = (</a:t>
            </a:r>
          </a:p>
          <a:p>
            <a:pPr algn="l"/>
            <a:r>
              <a:rPr sz="1000">
                <a:solidFill>
                  <a:srgbClr val="E6E6E6"/>
                </a:solidFill>
                <a:latin typeface="Consolas"/>
              </a:rPr>
              <a:t>    "sfp_tool_nmap",     "sfp_tool_nuclei",   "sfp_spider",</a:t>
            </a:r>
          </a:p>
          <a:p>
            <a:pPr algn="l"/>
            <a:r>
              <a:rPr sz="1000">
                <a:solidFill>
                  <a:srgbClr val="E6E6E6"/>
                </a:solidFill>
                <a:latin typeface="Consolas"/>
              </a:rPr>
              <a:t>    "sfp_dnsbrute",      "sfp_screenshot",    "sfp_portscan_tcp",</a:t>
            </a:r>
          </a:p>
          <a:p>
            <a:pPr algn="l"/>
            <a:r>
              <a:rPr sz="1000">
                <a:solidFill>
                  <a:srgbClr val="E6E6E6"/>
                </a:solidFill>
                <a:latin typeface="Consolas"/>
              </a:rPr>
              <a:t>    "sfp_bingsharedip",</a:t>
            </a:r>
          </a:p>
          <a:p>
            <a:pPr algn="l"/>
            <a:r>
              <a:rPr sz="1000">
                <a:solidFill>
                  <a:srgbClr val="E6E6E6"/>
                </a:solidFill>
                <a:latin typeface="Consolas"/>
              </a:rPr>
              <a:t>)</a:t>
            </a:r>
          </a:p>
          <a:p>
            <a:pPr algn="l"/>
            <a:r>
              <a:rPr sz="1000">
                <a:solidFill>
                  <a:srgbClr val="E6E6E6"/>
                </a:solidFill>
                <a:latin typeface="Consolas"/>
              </a:rPr>
              <a:t> </a:t>
            </a:r>
          </a:p>
          <a:p>
            <a:pPr algn="l"/>
            <a:r>
              <a:rPr sz="1000">
                <a:solidFill>
                  <a:srgbClr val="E6E6E6"/>
                </a:solidFill>
                <a:latin typeface="Consolas"/>
              </a:rPr>
              <a:t># policy.py — the enforcement (logic)</a:t>
            </a:r>
          </a:p>
          <a:p>
            <a:pPr algn="l"/>
            <a:r>
              <a:rPr sz="1000">
                <a:solidFill>
                  <a:srgbClr val="E6E6E6"/>
                </a:solidFill>
                <a:latin typeface="Consolas"/>
              </a:rPr>
              <a:t> </a:t>
            </a:r>
          </a:p>
          <a:p>
            <a:pPr algn="l"/>
            <a:r>
              <a:rPr sz="1000">
                <a:solidFill>
                  <a:srgbClr val="E6E6E6"/>
                </a:solidFill>
                <a:latin typeface="Consolas"/>
              </a:rPr>
              <a:t>def validate_modules(modules: list[str] | None) -&gt; list[str]:</a:t>
            </a:r>
          </a:p>
          <a:p>
            <a:pPr algn="l"/>
            <a:r>
              <a:rPr sz="1000">
                <a:solidFill>
                  <a:srgbClr val="E6E6E6"/>
                </a:solidFill>
                <a:latin typeface="Consolas"/>
              </a:rPr>
              <a:t>    """Refuse non-passive modules BEFORE any HTTP call. Hard Rule 4."""</a:t>
            </a:r>
          </a:p>
          <a:p>
            <a:pPr algn="l"/>
            <a:r>
              <a:rPr sz="1000">
                <a:solidFill>
                  <a:srgbClr val="E6E6E6"/>
                </a:solidFill>
                <a:latin typeface="Consolas"/>
              </a:rPr>
              <a:t>    if not modules:</a:t>
            </a:r>
          </a:p>
          <a:p>
            <a:pPr algn="l"/>
            <a:r>
              <a:rPr sz="1000">
                <a:solidFill>
                  <a:srgbClr val="E6E6E6"/>
                </a:solidFill>
                <a:latin typeface="Consolas"/>
              </a:rPr>
              <a:t>        return list(DEFAULT_MODULES)</a:t>
            </a:r>
          </a:p>
          <a:p>
            <a:pPr algn="l"/>
            <a:r>
              <a:rPr sz="1000">
                <a:solidFill>
                  <a:srgbClr val="E6E6E6"/>
                </a:solidFill>
                <a:latin typeface="Consolas"/>
              </a:rPr>
              <a:t> </a:t>
            </a:r>
          </a:p>
          <a:p>
            <a:pPr algn="l"/>
            <a:r>
              <a:rPr sz="1000">
                <a:solidFill>
                  <a:srgbClr val="E6E6E6"/>
                </a:solidFill>
                <a:latin typeface="Consolas"/>
              </a:rPr>
              <a:t>    cleaned, rejected, prohibited_hits = [], [], []</a:t>
            </a:r>
          </a:p>
          <a:p>
            <a:pPr algn="l"/>
            <a:r>
              <a:rPr sz="1000">
                <a:solidFill>
                  <a:srgbClr val="E6E6E6"/>
                </a:solidFill>
                <a:latin typeface="Consolas"/>
              </a:rPr>
              <a:t>    for raw in modules:</a:t>
            </a:r>
          </a:p>
          <a:p>
            <a:pPr algn="l"/>
            <a:r>
              <a:rPr sz="1000">
                <a:solidFill>
                  <a:srgbClr val="E6E6E6"/>
                </a:solidFill>
                <a:latin typeface="Consolas"/>
              </a:rPr>
              <a:t>        stripped = raw.strip().removeprefix("module_")</a:t>
            </a:r>
          </a:p>
          <a:p>
            <a:pPr algn="l"/>
            <a:r>
              <a:rPr sz="1000">
                <a:solidFill>
                  <a:srgbClr val="E6E6E6"/>
                </a:solidFill>
                <a:latin typeface="Consolas"/>
              </a:rPr>
              <a:t>        lower = stripped.lower()</a:t>
            </a:r>
          </a:p>
          <a:p>
            <a:pPr algn="l"/>
            <a:r>
              <a:rPr sz="1000">
                <a:solidFill>
                  <a:srgbClr val="E6E6E6"/>
                </a:solidFill>
                <a:latin typeface="Consolas"/>
              </a:rPr>
              <a:t>        if lower not in _ALLOWLIST_LOWERCASE:</a:t>
            </a:r>
          </a:p>
          <a:p>
            <a:pPr algn="l"/>
            <a:r>
              <a:rPr sz="1000">
                <a:solidFill>
                  <a:srgbClr val="E6E6E6"/>
                </a:solidFill>
                <a:latin typeface="Consolas"/>
              </a:rPr>
              <a:t>            if lower in (m.lower() for m in PROHIBITED_MODULES):</a:t>
            </a:r>
          </a:p>
          <a:p>
            <a:pPr algn="l"/>
            <a:r>
              <a:rPr sz="1000">
                <a:solidFill>
                  <a:srgbClr val="E6E6E6"/>
                </a:solidFill>
                <a:latin typeface="Consolas"/>
              </a:rPr>
              <a:t>                prohibited_hits.append(stripped)</a:t>
            </a:r>
          </a:p>
          <a:p>
            <a:pPr algn="l"/>
            <a:r>
              <a:rPr sz="1000">
                <a:solidFill>
                  <a:srgbClr val="E6E6E6"/>
                </a:solidFill>
                <a:latin typeface="Consolas"/>
              </a:rPr>
              <a:t>            else:</a:t>
            </a:r>
          </a:p>
          <a:p>
            <a:pPr algn="l"/>
            <a:r>
              <a:rPr sz="1000">
                <a:solidFill>
                  <a:srgbClr val="E6E6E6"/>
                </a:solidFill>
                <a:latin typeface="Consolas"/>
              </a:rPr>
              <a:t>                rejected.append(stripped)</a:t>
            </a:r>
          </a:p>
          <a:p>
            <a:pPr algn="l"/>
            <a:r>
              <a:rPr sz="1000">
                <a:solidFill>
                  <a:srgbClr val="E6E6E6"/>
                </a:solidFill>
                <a:latin typeface="Consolas"/>
              </a:rPr>
              <a:t>            continue</a:t>
            </a:r>
          </a:p>
          <a:p>
            <a:pPr algn="l"/>
            <a:r>
              <a:rPr sz="1000">
                <a:solidFill>
                  <a:srgbClr val="E6E6E6"/>
                </a:solidFill>
                <a:latin typeface="Consolas"/>
              </a:rPr>
              <a:t>        cleaned.append(canonical_case(lower))</a:t>
            </a:r>
          </a:p>
          <a:p>
            <a:pPr algn="l"/>
            <a:r>
              <a:rPr sz="1000">
                <a:solidFill>
                  <a:srgbClr val="E6E6E6"/>
                </a:solidFill>
                <a:latin typeface="Consolas"/>
              </a:rPr>
              <a:t> </a:t>
            </a:r>
          </a:p>
          <a:p>
            <a:pPr algn="l"/>
            <a:r>
              <a:rPr sz="1000">
                <a:solidFill>
                  <a:srgbClr val="E6E6E6"/>
                </a:solidFill>
                <a:latin typeface="Consolas"/>
              </a:rPr>
              <a:t>    if prohibited_hits or rejected:</a:t>
            </a:r>
          </a:p>
          <a:p>
            <a:pPr algn="l"/>
            <a:r>
              <a:rPr sz="1000">
                <a:solidFill>
                  <a:srgbClr val="E6E6E6"/>
                </a:solidFill>
                <a:latin typeface="Consolas"/>
              </a:rPr>
              <a:t>        raise SpiderFootPolicyError(</a:t>
            </a:r>
          </a:p>
          <a:p>
            <a:pPr algn="l"/>
            <a:r>
              <a:rPr sz="1000">
                <a:solidFill>
                  <a:srgbClr val="E6E6E6"/>
                </a:solidFill>
                <a:latin typeface="Consolas"/>
              </a:rPr>
              <a:t>            f"Module(s) refused: {prohibited_hits + rejected}. "</a:t>
            </a:r>
          </a:p>
          <a:p>
            <a:pPr algn="l"/>
            <a:r>
              <a:rPr sz="1000">
                <a:solidFill>
                  <a:srgbClr val="E6E6E6"/>
                </a:solidFill>
                <a:latin typeface="Consolas"/>
              </a:rPr>
              <a:t>            "See LEGAL-POLICY.md SpiderFoot section."</a:t>
            </a:r>
          </a:p>
          <a:p>
            <a:pPr algn="l"/>
            <a:r>
              <a:rPr sz="1000">
                <a:solidFill>
                  <a:srgbClr val="E6E6E6"/>
                </a:solidFill>
                <a:latin typeface="Consolas"/>
              </a:rPr>
              <a:t>        )</a:t>
            </a:r>
          </a:p>
          <a:p>
            <a:pPr algn="l"/>
            <a:r>
              <a:rPr sz="1000">
                <a:solidFill>
                  <a:srgbClr val="E6E6E6"/>
                </a:solidFill>
                <a:latin typeface="Consolas"/>
              </a:rPr>
              <a:t>    return cleaned</a:t>
            </a:r>
          </a:p>
          <a:p>
            <a:pPr algn="l"/>
            <a:r>
              <a:rPr sz="1000">
                <a:solidFill>
                  <a:srgbClr val="E6E6E6"/>
                </a:solidFill>
                <a:latin typeface="Consolas"/>
              </a:rPr>
              <a:t> </a:t>
            </a:r>
          </a:p>
          <a:p>
            <a:pPr algn="l"/>
            <a:r>
              <a:rPr sz="1000">
                <a:solidFill>
                  <a:srgbClr val="E6E6E6"/>
                </a:solidFill>
                <a:latin typeface="Consolas"/>
              </a:rPr>
              <a:t># server.py — wired in BEFORE the HTTP call</a:t>
            </a:r>
          </a:p>
          <a:p>
            <a:pPr algn="l"/>
            <a:r>
              <a:rPr sz="1000">
                <a:solidFill>
                  <a:srgbClr val="E6E6E6"/>
                </a:solidFill>
                <a:latin typeface="Consolas"/>
              </a:rPr>
              <a:t>@mcp.tool()</a:t>
            </a:r>
          </a:p>
          <a:p>
            <a:pPr algn="l"/>
            <a:r>
              <a:rPr sz="1000">
                <a:solidFill>
                  <a:srgbClr val="E6E6E6"/>
                </a:solidFill>
                <a:latin typeface="Consolas"/>
              </a:rPr>
              <a:t>def passive_scan(target: str, modules: list[str] | None = None) -&gt; dict:</a:t>
            </a:r>
          </a:p>
          <a:p>
            <a:pPr algn="l"/>
            <a:r>
              <a:rPr sz="1000">
                <a:solidFill>
                  <a:srgbClr val="E6E6E6"/>
                </a:solidFill>
                <a:latin typeface="Consolas"/>
              </a:rPr>
              <a:t>    cleaned = validate_modules(modules)   # ← raises if non-passive</a:t>
            </a:r>
          </a:p>
          <a:p>
            <a:pPr algn="l"/>
            <a:r>
              <a:rPr sz="1000">
                <a:solidFill>
                  <a:srgbClr val="E6E6E6"/>
                </a:solidFill>
                <a:latin typeface="Consolas"/>
              </a:rPr>
              <a:t>    return run_scan(target, cleaned)</a:t>
            </a:r>
          </a:p>
        </p:txBody>
      </p:sp>
      <p:sp>
        <p:nvSpPr>
          <p:cNvPr id="7" name="TextBox 6"/>
          <p:cNvSpPr txBox="1"/>
          <p:nvPr/>
        </p:nvSpPr>
        <p:spPr>
          <a:xfrm>
            <a:off x="457200" y="6446520"/>
            <a:ext cx="11274552" cy="274320"/>
          </a:xfrm>
          <a:prstGeom prst="rect">
            <a:avLst/>
          </a:prstGeom>
          <a:noFill/>
        </p:spPr>
        <p:txBody>
          <a:bodyPr wrap="none">
            <a:spAutoFit/>
          </a:bodyPr>
          <a:lstStyle/>
          <a:p>
            <a:pPr algn="l"/>
            <a:r>
              <a:rPr sz="800" i="1">
                <a:solidFill>
                  <a:srgbClr val="666666"/>
                </a:solidFill>
                <a:latin typeface="Calibri"/>
              </a:rPr>
              <a:t>Archimedes · Architecture Walkthrough</a:t>
            </a:r>
          </a:p>
        </p:txBody>
      </p:sp>
      <p:sp>
        <p:nvSpPr>
          <p:cNvPr id="8" name="TextBox 7"/>
          <p:cNvSpPr txBox="1"/>
          <p:nvPr/>
        </p:nvSpPr>
        <p:spPr>
          <a:xfrm>
            <a:off x="10515600" y="6446520"/>
            <a:ext cx="1188720" cy="274320"/>
          </a:xfrm>
          <a:prstGeom prst="rect">
            <a:avLst/>
          </a:prstGeom>
          <a:noFill/>
        </p:spPr>
        <p:txBody>
          <a:bodyPr wrap="none">
            <a:spAutoFit/>
          </a:bodyPr>
          <a:lstStyle/>
          <a:p>
            <a:pPr algn="r"/>
            <a:r>
              <a:rPr sz="800">
                <a:solidFill>
                  <a:srgbClr val="666666"/>
                </a:solidFill>
                <a:latin typeface="Calibri"/>
              </a:rPr>
              <a:t>17 / 32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28600"/>
          </a:xfrm>
          <a:prstGeom prst="rect">
            <a:avLst/>
          </a:prstGeom>
          <a:solidFill>
            <a:srgbClr val="4A90E2"/>
          </a:solidFill>
          <a:ln>
            <a:noFill/>
          </a:ln>
        </p:spPr>
        <p:style>
          <a:lnRef idx="1">
            <a:schemeClr val="accent1"/>
          </a:lnRef>
          <a:fillRef idx="3">
            <a:schemeClr val="accent1"/>
          </a:fillRef>
          <a:effectRef idx="2">
            <a:schemeClr val="accent1"/>
          </a:effectRef>
          <a:fontRef idx="minor">
            <a:schemeClr val="lt1"/>
          </a:fontRef>
        </p:style>
        <p:txBody>
          <a:bodyPr rtlCol="0" anchor="ctr" tIns="18288" lIns="457200"/>
          <a:lstStyle/>
          <a:p>
            <a:pPr algn="ctr"/>
            <a:r>
              <a:rPr sz="1000" b="1">
                <a:solidFill>
                  <a:srgbClr val="FFFFFF"/>
                </a:solidFill>
                <a:latin typeface="Calibri"/>
              </a:rPr>
              <a:t>§3  ·  MCPs + tool integration</a:t>
            </a:r>
          </a:p>
        </p:txBody>
      </p:sp>
      <p:sp>
        <p:nvSpPr>
          <p:cNvPr id="3" name="TextBox 2"/>
          <p:cNvSpPr txBox="1"/>
          <p:nvPr/>
        </p:nvSpPr>
        <p:spPr>
          <a:xfrm>
            <a:off x="457200" y="274320"/>
            <a:ext cx="11274552" cy="640080"/>
          </a:xfrm>
          <a:prstGeom prst="rect">
            <a:avLst/>
          </a:prstGeom>
          <a:noFill/>
        </p:spPr>
        <p:txBody>
          <a:bodyPr wrap="square">
            <a:spAutoFit/>
          </a:bodyPr>
          <a:lstStyle/>
          <a:p>
            <a:pPr algn="l"/>
            <a:r>
              <a:rPr sz="2800" b="1">
                <a:solidFill>
                  <a:srgbClr val="1F3A5F"/>
                </a:solidFill>
                <a:latin typeface="Calibri"/>
              </a:rPr>
              <a:t>MCP inventory</a:t>
            </a:r>
          </a:p>
        </p:txBody>
      </p:sp>
      <p:sp>
        <p:nvSpPr>
          <p:cNvPr id="4" name="TextBox 3"/>
          <p:cNvSpPr txBox="1"/>
          <p:nvPr/>
        </p:nvSpPr>
        <p:spPr>
          <a:xfrm>
            <a:off x="457200" y="914400"/>
            <a:ext cx="11274552" cy="365760"/>
          </a:xfrm>
          <a:prstGeom prst="rect">
            <a:avLst/>
          </a:prstGeom>
          <a:noFill/>
        </p:spPr>
        <p:txBody>
          <a:bodyPr wrap="square">
            <a:spAutoFit/>
          </a:bodyPr>
          <a:lstStyle/>
          <a:p>
            <a:r>
              <a:rPr sz="1300" i="1">
                <a:solidFill>
                  <a:srgbClr val="666666"/>
                </a:solidFill>
                <a:latin typeface="Calibri"/>
              </a:rPr>
              <a:t>8 wrappers — what each surfaces, auth model, policy enforcement.</a:t>
            </a:r>
          </a:p>
        </p:txBody>
      </p:sp>
      <p:sp>
        <p:nvSpPr>
          <p:cNvPr id="5" name="Rectangle 4"/>
          <p:cNvSpPr/>
          <p:nvPr/>
        </p:nvSpPr>
        <p:spPr>
          <a:xfrm>
            <a:off x="457200" y="1371600"/>
            <a:ext cx="1828800" cy="4572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tIns="73152"/>
          <a:lstStyle/>
          <a:p>
            <a:pPr algn="ctr"/>
            <a:r>
              <a:rPr sz="1100" b="1">
                <a:solidFill>
                  <a:srgbClr val="FFFFFF"/>
                </a:solidFill>
                <a:latin typeface="Calibri"/>
              </a:rPr>
              <a:t>  MCP</a:t>
            </a:r>
          </a:p>
        </p:txBody>
      </p:sp>
      <p:sp>
        <p:nvSpPr>
          <p:cNvPr id="6" name="Rectangle 5"/>
          <p:cNvSpPr/>
          <p:nvPr/>
        </p:nvSpPr>
        <p:spPr>
          <a:xfrm>
            <a:off x="2286000" y="1371600"/>
            <a:ext cx="4206240" cy="4572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tIns="73152"/>
          <a:lstStyle/>
          <a:p>
            <a:pPr algn="ctr"/>
            <a:r>
              <a:rPr sz="1100" b="1">
                <a:solidFill>
                  <a:srgbClr val="FFFFFF"/>
                </a:solidFill>
                <a:latin typeface="Calibri"/>
              </a:rPr>
              <a:t>  What it surfaces</a:t>
            </a:r>
          </a:p>
        </p:txBody>
      </p:sp>
      <p:sp>
        <p:nvSpPr>
          <p:cNvPr id="7" name="Rectangle 6"/>
          <p:cNvSpPr/>
          <p:nvPr/>
        </p:nvSpPr>
        <p:spPr>
          <a:xfrm>
            <a:off x="6492240" y="1371600"/>
            <a:ext cx="2560320" cy="4572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tIns="73152"/>
          <a:lstStyle/>
          <a:p>
            <a:pPr algn="ctr"/>
            <a:r>
              <a:rPr sz="1100" b="1">
                <a:solidFill>
                  <a:srgbClr val="FFFFFF"/>
                </a:solidFill>
                <a:latin typeface="Calibri"/>
              </a:rPr>
              <a:t>  Auth model</a:t>
            </a:r>
          </a:p>
        </p:txBody>
      </p:sp>
      <p:sp>
        <p:nvSpPr>
          <p:cNvPr id="8" name="Rectangle 7"/>
          <p:cNvSpPr/>
          <p:nvPr/>
        </p:nvSpPr>
        <p:spPr>
          <a:xfrm>
            <a:off x="9052559" y="1371600"/>
            <a:ext cx="2862072" cy="4572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tIns="73152"/>
          <a:lstStyle/>
          <a:p>
            <a:pPr algn="ctr"/>
            <a:r>
              <a:rPr sz="1100" b="1">
                <a:solidFill>
                  <a:srgbClr val="FFFFFF"/>
                </a:solidFill>
                <a:latin typeface="Calibri"/>
              </a:rPr>
              <a:t>  Policy enforcement</a:t>
            </a:r>
          </a:p>
        </p:txBody>
      </p:sp>
      <p:sp>
        <p:nvSpPr>
          <p:cNvPr id="9" name="Rectangle 8"/>
          <p:cNvSpPr/>
          <p:nvPr/>
        </p:nvSpPr>
        <p:spPr>
          <a:xfrm>
            <a:off x="457200" y="1828800"/>
            <a:ext cx="182880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b="1">
                <a:solidFill>
                  <a:srgbClr val="333333"/>
                </a:solidFill>
                <a:latin typeface="Calibri"/>
              </a:rPr>
              <a:t>  splunk-query</a:t>
            </a:r>
          </a:p>
        </p:txBody>
      </p:sp>
      <p:sp>
        <p:nvSpPr>
          <p:cNvPr id="10" name="Rectangle 9"/>
          <p:cNvSpPr/>
          <p:nvPr/>
        </p:nvSpPr>
        <p:spPr>
          <a:xfrm>
            <a:off x="2286000" y="1828800"/>
            <a:ext cx="420624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first-party telemetry · SPL search · health</a:t>
            </a:r>
          </a:p>
        </p:txBody>
      </p:sp>
      <p:sp>
        <p:nvSpPr>
          <p:cNvPr id="11" name="Rectangle 10"/>
          <p:cNvSpPr/>
          <p:nvPr/>
        </p:nvSpPr>
        <p:spPr>
          <a:xfrm>
            <a:off x="6492240" y="1828800"/>
            <a:ext cx="256032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Basic auth (REST 8089)</a:t>
            </a:r>
          </a:p>
        </p:txBody>
      </p:sp>
      <p:sp>
        <p:nvSpPr>
          <p:cNvPr id="12" name="Rectangle 11"/>
          <p:cNvSpPr/>
          <p:nvPr/>
        </p:nvSpPr>
        <p:spPr>
          <a:xfrm>
            <a:off x="9052559" y="1828800"/>
            <a:ext cx="2862072"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no allowlist · query rate limit</a:t>
            </a:r>
          </a:p>
        </p:txBody>
      </p:sp>
      <p:sp>
        <p:nvSpPr>
          <p:cNvPr id="13" name="Rectangle 12"/>
          <p:cNvSpPr/>
          <p:nvPr/>
        </p:nvSpPr>
        <p:spPr>
          <a:xfrm>
            <a:off x="457200" y="2286000"/>
            <a:ext cx="1828800" cy="45720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b="1">
                <a:solidFill>
                  <a:srgbClr val="333333"/>
                </a:solidFill>
                <a:latin typeface="Calibri"/>
              </a:rPr>
              <a:t>  virustotal</a:t>
            </a:r>
          </a:p>
        </p:txBody>
      </p:sp>
      <p:sp>
        <p:nvSpPr>
          <p:cNvPr id="14" name="Rectangle 13"/>
          <p:cNvSpPr/>
          <p:nvPr/>
        </p:nvSpPr>
        <p:spPr>
          <a:xfrm>
            <a:off x="2286000" y="2286000"/>
            <a:ext cx="4206240" cy="45720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domain / IP / file / URL reputation</a:t>
            </a:r>
          </a:p>
        </p:txBody>
      </p:sp>
      <p:sp>
        <p:nvSpPr>
          <p:cNvPr id="15" name="Rectangle 14"/>
          <p:cNvSpPr/>
          <p:nvPr/>
        </p:nvSpPr>
        <p:spPr>
          <a:xfrm>
            <a:off x="6492240" y="2286000"/>
            <a:ext cx="2560320" cy="45720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API key header</a:t>
            </a:r>
          </a:p>
        </p:txBody>
      </p:sp>
      <p:sp>
        <p:nvSpPr>
          <p:cNvPr id="16" name="Rectangle 15"/>
          <p:cNvSpPr/>
          <p:nvPr/>
        </p:nvSpPr>
        <p:spPr>
          <a:xfrm>
            <a:off x="9052559" y="2286000"/>
            <a:ext cx="2862072" cy="45720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rate-limit aware</a:t>
            </a:r>
          </a:p>
        </p:txBody>
      </p:sp>
      <p:sp>
        <p:nvSpPr>
          <p:cNvPr id="17" name="Rectangle 16"/>
          <p:cNvSpPr/>
          <p:nvPr/>
        </p:nvSpPr>
        <p:spPr>
          <a:xfrm>
            <a:off x="457200" y="2743200"/>
            <a:ext cx="182880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b="1">
                <a:solidFill>
                  <a:srgbClr val="333333"/>
                </a:solidFill>
                <a:latin typeface="Calibri"/>
              </a:rPr>
              <a:t>  shodan-mcp</a:t>
            </a:r>
          </a:p>
        </p:txBody>
      </p:sp>
      <p:sp>
        <p:nvSpPr>
          <p:cNvPr id="18" name="Rectangle 17"/>
          <p:cNvSpPr/>
          <p:nvPr/>
        </p:nvSpPr>
        <p:spPr>
          <a:xfrm>
            <a:off x="2286000" y="2743200"/>
            <a:ext cx="420624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host lookup · search_hosts · count · CDN</a:t>
            </a:r>
          </a:p>
        </p:txBody>
      </p:sp>
      <p:sp>
        <p:nvSpPr>
          <p:cNvPr id="19" name="Rectangle 18"/>
          <p:cNvSpPr/>
          <p:nvPr/>
        </p:nvSpPr>
        <p:spPr>
          <a:xfrm>
            <a:off x="6492240" y="2743200"/>
            <a:ext cx="256032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API key query param</a:t>
            </a:r>
          </a:p>
        </p:txBody>
      </p:sp>
      <p:sp>
        <p:nvSpPr>
          <p:cNvPr id="20" name="Rectangle 19"/>
          <p:cNvSpPr/>
          <p:nvPr/>
        </p:nvSpPr>
        <p:spPr>
          <a:xfrm>
            <a:off x="9052559" y="2743200"/>
            <a:ext cx="2862072"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no scan; index lookup only</a:t>
            </a:r>
          </a:p>
        </p:txBody>
      </p:sp>
      <p:sp>
        <p:nvSpPr>
          <p:cNvPr id="21" name="Rectangle 20"/>
          <p:cNvSpPr/>
          <p:nvPr/>
        </p:nvSpPr>
        <p:spPr>
          <a:xfrm>
            <a:off x="457200" y="3200400"/>
            <a:ext cx="1828800" cy="45720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b="1">
                <a:solidFill>
                  <a:srgbClr val="333333"/>
                </a:solidFill>
                <a:latin typeface="Calibri"/>
              </a:rPr>
              <a:t>  rss-bridge</a:t>
            </a:r>
          </a:p>
        </p:txBody>
      </p:sp>
      <p:sp>
        <p:nvSpPr>
          <p:cNvPr id="22" name="Rectangle 21"/>
          <p:cNvSpPr/>
          <p:nvPr/>
        </p:nvSpPr>
        <p:spPr>
          <a:xfrm>
            <a:off x="2286000" y="3200400"/>
            <a:ext cx="4206240" cy="45720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direct RSS/Atom feed fetch + ETag cache</a:t>
            </a:r>
          </a:p>
        </p:txBody>
      </p:sp>
      <p:sp>
        <p:nvSpPr>
          <p:cNvPr id="23" name="Rectangle 22"/>
          <p:cNvSpPr/>
          <p:nvPr/>
        </p:nvSpPr>
        <p:spPr>
          <a:xfrm>
            <a:off x="6492240" y="3200400"/>
            <a:ext cx="2560320" cy="45720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none (public feeds)</a:t>
            </a:r>
          </a:p>
        </p:txBody>
      </p:sp>
      <p:sp>
        <p:nvSpPr>
          <p:cNvPr id="24" name="Rectangle 23"/>
          <p:cNvSpPr/>
          <p:nvPr/>
        </p:nvSpPr>
        <p:spPr>
          <a:xfrm>
            <a:off x="9052559" y="3200400"/>
            <a:ext cx="2862072" cy="45720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feed list curated</a:t>
            </a:r>
          </a:p>
        </p:txBody>
      </p:sp>
      <p:sp>
        <p:nvSpPr>
          <p:cNvPr id="25" name="Rectangle 24"/>
          <p:cNvSpPr/>
          <p:nvPr/>
        </p:nvSpPr>
        <p:spPr>
          <a:xfrm>
            <a:off x="457200" y="3657600"/>
            <a:ext cx="182880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b="1">
                <a:solidFill>
                  <a:srgbClr val="333333"/>
                </a:solidFill>
                <a:latin typeface="Calibri"/>
              </a:rPr>
              <a:t>  urlscan</a:t>
            </a:r>
          </a:p>
        </p:txBody>
      </p:sp>
      <p:sp>
        <p:nvSpPr>
          <p:cNvPr id="26" name="Rectangle 25"/>
          <p:cNvSpPr/>
          <p:nvPr/>
        </p:nvSpPr>
        <p:spPr>
          <a:xfrm>
            <a:off x="2286000" y="3657600"/>
            <a:ext cx="420624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search · lookup · submit_scan</a:t>
            </a:r>
          </a:p>
        </p:txBody>
      </p:sp>
      <p:sp>
        <p:nvSpPr>
          <p:cNvPr id="27" name="Rectangle 26"/>
          <p:cNvSpPr/>
          <p:nvPr/>
        </p:nvSpPr>
        <p:spPr>
          <a:xfrm>
            <a:off x="6492240" y="3657600"/>
            <a:ext cx="256032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API-Key header</a:t>
            </a:r>
          </a:p>
        </p:txBody>
      </p:sp>
      <p:sp>
        <p:nvSpPr>
          <p:cNvPr id="28" name="Rectangle 27"/>
          <p:cNvSpPr/>
          <p:nvPr/>
        </p:nvSpPr>
        <p:spPr>
          <a:xfrm>
            <a:off x="9052559" y="3657600"/>
            <a:ext cx="2862072"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submit gated; search unmetered</a:t>
            </a:r>
          </a:p>
        </p:txBody>
      </p:sp>
      <p:sp>
        <p:nvSpPr>
          <p:cNvPr id="29" name="Rectangle 28"/>
          <p:cNvSpPr/>
          <p:nvPr/>
        </p:nvSpPr>
        <p:spPr>
          <a:xfrm>
            <a:off x="457200" y="4114800"/>
            <a:ext cx="1828800" cy="45720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b="1">
                <a:solidFill>
                  <a:srgbClr val="333333"/>
                </a:solidFill>
                <a:latin typeface="Calibri"/>
              </a:rPr>
              <a:t>  censys</a:t>
            </a:r>
          </a:p>
        </p:txBody>
      </p:sp>
      <p:sp>
        <p:nvSpPr>
          <p:cNvPr id="30" name="Rectangle 29"/>
          <p:cNvSpPr/>
          <p:nvPr/>
        </p:nvSpPr>
        <p:spPr>
          <a:xfrm>
            <a:off x="2286000" y="4114800"/>
            <a:ext cx="4206240" cy="45720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host search · cert search · host lookup</a:t>
            </a:r>
          </a:p>
        </p:txBody>
      </p:sp>
      <p:sp>
        <p:nvSpPr>
          <p:cNvPr id="31" name="Rectangle 30"/>
          <p:cNvSpPr/>
          <p:nvPr/>
        </p:nvSpPr>
        <p:spPr>
          <a:xfrm>
            <a:off x="6492240" y="4114800"/>
            <a:ext cx="2560320" cy="45720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Basic (API_ID:API_SECRET)</a:t>
            </a:r>
          </a:p>
        </p:txBody>
      </p:sp>
      <p:sp>
        <p:nvSpPr>
          <p:cNvPr id="32" name="Rectangle 31"/>
          <p:cNvSpPr/>
          <p:nvPr/>
        </p:nvSpPr>
        <p:spPr>
          <a:xfrm>
            <a:off x="9052559" y="4114800"/>
            <a:ext cx="2862072" cy="45720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v2 only; index lookup</a:t>
            </a:r>
          </a:p>
        </p:txBody>
      </p:sp>
      <p:sp>
        <p:nvSpPr>
          <p:cNvPr id="33" name="Rectangle 32"/>
          <p:cNvSpPr/>
          <p:nvPr/>
        </p:nvSpPr>
        <p:spPr>
          <a:xfrm>
            <a:off x="457200" y="4572000"/>
            <a:ext cx="182880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b="1">
                <a:solidFill>
                  <a:srgbClr val="333333"/>
                </a:solidFill>
                <a:latin typeface="Calibri"/>
              </a:rPr>
              <a:t>  theharvester</a:t>
            </a:r>
          </a:p>
        </p:txBody>
      </p:sp>
      <p:sp>
        <p:nvSpPr>
          <p:cNvPr id="34" name="Rectangle 33"/>
          <p:cNvSpPr/>
          <p:nvPr/>
        </p:nvSpPr>
        <p:spPr>
          <a:xfrm>
            <a:off x="2286000" y="4572000"/>
            <a:ext cx="420624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subdomain / host / IP enum via 45 sources</a:t>
            </a:r>
          </a:p>
        </p:txBody>
      </p:sp>
      <p:sp>
        <p:nvSpPr>
          <p:cNvPr id="35" name="Rectangle 34"/>
          <p:cNvSpPr/>
          <p:nvPr/>
        </p:nvSpPr>
        <p:spPr>
          <a:xfrm>
            <a:off x="6492240" y="4572000"/>
            <a:ext cx="256032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none + per-source keys</a:t>
            </a:r>
          </a:p>
        </p:txBody>
      </p:sp>
      <p:sp>
        <p:nvSpPr>
          <p:cNvPr id="36" name="Rectangle 35"/>
          <p:cNvSpPr/>
          <p:nvPr/>
        </p:nvSpPr>
        <p:spPr>
          <a:xfrm>
            <a:off x="9052559" y="4572000"/>
            <a:ext cx="2862072"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PASSIVE_SOURCE_ALLOWLIST</a:t>
            </a:r>
          </a:p>
        </p:txBody>
      </p:sp>
      <p:sp>
        <p:nvSpPr>
          <p:cNvPr id="37" name="Rectangle 36"/>
          <p:cNvSpPr/>
          <p:nvPr/>
        </p:nvSpPr>
        <p:spPr>
          <a:xfrm>
            <a:off x="457200" y="5029200"/>
            <a:ext cx="1828800" cy="45720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b="1">
                <a:solidFill>
                  <a:srgbClr val="333333"/>
                </a:solidFill>
                <a:latin typeface="Calibri"/>
              </a:rPr>
              <a:t>  spiderfoot</a:t>
            </a:r>
          </a:p>
        </p:txBody>
      </p:sp>
      <p:sp>
        <p:nvSpPr>
          <p:cNvPr id="38" name="Rectangle 37"/>
          <p:cNvSpPr/>
          <p:nvPr/>
        </p:nvSpPr>
        <p:spPr>
          <a:xfrm>
            <a:off x="2286000" y="5029200"/>
            <a:ext cx="4206240" cy="45720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passive_scan against self-hosted SF daemon</a:t>
            </a:r>
          </a:p>
        </p:txBody>
      </p:sp>
      <p:sp>
        <p:nvSpPr>
          <p:cNvPr id="39" name="Rectangle 38"/>
          <p:cNvSpPr/>
          <p:nvPr/>
        </p:nvSpPr>
        <p:spPr>
          <a:xfrm>
            <a:off x="6492240" y="5029200"/>
            <a:ext cx="2560320" cy="45720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optional HTTP Basic</a:t>
            </a:r>
          </a:p>
        </p:txBody>
      </p:sp>
      <p:sp>
        <p:nvSpPr>
          <p:cNvPr id="40" name="Rectangle 39"/>
          <p:cNvSpPr/>
          <p:nvPr/>
        </p:nvSpPr>
        <p:spPr>
          <a:xfrm>
            <a:off x="9052559" y="5029200"/>
            <a:ext cx="2862072" cy="45720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PASSIVE_MODULE_ALLOWLIST</a:t>
            </a:r>
          </a:p>
        </p:txBody>
      </p:sp>
      <p:sp>
        <p:nvSpPr>
          <p:cNvPr id="41" name="TextBox 40"/>
          <p:cNvSpPr txBox="1"/>
          <p:nvPr/>
        </p:nvSpPr>
        <p:spPr>
          <a:xfrm>
            <a:off x="457200" y="5486400"/>
            <a:ext cx="11274552" cy="731520"/>
          </a:xfrm>
          <a:prstGeom prst="rect">
            <a:avLst/>
          </a:prstGeom>
          <a:noFill/>
        </p:spPr>
        <p:txBody>
          <a:bodyPr wrap="square">
            <a:spAutoFit/>
          </a:bodyPr>
          <a:lstStyle/>
          <a:p>
            <a:r>
              <a:rPr sz="1200" i="1">
                <a:solidFill>
                  <a:srgbClr val="666666"/>
                </a:solidFill>
                <a:latin typeface="Calibri"/>
              </a:rPr>
              <a:t>Every MCP follows the same pattern: pydantic-settings config, httpx client, FastMCP server, respx-mocked unit tests, live-validation tests behind credentials. Two MCPs (theHarvester, SpiderFoot) carry explicit module-level allowlists because they wrap tools that could otherwise perform active recon.</a:t>
            </a:r>
          </a:p>
        </p:txBody>
      </p:sp>
      <p:sp>
        <p:nvSpPr>
          <p:cNvPr id="42" name="TextBox 41"/>
          <p:cNvSpPr txBox="1"/>
          <p:nvPr/>
        </p:nvSpPr>
        <p:spPr>
          <a:xfrm>
            <a:off x="457200" y="6446520"/>
            <a:ext cx="11274552" cy="274320"/>
          </a:xfrm>
          <a:prstGeom prst="rect">
            <a:avLst/>
          </a:prstGeom>
          <a:noFill/>
        </p:spPr>
        <p:txBody>
          <a:bodyPr wrap="none">
            <a:spAutoFit/>
          </a:bodyPr>
          <a:lstStyle/>
          <a:p>
            <a:pPr algn="l"/>
            <a:r>
              <a:rPr sz="800" i="1">
                <a:solidFill>
                  <a:srgbClr val="666666"/>
                </a:solidFill>
                <a:latin typeface="Calibri"/>
              </a:rPr>
              <a:t>Archimedes · Architecture Walkthrough</a:t>
            </a:r>
          </a:p>
        </p:txBody>
      </p:sp>
      <p:sp>
        <p:nvSpPr>
          <p:cNvPr id="43" name="TextBox 42"/>
          <p:cNvSpPr txBox="1"/>
          <p:nvPr/>
        </p:nvSpPr>
        <p:spPr>
          <a:xfrm>
            <a:off x="10515600" y="6446520"/>
            <a:ext cx="1188720" cy="274320"/>
          </a:xfrm>
          <a:prstGeom prst="rect">
            <a:avLst/>
          </a:prstGeom>
          <a:noFill/>
        </p:spPr>
        <p:txBody>
          <a:bodyPr wrap="none">
            <a:spAutoFit/>
          </a:bodyPr>
          <a:lstStyle/>
          <a:p>
            <a:pPr algn="r"/>
            <a:r>
              <a:rPr sz="800">
                <a:solidFill>
                  <a:srgbClr val="666666"/>
                </a:solidFill>
                <a:latin typeface="Calibri"/>
              </a:rPr>
              <a:t>18 / 32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28600"/>
          </a:xfrm>
          <a:prstGeom prst="rect">
            <a:avLst/>
          </a:prstGeom>
          <a:solidFill>
            <a:srgbClr val="4A90E2"/>
          </a:solidFill>
          <a:ln>
            <a:noFill/>
          </a:ln>
        </p:spPr>
        <p:style>
          <a:lnRef idx="1">
            <a:schemeClr val="accent1"/>
          </a:lnRef>
          <a:fillRef idx="3">
            <a:schemeClr val="accent1"/>
          </a:fillRef>
          <a:effectRef idx="2">
            <a:schemeClr val="accent1"/>
          </a:effectRef>
          <a:fontRef idx="minor">
            <a:schemeClr val="lt1"/>
          </a:fontRef>
        </p:style>
        <p:txBody>
          <a:bodyPr rtlCol="0" anchor="ctr" tIns="18288" lIns="457200"/>
          <a:lstStyle/>
          <a:p>
            <a:pPr algn="ctr"/>
            <a:r>
              <a:rPr sz="1000" b="1">
                <a:solidFill>
                  <a:srgbClr val="FFFFFF"/>
                </a:solidFill>
                <a:latin typeface="Calibri"/>
              </a:rPr>
              <a:t>§4  ·  Pipelines</a:t>
            </a:r>
          </a:p>
        </p:txBody>
      </p:sp>
      <p:sp>
        <p:nvSpPr>
          <p:cNvPr id="3" name="TextBox 2"/>
          <p:cNvSpPr txBox="1"/>
          <p:nvPr/>
        </p:nvSpPr>
        <p:spPr>
          <a:xfrm>
            <a:off x="457200" y="274320"/>
            <a:ext cx="11274552" cy="640080"/>
          </a:xfrm>
          <a:prstGeom prst="rect">
            <a:avLst/>
          </a:prstGeom>
          <a:noFill/>
        </p:spPr>
        <p:txBody>
          <a:bodyPr wrap="square">
            <a:spAutoFit/>
          </a:bodyPr>
          <a:lstStyle/>
          <a:p>
            <a:pPr algn="l"/>
            <a:r>
              <a:rPr sz="2800" b="1">
                <a:solidFill>
                  <a:srgbClr val="1F3A5F"/>
                </a:solidFill>
                <a:latin typeface="Calibri"/>
              </a:rPr>
              <a:t>Scheduled brief pipeline</a:t>
            </a:r>
          </a:p>
        </p:txBody>
      </p:sp>
      <p:sp>
        <p:nvSpPr>
          <p:cNvPr id="4" name="TextBox 3"/>
          <p:cNvSpPr txBox="1"/>
          <p:nvPr/>
        </p:nvSpPr>
        <p:spPr>
          <a:xfrm>
            <a:off x="457200" y="914400"/>
            <a:ext cx="11274552" cy="365760"/>
          </a:xfrm>
          <a:prstGeom prst="rect">
            <a:avLst/>
          </a:prstGeom>
          <a:noFill/>
        </p:spPr>
        <p:txBody>
          <a:bodyPr wrap="square">
            <a:spAutoFit/>
          </a:bodyPr>
          <a:lstStyle/>
          <a:p>
            <a:r>
              <a:rPr sz="1300" i="1">
                <a:solidFill>
                  <a:srgbClr val="666666"/>
                </a:solidFill>
                <a:latin typeface="Calibri"/>
              </a:rPr>
              <a:t>08:00 morning, 16:00 afternoon. Five phases. ~25-40 min wall-clock end-to-end.</a:t>
            </a:r>
          </a:p>
        </p:txBody>
      </p:sp>
      <p:sp>
        <p:nvSpPr>
          <p:cNvPr id="5" name="Rectangle 4"/>
          <p:cNvSpPr/>
          <p:nvPr/>
        </p:nvSpPr>
        <p:spPr>
          <a:xfrm>
            <a:off x="457200" y="1417320"/>
            <a:ext cx="1371600" cy="914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tIns="274320"/>
          <a:lstStyle/>
          <a:p>
            <a:pPr algn="ctr"/>
            <a:r>
              <a:rPr sz="1200" b="1">
                <a:solidFill>
                  <a:srgbClr val="FFFFFF"/>
                </a:solidFill>
                <a:latin typeface="Calibri"/>
              </a:rPr>
              <a:t>07:30 EDT</a:t>
            </a:r>
          </a:p>
        </p:txBody>
      </p:sp>
      <p:sp>
        <p:nvSpPr>
          <p:cNvPr id="6" name="Rectangle 5"/>
          <p:cNvSpPr/>
          <p:nvPr/>
        </p:nvSpPr>
        <p:spPr>
          <a:xfrm>
            <a:off x="1828800" y="1417320"/>
            <a:ext cx="9902952" cy="91440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tIns="109728" lIns="182880" wrap="square"/>
          <a:lstStyle/>
          <a:p>
            <a:pPr algn="ctr"/>
            <a:r>
              <a:rPr sz="1300" b="1">
                <a:solidFill>
                  <a:srgbClr val="4A90E2"/>
                </a:solidFill>
                <a:latin typeface="Calibri"/>
              </a:rPr>
              <a:t>PRE-BRIEF COLLECTION</a:t>
            </a:r>
          </a:p>
          <a:p>
            <a:pPr>
              <a:spcBef>
                <a:spcPts val="300"/>
              </a:spcBef>
            </a:pPr>
            <a:r>
              <a:rPr sz="1000">
                <a:solidFill>
                  <a:srgbClr val="333333"/>
                </a:solidFill>
                <a:latin typeface="Calibri"/>
              </a:rPr>
              <a:t>collector subagent · WebFetch + RSS + MCP tools · writes to threats/raw-signal/ · returns count + source-health deltas</a:t>
            </a:r>
          </a:p>
        </p:txBody>
      </p:sp>
      <p:sp>
        <p:nvSpPr>
          <p:cNvPr id="7" name="Rectangle 6"/>
          <p:cNvSpPr/>
          <p:nvPr/>
        </p:nvSpPr>
        <p:spPr>
          <a:xfrm>
            <a:off x="457200" y="2377440"/>
            <a:ext cx="1371600" cy="914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tIns="274320"/>
          <a:lstStyle/>
          <a:p>
            <a:pPr algn="ctr"/>
            <a:r>
              <a:rPr sz="1200" b="1">
                <a:solidFill>
                  <a:srgbClr val="FFFFFF"/>
                </a:solidFill>
                <a:latin typeface="Calibri"/>
              </a:rPr>
              <a:t>~07:55 EDT</a:t>
            </a:r>
          </a:p>
        </p:txBody>
      </p:sp>
      <p:sp>
        <p:nvSpPr>
          <p:cNvPr id="8" name="Rectangle 7"/>
          <p:cNvSpPr/>
          <p:nvPr/>
        </p:nvSpPr>
        <p:spPr>
          <a:xfrm>
            <a:off x="1828800" y="2377440"/>
            <a:ext cx="9902952" cy="91440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tIns="109728" lIns="182880" wrap="square"/>
          <a:lstStyle/>
          <a:p>
            <a:pPr algn="ctr"/>
            <a:r>
              <a:rPr sz="1300" b="1">
                <a:solidFill>
                  <a:srgbClr val="4A90E2"/>
                </a:solidFill>
                <a:latin typeface="Calibri"/>
              </a:rPr>
              <a:t>GRADING (CLUSTERING + ADMIRALTY)</a:t>
            </a:r>
          </a:p>
          <a:p>
            <a:pPr>
              <a:spcBef>
                <a:spcPts val="300"/>
              </a:spcBef>
            </a:pPr>
            <a:r>
              <a:rPr sz="1000">
                <a:solidFill>
                  <a:srgbClr val="333333"/>
                </a:solidFill>
                <a:latin typeface="Calibri"/>
              </a:rPr>
              <a:t>grader subagent · reads all un-promoted raw signal · clusters by topic/actor/vuln · applies INTEL-GRADING · writes to threats/findings/</a:t>
            </a:r>
          </a:p>
        </p:txBody>
      </p:sp>
      <p:sp>
        <p:nvSpPr>
          <p:cNvPr id="9" name="Rectangle 8"/>
          <p:cNvSpPr/>
          <p:nvPr/>
        </p:nvSpPr>
        <p:spPr>
          <a:xfrm>
            <a:off x="457200" y="3337560"/>
            <a:ext cx="1371600" cy="914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tIns="274320"/>
          <a:lstStyle/>
          <a:p>
            <a:pPr algn="ctr"/>
            <a:r>
              <a:rPr sz="1200" b="1">
                <a:solidFill>
                  <a:srgbClr val="FFFFFF"/>
                </a:solidFill>
                <a:latin typeface="Calibri"/>
              </a:rPr>
              <a:t>~08:00 EDT</a:t>
            </a:r>
          </a:p>
        </p:txBody>
      </p:sp>
      <p:sp>
        <p:nvSpPr>
          <p:cNvPr id="10" name="Rectangle 9"/>
          <p:cNvSpPr/>
          <p:nvPr/>
        </p:nvSpPr>
        <p:spPr>
          <a:xfrm>
            <a:off x="1828800" y="3337560"/>
            <a:ext cx="9902952" cy="91440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tIns="109728" lIns="182880" wrap="square"/>
          <a:lstStyle/>
          <a:p>
            <a:pPr algn="ctr"/>
            <a:r>
              <a:rPr sz="1300" b="1">
                <a:solidFill>
                  <a:srgbClr val="4A90E2"/>
                </a:solidFill>
                <a:latin typeface="Calibri"/>
              </a:rPr>
              <a:t>RED-TEAM REVIEW (CONDITIONAL)</a:t>
            </a:r>
          </a:p>
          <a:p>
            <a:pPr>
              <a:spcBef>
                <a:spcPts val="300"/>
              </a:spcBef>
            </a:pPr>
            <a:r>
              <a:rPr sz="1000">
                <a:solidFill>
                  <a:srgbClr val="333333"/>
                </a:solidFill>
                <a:latin typeface="Calibri"/>
              </a:rPr>
              <a:t>red-team-analyst · ONLY if any finding has WEP ≥ very_likely · reads 1 finding at a time · writes red_team_review section</a:t>
            </a:r>
          </a:p>
        </p:txBody>
      </p:sp>
      <p:sp>
        <p:nvSpPr>
          <p:cNvPr id="11" name="Rectangle 10"/>
          <p:cNvSpPr/>
          <p:nvPr/>
        </p:nvSpPr>
        <p:spPr>
          <a:xfrm>
            <a:off x="457200" y="4297680"/>
            <a:ext cx="1371600" cy="914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tIns="274320"/>
          <a:lstStyle/>
          <a:p>
            <a:pPr algn="ctr"/>
            <a:r>
              <a:rPr sz="1200" b="1">
                <a:solidFill>
                  <a:srgbClr val="FFFFFF"/>
                </a:solidFill>
                <a:latin typeface="Calibri"/>
              </a:rPr>
              <a:t>~08:05 EDT</a:t>
            </a:r>
          </a:p>
        </p:txBody>
      </p:sp>
      <p:sp>
        <p:nvSpPr>
          <p:cNvPr id="12" name="Rectangle 11"/>
          <p:cNvSpPr/>
          <p:nvPr/>
        </p:nvSpPr>
        <p:spPr>
          <a:xfrm>
            <a:off x="1828800" y="4297680"/>
            <a:ext cx="9902952" cy="91440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tIns="109728" lIns="182880" wrap="square"/>
          <a:lstStyle/>
          <a:p>
            <a:pPr algn="ctr"/>
            <a:r>
              <a:rPr sz="1300" b="1">
                <a:solidFill>
                  <a:srgbClr val="4A90E2"/>
                </a:solidFill>
                <a:latin typeface="Calibri"/>
              </a:rPr>
              <a:t>BRIEF COMPOSITION</a:t>
            </a:r>
          </a:p>
          <a:p>
            <a:pPr>
              <a:spcBef>
                <a:spcPts val="300"/>
              </a:spcBef>
            </a:pPr>
            <a:r>
              <a:rPr sz="1000">
                <a:solidFill>
                  <a:srgbClr val="333333"/>
                </a:solidFill>
                <a:latin typeface="Calibri"/>
              </a:rPr>
              <a:t>briefer · reads findings + coverage-log + watch-config · composes Layer 1 + Layer 2 · 13-item preflight · regenerates failed sections</a:t>
            </a:r>
          </a:p>
        </p:txBody>
      </p:sp>
      <p:sp>
        <p:nvSpPr>
          <p:cNvPr id="13" name="Rectangle 12"/>
          <p:cNvSpPr/>
          <p:nvPr/>
        </p:nvSpPr>
        <p:spPr>
          <a:xfrm>
            <a:off x="457200" y="5257800"/>
            <a:ext cx="1371600" cy="914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tIns="274320"/>
          <a:lstStyle/>
          <a:p>
            <a:pPr algn="ctr"/>
            <a:r>
              <a:rPr sz="1200" b="1">
                <a:solidFill>
                  <a:srgbClr val="FFFFFF"/>
                </a:solidFill>
                <a:latin typeface="Calibri"/>
              </a:rPr>
              <a:t>~08:08 EDT</a:t>
            </a:r>
          </a:p>
        </p:txBody>
      </p:sp>
      <p:sp>
        <p:nvSpPr>
          <p:cNvPr id="14" name="Rectangle 13"/>
          <p:cNvSpPr/>
          <p:nvPr/>
        </p:nvSpPr>
        <p:spPr>
          <a:xfrm>
            <a:off x="1828800" y="5257800"/>
            <a:ext cx="9902952" cy="91440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tIns="109728" lIns="182880" wrap="square"/>
          <a:lstStyle/>
          <a:p>
            <a:pPr algn="ctr"/>
            <a:r>
              <a:rPr sz="1300" b="1">
                <a:solidFill>
                  <a:srgbClr val="4A90E2"/>
                </a:solidFill>
                <a:latin typeface="Calibri"/>
              </a:rPr>
              <a:t>SHIP</a:t>
            </a:r>
          </a:p>
          <a:p>
            <a:pPr>
              <a:spcBef>
                <a:spcPts val="300"/>
              </a:spcBef>
            </a:pPr>
            <a:r>
              <a:rPr sz="1000">
                <a:solidFill>
                  <a:srgbClr val="333333"/>
                </a:solidFill>
                <a:latin typeface="Calibri"/>
              </a:rPr>
              <a:t>librarian · LEGAL-POLICY scan · extract Layer 2 to temp file · discord-post.sh #intel-briefs · splunk-log.sh brief_published · git commit + push</a:t>
            </a:r>
          </a:p>
        </p:txBody>
      </p:sp>
      <p:sp>
        <p:nvSpPr>
          <p:cNvPr id="15" name="TextBox 14"/>
          <p:cNvSpPr txBox="1"/>
          <p:nvPr/>
        </p:nvSpPr>
        <p:spPr>
          <a:xfrm>
            <a:off x="457200" y="6446520"/>
            <a:ext cx="11274552" cy="274320"/>
          </a:xfrm>
          <a:prstGeom prst="rect">
            <a:avLst/>
          </a:prstGeom>
          <a:noFill/>
        </p:spPr>
        <p:txBody>
          <a:bodyPr wrap="none">
            <a:spAutoFit/>
          </a:bodyPr>
          <a:lstStyle/>
          <a:p>
            <a:pPr algn="l"/>
            <a:r>
              <a:rPr sz="800" i="1">
                <a:solidFill>
                  <a:srgbClr val="666666"/>
                </a:solidFill>
                <a:latin typeface="Calibri"/>
              </a:rPr>
              <a:t>Archimedes · Architecture Walkthrough</a:t>
            </a:r>
          </a:p>
        </p:txBody>
      </p:sp>
      <p:sp>
        <p:nvSpPr>
          <p:cNvPr id="16" name="TextBox 15"/>
          <p:cNvSpPr txBox="1"/>
          <p:nvPr/>
        </p:nvSpPr>
        <p:spPr>
          <a:xfrm>
            <a:off x="10515600" y="6446520"/>
            <a:ext cx="1188720" cy="274320"/>
          </a:xfrm>
          <a:prstGeom prst="rect">
            <a:avLst/>
          </a:prstGeom>
          <a:noFill/>
        </p:spPr>
        <p:txBody>
          <a:bodyPr wrap="none">
            <a:spAutoFit/>
          </a:bodyPr>
          <a:lstStyle/>
          <a:p>
            <a:pPr algn="r"/>
            <a:r>
              <a:rPr sz="800">
                <a:solidFill>
                  <a:srgbClr val="666666"/>
                </a:solidFill>
                <a:latin typeface="Calibri"/>
              </a:rPr>
              <a:t>19 / 32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28600"/>
          </a:xfrm>
          <a:prstGeom prst="rect">
            <a:avLst/>
          </a:prstGeom>
          <a:solidFill>
            <a:srgbClr val="4A90E2"/>
          </a:solidFill>
          <a:ln>
            <a:noFill/>
          </a:ln>
        </p:spPr>
        <p:style>
          <a:lnRef idx="1">
            <a:schemeClr val="accent1"/>
          </a:lnRef>
          <a:fillRef idx="3">
            <a:schemeClr val="accent1"/>
          </a:fillRef>
          <a:effectRef idx="2">
            <a:schemeClr val="accent1"/>
          </a:effectRef>
          <a:fontRef idx="minor">
            <a:schemeClr val="lt1"/>
          </a:fontRef>
        </p:style>
        <p:txBody>
          <a:bodyPr rtlCol="0" anchor="ctr" tIns="18288" lIns="457200"/>
          <a:lstStyle/>
          <a:p>
            <a:pPr algn="ctr"/>
            <a:r>
              <a:rPr sz="1000" b="1">
                <a:solidFill>
                  <a:srgbClr val="FFFFFF"/>
                </a:solidFill>
                <a:latin typeface="Calibri"/>
              </a:rPr>
              <a:t>§4  ·  Pipelines</a:t>
            </a:r>
          </a:p>
        </p:txBody>
      </p:sp>
      <p:sp>
        <p:nvSpPr>
          <p:cNvPr id="3" name="TextBox 2"/>
          <p:cNvSpPr txBox="1"/>
          <p:nvPr/>
        </p:nvSpPr>
        <p:spPr>
          <a:xfrm>
            <a:off x="457200" y="274320"/>
            <a:ext cx="11274552" cy="640080"/>
          </a:xfrm>
          <a:prstGeom prst="rect">
            <a:avLst/>
          </a:prstGeom>
          <a:noFill/>
        </p:spPr>
        <p:txBody>
          <a:bodyPr wrap="square">
            <a:spAutoFit/>
          </a:bodyPr>
          <a:lstStyle/>
          <a:p>
            <a:pPr algn="l"/>
            <a:r>
              <a:rPr sz="2800" b="1">
                <a:solidFill>
                  <a:srgbClr val="1F3A5F"/>
                </a:solidFill>
                <a:latin typeface="Calibri"/>
              </a:rPr>
              <a:t>FLASH pipeline — async, faster</a:t>
            </a:r>
          </a:p>
        </p:txBody>
      </p:sp>
      <p:sp>
        <p:nvSpPr>
          <p:cNvPr id="4" name="TextBox 3"/>
          <p:cNvSpPr txBox="1"/>
          <p:nvPr/>
        </p:nvSpPr>
        <p:spPr>
          <a:xfrm>
            <a:off x="457200" y="914400"/>
            <a:ext cx="11274552" cy="365760"/>
          </a:xfrm>
          <a:prstGeom prst="rect">
            <a:avLst/>
          </a:prstGeom>
          <a:noFill/>
        </p:spPr>
        <p:txBody>
          <a:bodyPr wrap="square">
            <a:spAutoFit/>
          </a:bodyPr>
          <a:lstStyle/>
          <a:p>
            <a:r>
              <a:rPr sz="1300" i="1">
                <a:solidFill>
                  <a:srgbClr val="666666"/>
                </a:solidFill>
                <a:latin typeface="Calibri"/>
              </a:rPr>
              <a:t>Every 6h. Same subagents, narrower scope. Quiet hours + critical override.</a:t>
            </a:r>
          </a:p>
        </p:txBody>
      </p:sp>
      <p:sp>
        <p:nvSpPr>
          <p:cNvPr id="5" name="Rectangle 4"/>
          <p:cNvSpPr/>
          <p:nvPr/>
        </p:nvSpPr>
        <p:spPr>
          <a:xfrm>
            <a:off x="380849" y="1371600"/>
            <a:ext cx="3749039" cy="457200"/>
          </a:xfrm>
          <a:prstGeom prst="rect">
            <a:avLst/>
          </a:prstGeom>
          <a:solidFill>
            <a:srgbClr val="4A90E2"/>
          </a:solidFill>
          <a:ln>
            <a:noFill/>
          </a:ln>
        </p:spPr>
        <p:style>
          <a:lnRef idx="1">
            <a:schemeClr val="accent1"/>
          </a:lnRef>
          <a:fillRef idx="3">
            <a:schemeClr val="accent1"/>
          </a:fillRef>
          <a:effectRef idx="2">
            <a:schemeClr val="accent1"/>
          </a:effectRef>
          <a:fontRef idx="minor">
            <a:schemeClr val="lt1"/>
          </a:fontRef>
        </p:style>
        <p:txBody>
          <a:bodyPr rtlCol="0" anchor="ctr" tIns="73152"/>
          <a:lstStyle/>
          <a:p>
            <a:pPr algn="ctr"/>
            <a:r>
              <a:rPr sz="1300" b="1">
                <a:solidFill>
                  <a:srgbClr val="FFFFFF"/>
                </a:solidFill>
                <a:latin typeface="Calibri"/>
              </a:rPr>
              <a:t>7 TRIGGERS</a:t>
            </a:r>
          </a:p>
        </p:txBody>
      </p:sp>
      <p:sp>
        <p:nvSpPr>
          <p:cNvPr id="6" name="Rectangle 5"/>
          <p:cNvSpPr/>
          <p:nvPr/>
        </p:nvSpPr>
        <p:spPr>
          <a:xfrm>
            <a:off x="380849" y="1874520"/>
            <a:ext cx="3749039" cy="4343400"/>
          </a:xfrm>
          <a:prstGeom prst="rect">
            <a:avLst/>
          </a:prstGeom>
          <a:solidFill>
            <a:srgbClr val="FFFFFF"/>
          </a:solidFill>
          <a:ln w="19050">
            <a:solidFill>
              <a:srgbClr val="4A90E2"/>
            </a:solidFill>
          </a:ln>
        </p:spPr>
        <p:style>
          <a:lnRef idx="1">
            <a:schemeClr val="accent1"/>
          </a:lnRef>
          <a:fillRef idx="3">
            <a:schemeClr val="accent1"/>
          </a:fillRef>
          <a:effectRef idx="2">
            <a:schemeClr val="accent1"/>
          </a:effectRef>
          <a:fontRef idx="minor">
            <a:schemeClr val="lt1"/>
          </a:fontRef>
        </p:style>
        <p:txBody>
          <a:bodyPr rtlCol="0" anchor="ctr" tIns="182880" lIns="182880" wrap="square"/>
          <a:lstStyle/>
          <a:p>
            <a:pPr algn="ctr"/>
            <a:r>
              <a:rPr sz="1100">
                <a:solidFill>
                  <a:srgbClr val="333333"/>
                </a:solidFill>
                <a:latin typeface="Consolas"/>
              </a:rPr>
              <a:t>1.  Critical CVE actively exploited
2.  New attribution to a tracked actor
3.  Major breach in scope
4.  Tracked actor TTP change
5.  Sector-specific zero-day
6.  Zero-day with no patch
7.  Supply-chain compromise</a:t>
            </a:r>
          </a:p>
        </p:txBody>
      </p:sp>
      <p:sp>
        <p:nvSpPr>
          <p:cNvPr id="7" name="Rectangle 6"/>
          <p:cNvSpPr/>
          <p:nvPr/>
        </p:nvSpPr>
        <p:spPr>
          <a:xfrm>
            <a:off x="4221328" y="1371600"/>
            <a:ext cx="3749039" cy="4572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tIns="73152"/>
          <a:lstStyle/>
          <a:p>
            <a:pPr algn="ctr"/>
            <a:r>
              <a:rPr sz="1300" b="1">
                <a:solidFill>
                  <a:srgbClr val="FFFFFF"/>
                </a:solidFill>
                <a:latin typeface="Calibri"/>
              </a:rPr>
              <a:t>QUIET HOURS LOGIC</a:t>
            </a:r>
          </a:p>
        </p:txBody>
      </p:sp>
      <p:sp>
        <p:nvSpPr>
          <p:cNvPr id="8" name="Rectangle 7"/>
          <p:cNvSpPr/>
          <p:nvPr/>
        </p:nvSpPr>
        <p:spPr>
          <a:xfrm>
            <a:off x="4221328" y="1874520"/>
            <a:ext cx="3749039" cy="4343400"/>
          </a:xfrm>
          <a:prstGeom prst="rect">
            <a:avLst/>
          </a:prstGeom>
          <a:solidFill>
            <a:srgbClr val="FFFFFF"/>
          </a:solidFill>
          <a:ln w="19050">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tIns="182880" lIns="182880" wrap="square"/>
          <a:lstStyle/>
          <a:p>
            <a:pPr algn="ctr"/>
            <a:r>
              <a:rPr sz="1100">
                <a:solidFill>
                  <a:srgbClr val="333333"/>
                </a:solidFill>
                <a:latin typeface="Consolas"/>
              </a:rPr>
              <a:t>Active hours: 09:00 – 21:00 EDT
Inside active hours → POST
Outside + critical override → POST
Outside + no override → QUEUE
Critical override = ALL of:
  · CVSS 10
  · Confirmed active exploitation
  · Tracked actor named
  · A&amp;D watchlist hit</a:t>
            </a:r>
          </a:p>
        </p:txBody>
      </p:sp>
      <p:sp>
        <p:nvSpPr>
          <p:cNvPr id="9" name="Rectangle 8"/>
          <p:cNvSpPr/>
          <p:nvPr/>
        </p:nvSpPr>
        <p:spPr>
          <a:xfrm>
            <a:off x="8061807" y="1371600"/>
            <a:ext cx="3749039" cy="4572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tIns="73152"/>
          <a:lstStyle/>
          <a:p>
            <a:pPr algn="ctr"/>
            <a:r>
              <a:rPr sz="1300" b="1">
                <a:solidFill>
                  <a:srgbClr val="FFFFFF"/>
                </a:solidFill>
                <a:latin typeface="Calibri"/>
              </a:rPr>
              <a:t>72h AUTO-DOWNGRADE</a:t>
            </a:r>
          </a:p>
        </p:txBody>
      </p:sp>
      <p:sp>
        <p:nvSpPr>
          <p:cNvPr id="10" name="Rectangle 9"/>
          <p:cNvSpPr/>
          <p:nvPr/>
        </p:nvSpPr>
        <p:spPr>
          <a:xfrm>
            <a:off x="8061807" y="1874520"/>
            <a:ext cx="3749039" cy="4343400"/>
          </a:xfrm>
          <a:prstGeom prst="rect">
            <a:avLst/>
          </a:prstGeom>
          <a:solidFill>
            <a:srgbClr val="FFFFFF"/>
          </a:solidFill>
          <a:ln w="1905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tIns="182880" lIns="182880" wrap="square"/>
          <a:lstStyle/>
          <a:p>
            <a:pPr algn="ctr"/>
            <a:r>
              <a:rPr sz="1100">
                <a:solidFill>
                  <a:srgbClr val="333333"/>
                </a:solidFill>
                <a:latin typeface="Consolas"/>
              </a:rPr>
              <a:t>Single-source FLASHes ship with a
72h clock. If no independent A/B-grade
corroboration arrives within window:
  attribution leg drops A2 → C3
  campaign forensics hold
  retraction additive in coverage log
Live-tested 2026-05-09 on the
MuddyWater / Rapid7 FLASH-0002.
Fired clean.</a:t>
            </a:r>
          </a:p>
        </p:txBody>
      </p:sp>
      <p:sp>
        <p:nvSpPr>
          <p:cNvPr id="11" name="TextBox 10"/>
          <p:cNvSpPr txBox="1"/>
          <p:nvPr/>
        </p:nvSpPr>
        <p:spPr>
          <a:xfrm>
            <a:off x="457200" y="6446520"/>
            <a:ext cx="11274552" cy="274320"/>
          </a:xfrm>
          <a:prstGeom prst="rect">
            <a:avLst/>
          </a:prstGeom>
          <a:noFill/>
        </p:spPr>
        <p:txBody>
          <a:bodyPr wrap="none">
            <a:spAutoFit/>
          </a:bodyPr>
          <a:lstStyle/>
          <a:p>
            <a:pPr algn="l"/>
            <a:r>
              <a:rPr sz="800" i="1">
                <a:solidFill>
                  <a:srgbClr val="666666"/>
                </a:solidFill>
                <a:latin typeface="Calibri"/>
              </a:rPr>
              <a:t>Archimedes · Architecture Walkthrough</a:t>
            </a:r>
          </a:p>
        </p:txBody>
      </p:sp>
      <p:sp>
        <p:nvSpPr>
          <p:cNvPr id="12" name="TextBox 11"/>
          <p:cNvSpPr txBox="1"/>
          <p:nvPr/>
        </p:nvSpPr>
        <p:spPr>
          <a:xfrm>
            <a:off x="10515600" y="6446520"/>
            <a:ext cx="1188720" cy="274320"/>
          </a:xfrm>
          <a:prstGeom prst="rect">
            <a:avLst/>
          </a:prstGeom>
          <a:noFill/>
        </p:spPr>
        <p:txBody>
          <a:bodyPr wrap="none">
            <a:spAutoFit/>
          </a:bodyPr>
          <a:lstStyle/>
          <a:p>
            <a:pPr algn="r"/>
            <a:r>
              <a:rPr sz="800">
                <a:solidFill>
                  <a:srgbClr val="666666"/>
                </a:solidFill>
                <a:latin typeface="Calibri"/>
              </a:rPr>
              <a:t>20 / 32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28600"/>
          </a:xfrm>
          <a:prstGeom prst="rect">
            <a:avLst/>
          </a:prstGeom>
          <a:solidFill>
            <a:srgbClr val="4A90E2"/>
          </a:solidFill>
          <a:ln>
            <a:noFill/>
          </a:ln>
        </p:spPr>
        <p:style>
          <a:lnRef idx="1">
            <a:schemeClr val="accent1"/>
          </a:lnRef>
          <a:fillRef idx="3">
            <a:schemeClr val="accent1"/>
          </a:fillRef>
          <a:effectRef idx="2">
            <a:schemeClr val="accent1"/>
          </a:effectRef>
          <a:fontRef idx="minor">
            <a:schemeClr val="lt1"/>
          </a:fontRef>
        </p:style>
        <p:txBody>
          <a:bodyPr rtlCol="0" anchor="ctr" tIns="18288" lIns="457200"/>
          <a:lstStyle/>
          <a:p>
            <a:pPr algn="ctr"/>
            <a:r>
              <a:rPr sz="1000" b="1">
                <a:solidFill>
                  <a:srgbClr val="FFFFFF"/>
                </a:solidFill>
                <a:latin typeface="Calibri"/>
              </a:rPr>
              <a:t>§4  ·  Pipelines</a:t>
            </a:r>
          </a:p>
        </p:txBody>
      </p:sp>
      <p:sp>
        <p:nvSpPr>
          <p:cNvPr id="3" name="TextBox 2"/>
          <p:cNvSpPr txBox="1"/>
          <p:nvPr/>
        </p:nvSpPr>
        <p:spPr>
          <a:xfrm>
            <a:off x="457200" y="274320"/>
            <a:ext cx="11274552" cy="640080"/>
          </a:xfrm>
          <a:prstGeom prst="rect">
            <a:avLst/>
          </a:prstGeom>
          <a:noFill/>
        </p:spPr>
        <p:txBody>
          <a:bodyPr wrap="square">
            <a:spAutoFit/>
          </a:bodyPr>
          <a:lstStyle/>
          <a:p>
            <a:pPr algn="l"/>
            <a:r>
              <a:rPr sz="2800" b="1">
                <a:solidFill>
                  <a:srgbClr val="1F3A5F"/>
                </a:solidFill>
                <a:latin typeface="Calibri"/>
              </a:rPr>
              <a:t>On-demand commands — Discord bridge</a:t>
            </a:r>
          </a:p>
        </p:txBody>
      </p:sp>
      <p:sp>
        <p:nvSpPr>
          <p:cNvPr id="4" name="TextBox 3"/>
          <p:cNvSpPr txBox="1"/>
          <p:nvPr/>
        </p:nvSpPr>
        <p:spPr>
          <a:xfrm>
            <a:off x="457200" y="914400"/>
            <a:ext cx="11274552" cy="365760"/>
          </a:xfrm>
          <a:prstGeom prst="rect">
            <a:avLst/>
          </a:prstGeom>
          <a:noFill/>
        </p:spPr>
        <p:txBody>
          <a:bodyPr wrap="square">
            <a:spAutoFit/>
          </a:bodyPr>
          <a:lstStyle/>
          <a:p>
            <a:r>
              <a:rPr sz="1300" i="1">
                <a:solidFill>
                  <a:srgbClr val="666666"/>
                </a:solidFill>
                <a:latin typeface="Calibri"/>
              </a:rPr>
              <a:t>scripts/discord_listener.py listens for slash commands; routes to orchestrator.</a:t>
            </a:r>
          </a:p>
        </p:txBody>
      </p:sp>
      <p:sp>
        <p:nvSpPr>
          <p:cNvPr id="5" name="Rectangle 4"/>
          <p:cNvSpPr/>
          <p:nvPr/>
        </p:nvSpPr>
        <p:spPr>
          <a:xfrm>
            <a:off x="457200" y="1371600"/>
            <a:ext cx="2286000" cy="4572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tIns="73152"/>
          <a:lstStyle/>
          <a:p>
            <a:pPr algn="ctr"/>
            <a:r>
              <a:rPr sz="1100" b="1">
                <a:solidFill>
                  <a:srgbClr val="FFFFFF"/>
                </a:solidFill>
                <a:latin typeface="Calibri"/>
              </a:rPr>
              <a:t>  Command</a:t>
            </a:r>
          </a:p>
        </p:txBody>
      </p:sp>
      <p:sp>
        <p:nvSpPr>
          <p:cNvPr id="6" name="Rectangle 5"/>
          <p:cNvSpPr/>
          <p:nvPr/>
        </p:nvSpPr>
        <p:spPr>
          <a:xfrm>
            <a:off x="2743200" y="1371600"/>
            <a:ext cx="5303520" cy="4572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tIns="73152"/>
          <a:lstStyle/>
          <a:p>
            <a:pPr algn="ctr"/>
            <a:r>
              <a:rPr sz="1100" b="1">
                <a:solidFill>
                  <a:srgbClr val="FFFFFF"/>
                </a:solidFill>
                <a:latin typeface="Calibri"/>
              </a:rPr>
              <a:t>  Purpose</a:t>
            </a:r>
          </a:p>
        </p:txBody>
      </p:sp>
      <p:sp>
        <p:nvSpPr>
          <p:cNvPr id="7" name="Rectangle 6"/>
          <p:cNvSpPr/>
          <p:nvPr/>
        </p:nvSpPr>
        <p:spPr>
          <a:xfrm>
            <a:off x="8046720" y="1371600"/>
            <a:ext cx="3685032" cy="4572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tIns="73152"/>
          <a:lstStyle/>
          <a:p>
            <a:pPr algn="ctr"/>
            <a:r>
              <a:rPr sz="1100" b="1">
                <a:solidFill>
                  <a:srgbClr val="FFFFFF"/>
                </a:solidFill>
                <a:latin typeface="Calibri"/>
              </a:rPr>
              <a:t>  Pipeline invoked</a:t>
            </a:r>
          </a:p>
        </p:txBody>
      </p:sp>
      <p:sp>
        <p:nvSpPr>
          <p:cNvPr id="8" name="Rectangle 7"/>
          <p:cNvSpPr/>
          <p:nvPr/>
        </p:nvSpPr>
        <p:spPr>
          <a:xfrm>
            <a:off x="457200" y="1828800"/>
            <a:ext cx="228600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b="1">
                <a:solidFill>
                  <a:srgbClr val="333333"/>
                </a:solidFill>
                <a:latin typeface="Calibri"/>
              </a:rPr>
              <a:t>  /investigate &lt;target&gt;</a:t>
            </a:r>
          </a:p>
        </p:txBody>
      </p:sp>
      <p:sp>
        <p:nvSpPr>
          <p:cNvPr id="9" name="Rectangle 8"/>
          <p:cNvSpPr/>
          <p:nvPr/>
        </p:nvSpPr>
        <p:spPr>
          <a:xfrm>
            <a:off x="2743200" y="1828800"/>
            <a:ext cx="530352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Deep dive on actor / domain / hash / CVE / campaign</a:t>
            </a:r>
          </a:p>
        </p:txBody>
      </p:sp>
      <p:sp>
        <p:nvSpPr>
          <p:cNvPr id="10" name="Rectangle 9"/>
          <p:cNvSpPr/>
          <p:nvPr/>
        </p:nvSpPr>
        <p:spPr>
          <a:xfrm>
            <a:off x="8046720" y="1828800"/>
            <a:ext cx="3685032"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collector → grader → analyst → briefer</a:t>
            </a:r>
          </a:p>
        </p:txBody>
      </p:sp>
      <p:sp>
        <p:nvSpPr>
          <p:cNvPr id="11" name="Rectangle 10"/>
          <p:cNvSpPr/>
          <p:nvPr/>
        </p:nvSpPr>
        <p:spPr>
          <a:xfrm>
            <a:off x="457200" y="2286000"/>
            <a:ext cx="2286000" cy="45720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b="1">
                <a:solidFill>
                  <a:srgbClr val="333333"/>
                </a:solidFill>
                <a:latin typeface="Calibri"/>
              </a:rPr>
              <a:t>  /ioc-hunt &lt;indicator&gt;</a:t>
            </a:r>
          </a:p>
        </p:txBody>
      </p:sp>
      <p:sp>
        <p:nvSpPr>
          <p:cNvPr id="12" name="Rectangle 11"/>
          <p:cNvSpPr/>
          <p:nvPr/>
        </p:nvSpPr>
        <p:spPr>
          <a:xfrm>
            <a:off x="2743200" y="2286000"/>
            <a:ext cx="5303520" cy="45720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Check IOC against repo + Splunk + external sources</a:t>
            </a:r>
          </a:p>
        </p:txBody>
      </p:sp>
      <p:sp>
        <p:nvSpPr>
          <p:cNvPr id="13" name="Rectangle 12"/>
          <p:cNvSpPr/>
          <p:nvPr/>
        </p:nvSpPr>
        <p:spPr>
          <a:xfrm>
            <a:off x="8046720" y="2286000"/>
            <a:ext cx="3685032" cy="45720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collector → librarian (Splunk search)</a:t>
            </a:r>
          </a:p>
        </p:txBody>
      </p:sp>
      <p:sp>
        <p:nvSpPr>
          <p:cNvPr id="14" name="Rectangle 13"/>
          <p:cNvSpPr/>
          <p:nvPr/>
        </p:nvSpPr>
        <p:spPr>
          <a:xfrm>
            <a:off x="457200" y="2743200"/>
            <a:ext cx="228600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b="1">
                <a:solidFill>
                  <a:srgbClr val="333333"/>
                </a:solidFill>
                <a:latin typeface="Calibri"/>
              </a:rPr>
              <a:t>  /cve &lt;cve-id&gt;</a:t>
            </a:r>
          </a:p>
        </p:txBody>
      </p:sp>
      <p:sp>
        <p:nvSpPr>
          <p:cNvPr id="15" name="Rectangle 14"/>
          <p:cNvSpPr/>
          <p:nvPr/>
        </p:nvSpPr>
        <p:spPr>
          <a:xfrm>
            <a:off x="2743200" y="2743200"/>
            <a:ext cx="530352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Vuln research deep-dive against NVD + KEV + actors</a:t>
            </a:r>
          </a:p>
        </p:txBody>
      </p:sp>
      <p:sp>
        <p:nvSpPr>
          <p:cNvPr id="16" name="Rectangle 15"/>
          <p:cNvSpPr/>
          <p:nvPr/>
        </p:nvSpPr>
        <p:spPr>
          <a:xfrm>
            <a:off x="8046720" y="2743200"/>
            <a:ext cx="3685032"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vuln-tracker → briefer</a:t>
            </a:r>
          </a:p>
        </p:txBody>
      </p:sp>
      <p:sp>
        <p:nvSpPr>
          <p:cNvPr id="17" name="Rectangle 16"/>
          <p:cNvSpPr/>
          <p:nvPr/>
        </p:nvSpPr>
        <p:spPr>
          <a:xfrm>
            <a:off x="457200" y="3200400"/>
            <a:ext cx="2286000" cy="45720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b="1">
                <a:solidFill>
                  <a:srgbClr val="333333"/>
                </a:solidFill>
                <a:latin typeface="Calibri"/>
              </a:rPr>
              <a:t>  /new-actor &lt;name&gt;</a:t>
            </a:r>
          </a:p>
        </p:txBody>
      </p:sp>
      <p:sp>
        <p:nvSpPr>
          <p:cNvPr id="18" name="Rectangle 17"/>
          <p:cNvSpPr/>
          <p:nvPr/>
        </p:nvSpPr>
        <p:spPr>
          <a:xfrm>
            <a:off x="2743200" y="3200400"/>
            <a:ext cx="5303520" cy="45720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Scaffold new actor dossier from scratch</a:t>
            </a:r>
          </a:p>
        </p:txBody>
      </p:sp>
      <p:sp>
        <p:nvSpPr>
          <p:cNvPr id="19" name="Rectangle 18"/>
          <p:cNvSpPr/>
          <p:nvPr/>
        </p:nvSpPr>
        <p:spPr>
          <a:xfrm>
            <a:off x="8046720" y="3200400"/>
            <a:ext cx="3685032" cy="45720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actor-profiler → librarian</a:t>
            </a:r>
          </a:p>
        </p:txBody>
      </p:sp>
      <p:sp>
        <p:nvSpPr>
          <p:cNvPr id="20" name="Rectangle 19"/>
          <p:cNvSpPr/>
          <p:nvPr/>
        </p:nvSpPr>
        <p:spPr>
          <a:xfrm>
            <a:off x="457200" y="3657600"/>
            <a:ext cx="228600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b="1">
                <a:solidFill>
                  <a:srgbClr val="333333"/>
                </a:solidFill>
                <a:latin typeface="Calibri"/>
              </a:rPr>
              <a:t>  /update-tracking</a:t>
            </a:r>
          </a:p>
        </p:txBody>
      </p:sp>
      <p:sp>
        <p:nvSpPr>
          <p:cNvPr id="21" name="Rectangle 20"/>
          <p:cNvSpPr/>
          <p:nvPr/>
        </p:nvSpPr>
        <p:spPr>
          <a:xfrm>
            <a:off x="2743200" y="3657600"/>
            <a:ext cx="530352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Refresh actor whose 90-day review is nearest due</a:t>
            </a:r>
          </a:p>
        </p:txBody>
      </p:sp>
      <p:sp>
        <p:nvSpPr>
          <p:cNvPr id="22" name="Rectangle 21"/>
          <p:cNvSpPr/>
          <p:nvPr/>
        </p:nvSpPr>
        <p:spPr>
          <a:xfrm>
            <a:off x="8046720" y="3657600"/>
            <a:ext cx="3685032"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actor-profiler → librarian</a:t>
            </a:r>
          </a:p>
        </p:txBody>
      </p:sp>
      <p:sp>
        <p:nvSpPr>
          <p:cNvPr id="23" name="Rectangle 22"/>
          <p:cNvSpPr/>
          <p:nvPr/>
        </p:nvSpPr>
        <p:spPr>
          <a:xfrm>
            <a:off x="457200" y="4114800"/>
            <a:ext cx="2286000" cy="45720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b="1">
                <a:solidFill>
                  <a:srgbClr val="333333"/>
                </a:solidFill>
                <a:latin typeface="Calibri"/>
              </a:rPr>
              <a:t>  /approve-scoring &lt;id&gt;</a:t>
            </a:r>
          </a:p>
        </p:txBody>
      </p:sp>
      <p:sp>
        <p:nvSpPr>
          <p:cNvPr id="24" name="Rectangle 23"/>
          <p:cNvSpPr/>
          <p:nvPr/>
        </p:nvSpPr>
        <p:spPr>
          <a:xfrm>
            <a:off x="2743200" y="4114800"/>
            <a:ext cx="5303520" cy="45720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Operator sign-off on a HIGH actor threat-box scoring</a:t>
            </a:r>
          </a:p>
        </p:txBody>
      </p:sp>
      <p:sp>
        <p:nvSpPr>
          <p:cNvPr id="25" name="Rectangle 24"/>
          <p:cNvSpPr/>
          <p:nvPr/>
        </p:nvSpPr>
        <p:spPr>
          <a:xfrm>
            <a:off x="8046720" y="4114800"/>
            <a:ext cx="3685032" cy="45720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actor-profiler → librarian</a:t>
            </a:r>
          </a:p>
        </p:txBody>
      </p:sp>
      <p:sp>
        <p:nvSpPr>
          <p:cNvPr id="26" name="Rectangle 25"/>
          <p:cNvSpPr/>
          <p:nvPr/>
        </p:nvSpPr>
        <p:spPr>
          <a:xfrm>
            <a:off x="457200" y="4572000"/>
            <a:ext cx="228600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b="1">
                <a:solidFill>
                  <a:srgbClr val="333333"/>
                </a:solidFill>
                <a:latin typeface="Calibri"/>
              </a:rPr>
              <a:t>  /brief &lt;type&gt;</a:t>
            </a:r>
          </a:p>
        </p:txBody>
      </p:sp>
      <p:sp>
        <p:nvSpPr>
          <p:cNvPr id="27" name="Rectangle 26"/>
          <p:cNvSpPr/>
          <p:nvPr/>
        </p:nvSpPr>
        <p:spPr>
          <a:xfrm>
            <a:off x="2743200" y="4572000"/>
            <a:ext cx="530352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Manually trigger a scheduled-type brief</a:t>
            </a:r>
          </a:p>
        </p:txBody>
      </p:sp>
      <p:sp>
        <p:nvSpPr>
          <p:cNvPr id="28" name="Rectangle 27"/>
          <p:cNvSpPr/>
          <p:nvPr/>
        </p:nvSpPr>
        <p:spPr>
          <a:xfrm>
            <a:off x="8046720" y="4572000"/>
            <a:ext cx="3685032"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full scheduled-brief pipeline</a:t>
            </a:r>
          </a:p>
        </p:txBody>
      </p:sp>
      <p:sp>
        <p:nvSpPr>
          <p:cNvPr id="29" name="Rectangle 28"/>
          <p:cNvSpPr/>
          <p:nvPr/>
        </p:nvSpPr>
        <p:spPr>
          <a:xfrm>
            <a:off x="457200" y="5029200"/>
            <a:ext cx="2286000" cy="45720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b="1">
                <a:solidFill>
                  <a:srgbClr val="333333"/>
                </a:solidFill>
                <a:latin typeface="Calibri"/>
              </a:rPr>
              <a:t>  /flash</a:t>
            </a:r>
          </a:p>
        </p:txBody>
      </p:sp>
      <p:sp>
        <p:nvSpPr>
          <p:cNvPr id="30" name="Rectangle 29"/>
          <p:cNvSpPr/>
          <p:nvPr/>
        </p:nvSpPr>
        <p:spPr>
          <a:xfrm>
            <a:off x="2743200" y="5029200"/>
            <a:ext cx="5303520" cy="45720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Manually run a FLASH sweep</a:t>
            </a:r>
          </a:p>
        </p:txBody>
      </p:sp>
      <p:sp>
        <p:nvSpPr>
          <p:cNvPr id="31" name="Rectangle 30"/>
          <p:cNvSpPr/>
          <p:nvPr/>
        </p:nvSpPr>
        <p:spPr>
          <a:xfrm>
            <a:off x="8046720" y="5029200"/>
            <a:ext cx="3685032" cy="45720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full FLASH pipeline</a:t>
            </a:r>
          </a:p>
        </p:txBody>
      </p:sp>
      <p:sp>
        <p:nvSpPr>
          <p:cNvPr id="32" name="Rectangle 31"/>
          <p:cNvSpPr/>
          <p:nvPr/>
        </p:nvSpPr>
        <p:spPr>
          <a:xfrm>
            <a:off x="457200" y="5486400"/>
            <a:ext cx="228600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b="1">
                <a:solidFill>
                  <a:srgbClr val="333333"/>
                </a:solidFill>
                <a:latin typeface="Calibri"/>
              </a:rPr>
              <a:t>  /help</a:t>
            </a:r>
          </a:p>
        </p:txBody>
      </p:sp>
      <p:sp>
        <p:nvSpPr>
          <p:cNvPr id="33" name="Rectangle 32"/>
          <p:cNvSpPr/>
          <p:nvPr/>
        </p:nvSpPr>
        <p:spPr>
          <a:xfrm>
            <a:off x="2743200" y="5486400"/>
            <a:ext cx="530352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List commands</a:t>
            </a:r>
          </a:p>
        </p:txBody>
      </p:sp>
      <p:sp>
        <p:nvSpPr>
          <p:cNvPr id="34" name="Rectangle 33"/>
          <p:cNvSpPr/>
          <p:nvPr/>
        </p:nvSpPr>
        <p:spPr>
          <a:xfrm>
            <a:off x="8046720" y="5486400"/>
            <a:ext cx="3685032"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discord_listener.py local</a:t>
            </a:r>
          </a:p>
        </p:txBody>
      </p:sp>
      <p:sp>
        <p:nvSpPr>
          <p:cNvPr id="35" name="Rounded Rectangle 34"/>
          <p:cNvSpPr/>
          <p:nvPr/>
        </p:nvSpPr>
        <p:spPr>
          <a:xfrm>
            <a:off x="457200" y="5669280"/>
            <a:ext cx="11274552" cy="640080"/>
          </a:xfrm>
          <a:prstGeom prst="roundRect">
            <a:avLst/>
          </a:prstGeom>
          <a:solidFill>
            <a:srgbClr val="F5F5F5"/>
          </a:solidFill>
          <a:ln w="1270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tIns="91440" lIns="182880" rIns="182880" wrap="square"/>
          <a:lstStyle/>
          <a:p>
            <a:pPr algn="ctr"/>
            <a:r>
              <a:rPr sz="1100" i="1">
                <a:solidFill>
                  <a:srgbClr val="333333"/>
                </a:solidFill>
                <a:latin typeface="Calibri"/>
              </a:rPr>
              <a:t>discord_listener.py runs as a Windows Task Scheduler entry — polls Discord for messages from DISCORD_OPERATOR_USER_ID only · validates the slash command · spawns `claude -p` with the command + args as the prompt · streams the response back to the channel · logs the exchange.</a:t>
            </a:r>
          </a:p>
        </p:txBody>
      </p:sp>
      <p:sp>
        <p:nvSpPr>
          <p:cNvPr id="36" name="TextBox 35"/>
          <p:cNvSpPr txBox="1"/>
          <p:nvPr/>
        </p:nvSpPr>
        <p:spPr>
          <a:xfrm>
            <a:off x="457200" y="6446520"/>
            <a:ext cx="11274552" cy="274320"/>
          </a:xfrm>
          <a:prstGeom prst="rect">
            <a:avLst/>
          </a:prstGeom>
          <a:noFill/>
        </p:spPr>
        <p:txBody>
          <a:bodyPr wrap="none">
            <a:spAutoFit/>
          </a:bodyPr>
          <a:lstStyle/>
          <a:p>
            <a:pPr algn="l"/>
            <a:r>
              <a:rPr sz="800" i="1">
                <a:solidFill>
                  <a:srgbClr val="666666"/>
                </a:solidFill>
                <a:latin typeface="Calibri"/>
              </a:rPr>
              <a:t>Archimedes · Architecture Walkthrough</a:t>
            </a:r>
          </a:p>
        </p:txBody>
      </p:sp>
      <p:sp>
        <p:nvSpPr>
          <p:cNvPr id="37" name="TextBox 36"/>
          <p:cNvSpPr txBox="1"/>
          <p:nvPr/>
        </p:nvSpPr>
        <p:spPr>
          <a:xfrm>
            <a:off x="10515600" y="6446520"/>
            <a:ext cx="1188720" cy="274320"/>
          </a:xfrm>
          <a:prstGeom prst="rect">
            <a:avLst/>
          </a:prstGeom>
          <a:noFill/>
        </p:spPr>
        <p:txBody>
          <a:bodyPr wrap="none">
            <a:spAutoFit/>
          </a:bodyPr>
          <a:lstStyle/>
          <a:p>
            <a:pPr algn="r"/>
            <a:r>
              <a:rPr sz="800">
                <a:solidFill>
                  <a:srgbClr val="666666"/>
                </a:solidFill>
                <a:latin typeface="Calibri"/>
              </a:rPr>
              <a:t>21 / 32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28600"/>
          </a:xfrm>
          <a:prstGeom prst="rect">
            <a:avLst/>
          </a:prstGeom>
          <a:solidFill>
            <a:srgbClr val="4A90E2"/>
          </a:solidFill>
          <a:ln>
            <a:noFill/>
          </a:ln>
        </p:spPr>
        <p:style>
          <a:lnRef idx="1">
            <a:schemeClr val="accent1"/>
          </a:lnRef>
          <a:fillRef idx="3">
            <a:schemeClr val="accent1"/>
          </a:fillRef>
          <a:effectRef idx="2">
            <a:schemeClr val="accent1"/>
          </a:effectRef>
          <a:fontRef idx="minor">
            <a:schemeClr val="lt1"/>
          </a:fontRef>
        </p:style>
        <p:txBody>
          <a:bodyPr rtlCol="0" anchor="ctr" tIns="18288" lIns="457200"/>
          <a:lstStyle/>
          <a:p>
            <a:pPr algn="ctr"/>
            <a:r>
              <a:rPr sz="1000" b="1">
                <a:solidFill>
                  <a:srgbClr val="FFFFFF"/>
                </a:solidFill>
                <a:latin typeface="Calibri"/>
              </a:rPr>
              <a:t>§4  ·  Pipelines</a:t>
            </a:r>
          </a:p>
        </p:txBody>
      </p:sp>
      <p:sp>
        <p:nvSpPr>
          <p:cNvPr id="3" name="TextBox 2"/>
          <p:cNvSpPr txBox="1"/>
          <p:nvPr/>
        </p:nvSpPr>
        <p:spPr>
          <a:xfrm>
            <a:off x="457200" y="274320"/>
            <a:ext cx="11274552" cy="640080"/>
          </a:xfrm>
          <a:prstGeom prst="rect">
            <a:avLst/>
          </a:prstGeom>
          <a:noFill/>
        </p:spPr>
        <p:txBody>
          <a:bodyPr wrap="square">
            <a:spAutoFit/>
          </a:bodyPr>
          <a:lstStyle/>
          <a:p>
            <a:pPr algn="l"/>
            <a:r>
              <a:rPr sz="2800" b="1">
                <a:solidFill>
                  <a:srgbClr val="1F3A5F"/>
                </a:solidFill>
                <a:latin typeface="Calibri"/>
              </a:rPr>
              <a:t>Layer 1 + Layer 2 — one file, two audiences</a:t>
            </a:r>
          </a:p>
        </p:txBody>
      </p:sp>
      <p:sp>
        <p:nvSpPr>
          <p:cNvPr id="4" name="TextBox 3"/>
          <p:cNvSpPr txBox="1"/>
          <p:nvPr/>
        </p:nvSpPr>
        <p:spPr>
          <a:xfrm>
            <a:off x="457200" y="914400"/>
            <a:ext cx="11274552" cy="365760"/>
          </a:xfrm>
          <a:prstGeom prst="rect">
            <a:avLst/>
          </a:prstGeom>
          <a:noFill/>
        </p:spPr>
        <p:txBody>
          <a:bodyPr wrap="square">
            <a:spAutoFit/>
          </a:bodyPr>
          <a:lstStyle/>
          <a:p>
            <a:r>
              <a:rPr sz="1300" i="1">
                <a:solidFill>
                  <a:srgbClr val="666666"/>
                </a:solidFill>
                <a:latin typeface="Calibri"/>
              </a:rPr>
              <a:t>Briefer writes both sections in one .md file. Librarian extracts Layer 2 to post to Discord.</a:t>
            </a:r>
          </a:p>
        </p:txBody>
      </p:sp>
      <p:sp>
        <p:nvSpPr>
          <p:cNvPr id="5" name="Rectangle 4"/>
          <p:cNvSpPr/>
          <p:nvPr/>
        </p:nvSpPr>
        <p:spPr>
          <a:xfrm>
            <a:off x="457200" y="1417320"/>
            <a:ext cx="11274552" cy="50292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508760"/>
            <a:ext cx="11000232" cy="4846320"/>
          </a:xfrm>
          <a:prstGeom prst="rect">
            <a:avLst/>
          </a:prstGeom>
          <a:noFill/>
        </p:spPr>
        <p:txBody>
          <a:bodyPr wrap="square">
            <a:spAutoFit/>
          </a:bodyPr>
          <a:lstStyle/>
          <a:p>
            <a:pPr algn="l"/>
            <a:r>
              <a:rPr sz="900">
                <a:solidFill>
                  <a:srgbClr val="333333"/>
                </a:solidFill>
                <a:latin typeface="Consolas"/>
              </a:rPr>
              <a:t>threats/briefs/2026-05-11-morning.md  (Layer 1 — the canonical record)</a:t>
            </a:r>
          </a:p>
          <a:p>
            <a:pPr algn="l"/>
            <a:r>
              <a:rPr sz="900">
                <a:solidFill>
                  <a:srgbClr val="333333"/>
                </a:solidFill>
                <a:latin typeface="Consolas"/>
              </a:rPr>
              <a:t> </a:t>
            </a:r>
          </a:p>
          <a:p>
            <a:pPr algn="l"/>
            <a:r>
              <a:rPr sz="900">
                <a:solidFill>
                  <a:srgbClr val="333333"/>
                </a:solidFill>
                <a:latin typeface="Consolas"/>
              </a:rPr>
              <a:t>---</a:t>
            </a:r>
          </a:p>
          <a:p>
            <a:pPr algn="l"/>
            <a:r>
              <a:rPr sz="900">
                <a:solidFill>
                  <a:srgbClr val="333333"/>
                </a:solidFill>
                <a:latin typeface="Consolas"/>
              </a:rPr>
              <a:t>brief_id: 2026-05-11-morning</a:t>
            </a:r>
          </a:p>
          <a:p>
            <a:pPr algn="l"/>
            <a:r>
              <a:rPr sz="900">
                <a:solidFill>
                  <a:srgbClr val="333333"/>
                </a:solidFill>
                <a:latin typeface="Consolas"/>
              </a:rPr>
              <a:t>published_at: 2026-05-11T08:00:00-04:00</a:t>
            </a:r>
          </a:p>
          <a:p>
            <a:pPr algn="l"/>
            <a:r>
              <a:rPr sz="900">
                <a:solidFill>
                  <a:srgbClr val="333333"/>
                </a:solidFill>
                <a:latin typeface="Consolas"/>
              </a:rPr>
              <a:t>authored_by: archimedes-briefer</a:t>
            </a:r>
          </a:p>
          <a:p>
            <a:pPr algn="l"/>
            <a:r>
              <a:rPr sz="900">
                <a:solidFill>
                  <a:srgbClr val="333333"/>
                </a:solidFill>
                <a:latin typeface="Consolas"/>
              </a:rPr>
              <a:t>findings_referenced: [finding-2026-05-11-0001, finding-2026-05-11-0002]</a:t>
            </a:r>
          </a:p>
          <a:p>
            <a:pPr algn="l"/>
            <a:r>
              <a:rPr sz="900">
                <a:solidFill>
                  <a:srgbClr val="333333"/>
                </a:solidFill>
                <a:latin typeface="Consolas"/>
              </a:rPr>
              <a:t>word_count: 731</a:t>
            </a:r>
          </a:p>
          <a:p>
            <a:pPr algn="l"/>
            <a:r>
              <a:rPr sz="900">
                <a:solidFill>
                  <a:srgbClr val="333333"/>
                </a:solidFill>
                <a:latin typeface="Consolas"/>
              </a:rPr>
              <a:t>tlp: CLEAR</a:t>
            </a:r>
          </a:p>
          <a:p>
            <a:pPr algn="l"/>
            <a:r>
              <a:rPr sz="900">
                <a:solidFill>
                  <a:srgbClr val="333333"/>
                </a:solidFill>
                <a:latin typeface="Consolas"/>
              </a:rPr>
              <a:t>---</a:t>
            </a:r>
          </a:p>
          <a:p>
            <a:pPr algn="l"/>
            <a:r>
              <a:rPr sz="900">
                <a:solidFill>
                  <a:srgbClr val="333333"/>
                </a:solidFill>
                <a:latin typeface="Consolas"/>
              </a:rPr>
              <a:t> </a:t>
            </a:r>
          </a:p>
          <a:p>
            <a:pPr algn="l"/>
            <a:r>
              <a:rPr sz="900">
                <a:solidFill>
                  <a:srgbClr val="333333"/>
                </a:solidFill>
                <a:latin typeface="Consolas"/>
              </a:rPr>
              <a:t># Morning Brief — 2026-05-11</a:t>
            </a:r>
          </a:p>
          <a:p>
            <a:pPr algn="l"/>
            <a:r>
              <a:rPr sz="900">
                <a:solidFill>
                  <a:srgbClr val="333333"/>
                </a:solidFill>
                <a:latin typeface="Consolas"/>
              </a:rPr>
              <a:t> </a:t>
            </a:r>
          </a:p>
          <a:p>
            <a:pPr algn="l"/>
            <a:r>
              <a:rPr sz="900">
                <a:solidFill>
                  <a:srgbClr val="333333"/>
                </a:solidFill>
                <a:latin typeface="Consolas"/>
              </a:rPr>
              <a:t>**[lead-with-impact sentence linked to source]**...</a:t>
            </a:r>
          </a:p>
          <a:p>
            <a:pPr algn="l"/>
            <a:r>
              <a:rPr sz="900">
                <a:solidFill>
                  <a:srgbClr val="333333"/>
                </a:solidFill>
                <a:latin typeface="Consolas"/>
              </a:rPr>
              <a:t>Per Hard Rule 2, the TeamPCP attribution to Checkmarx Jenkins AST is a</a:t>
            </a:r>
          </a:p>
          <a:p>
            <a:pPr algn="l"/>
            <a:r>
              <a:rPr sz="900">
                <a:solidFill>
                  <a:srgbClr val="333333"/>
                </a:solidFill>
                <a:latin typeface="Consolas"/>
              </a:rPr>
              <a:t>restatement of prior reporting...</a:t>
            </a:r>
          </a:p>
          <a:p>
            <a:pPr algn="l"/>
            <a:r>
              <a:rPr sz="900">
                <a:solidFill>
                  <a:srgbClr val="333333"/>
                </a:solidFill>
                <a:latin typeface="Consolas"/>
              </a:rPr>
              <a:t> </a:t>
            </a:r>
          </a:p>
          <a:p>
            <a:pPr algn="l"/>
            <a:r>
              <a:rPr sz="900">
                <a:solidFill>
                  <a:srgbClr val="333333"/>
                </a:solidFill>
                <a:latin typeface="Consolas"/>
              </a:rPr>
              <a:t>## Active Threats</a:t>
            </a:r>
          </a:p>
          <a:p>
            <a:pPr algn="l"/>
            <a:r>
              <a:rPr sz="900">
                <a:solidFill>
                  <a:srgbClr val="333333"/>
                </a:solidFill>
                <a:latin typeface="Consolas"/>
              </a:rPr>
              <a:t>**[Headline link](https://...)** ... Digraph: B2 · WEP: likely</a:t>
            </a:r>
          </a:p>
          <a:p>
            <a:pPr algn="l"/>
            <a:r>
              <a:rPr sz="900">
                <a:solidFill>
                  <a:srgbClr val="333333"/>
                </a:solidFill>
                <a:latin typeface="Consolas"/>
              </a:rPr>
              <a:t>(procedural facts only — relational/attribution layer carries lower WEP)</a:t>
            </a:r>
          </a:p>
          <a:p>
            <a:pPr algn="l"/>
            <a:r>
              <a:rPr sz="900">
                <a:solidFill>
                  <a:srgbClr val="333333"/>
                </a:solidFill>
                <a:latin typeface="Consolas"/>
              </a:rPr>
              <a:t>· finding-2026-05-11-0001.</a:t>
            </a:r>
          </a:p>
          <a:p>
            <a:pPr algn="l"/>
            <a:r>
              <a:rPr sz="900">
                <a:solidFill>
                  <a:srgbClr val="333333"/>
                </a:solidFill>
                <a:latin typeface="Consolas"/>
              </a:rPr>
              <a:t> </a:t>
            </a:r>
          </a:p>
          <a:p>
            <a:pPr algn="l"/>
            <a:r>
              <a:rPr sz="900">
                <a:solidFill>
                  <a:srgbClr val="333333"/>
                </a:solidFill>
                <a:latin typeface="Consolas"/>
              </a:rPr>
              <a:t>🔗 Connects to: Actor #001 TeamPCP (HIGH, roster) — Jenkins AST plugin</a:t>
            </a:r>
          </a:p>
          <a:p>
            <a:pPr algn="l"/>
            <a:r>
              <a:rPr sz="900">
                <a:solidFill>
                  <a:srgbClr val="333333"/>
                </a:solidFill>
                <a:latin typeface="Consolas"/>
              </a:rPr>
              <a:t>distribution channel is the first appearance of CI/CD-pipeline-poisoning</a:t>
            </a:r>
          </a:p>
          <a:p>
            <a:pPr algn="l"/>
            <a:r>
              <a:rPr sz="900">
                <a:solidFill>
                  <a:srgbClr val="333333"/>
                </a:solidFill>
                <a:latin typeface="Consolas"/>
              </a:rPr>
              <a:t>in the TeamPCP TTP register; dossier update queued via actor-profiler.</a:t>
            </a:r>
          </a:p>
          <a:p>
            <a:pPr algn="l"/>
            <a:r>
              <a:rPr sz="900">
                <a:solidFill>
                  <a:srgbClr val="333333"/>
                </a:solidFill>
                <a:latin typeface="Consolas"/>
              </a:rPr>
              <a:t> </a:t>
            </a:r>
          </a:p>
          <a:p>
            <a:pPr algn="l"/>
            <a:r>
              <a:rPr sz="900">
                <a:solidFill>
                  <a:srgbClr val="333333"/>
                </a:solidFill>
                <a:latin typeface="Consolas"/>
              </a:rPr>
              <a:t>[... 700 more words ...]</a:t>
            </a:r>
          </a:p>
          <a:p>
            <a:pPr algn="l"/>
            <a:r>
              <a:rPr sz="900">
                <a:solidFill>
                  <a:srgbClr val="333333"/>
                </a:solidFill>
                <a:latin typeface="Consolas"/>
              </a:rPr>
              <a:t> </a:t>
            </a:r>
          </a:p>
          <a:p>
            <a:pPr algn="l"/>
            <a:r>
              <a:rPr sz="900">
                <a:solidFill>
                  <a:srgbClr val="333333"/>
                </a:solidFill>
                <a:latin typeface="Consolas"/>
              </a:rPr>
              <a:t>## 📣 Discord Summary                                   ← Layer 2, last section</a:t>
            </a:r>
          </a:p>
          <a:p>
            <a:pPr algn="l"/>
            <a:r>
              <a:rPr sz="900">
                <a:solidFill>
                  <a:srgbClr val="333333"/>
                </a:solidFill>
                <a:latin typeface="Consolas"/>
              </a:rPr>
              <a:t> </a:t>
            </a:r>
          </a:p>
          <a:p>
            <a:pPr algn="l"/>
            <a:r>
              <a:rPr sz="900">
                <a:solidFill>
                  <a:srgbClr val="333333"/>
                </a:solidFill>
                <a:latin typeface="Consolas"/>
              </a:rPr>
              <a:t>Good morning. Here's your 0800 brief — Monday, May 11.</a:t>
            </a:r>
          </a:p>
          <a:p>
            <a:pPr algn="l"/>
            <a:r>
              <a:rPr sz="900">
                <a:solidFill>
                  <a:srgbClr val="333333"/>
                </a:solidFill>
                <a:latin typeface="Consolas"/>
              </a:rPr>
              <a:t> </a:t>
            </a:r>
          </a:p>
          <a:p>
            <a:pPr algn="l"/>
            <a:r>
              <a:rPr sz="900">
                <a:solidFill>
                  <a:srgbClr val="333333"/>
                </a:solidFill>
                <a:latin typeface="Consolas"/>
              </a:rPr>
              <a:t>🚨 **Active Threats**</a:t>
            </a:r>
          </a:p>
          <a:p>
            <a:pPr algn="l"/>
            <a:r>
              <a:rPr sz="900">
                <a:solidFill>
                  <a:srgbClr val="333333"/>
                </a:solidFill>
                <a:latin typeface="Consolas"/>
              </a:rPr>
              <a:t> </a:t>
            </a:r>
          </a:p>
          <a:p>
            <a:pPr algn="l"/>
            <a:r>
              <a:rPr sz="900">
                <a:solidFill>
                  <a:srgbClr val="333333"/>
                </a:solidFill>
                <a:latin typeface="Consolas"/>
              </a:rPr>
              <a:t>• **[Checkmarx Jenkins AST plugin compromised...](https://www.securityweek.com/...)**</a:t>
            </a:r>
          </a:p>
          <a:p>
            <a:pPr algn="l"/>
            <a:r>
              <a:rPr sz="900">
                <a:solidFill>
                  <a:srgbClr val="333333"/>
                </a:solidFill>
                <a:latin typeface="Consolas"/>
              </a:rPr>
              <a:t>  Checkmarx warned Friday May 9 of a malicious Jenkins AST plugin...</a:t>
            </a:r>
          </a:p>
          <a:p>
            <a:pPr algn="l"/>
            <a:r>
              <a:rPr sz="900">
                <a:solidFill>
                  <a:srgbClr val="333333"/>
                </a:solidFill>
                <a:latin typeface="Consolas"/>
              </a:rPr>
              <a:t>  **DIB CI/CD:** pin to fix version *now*, capture plugin hashes for IOC backfill.</a:t>
            </a:r>
          </a:p>
          <a:p>
            <a:pPr algn="l"/>
            <a:r>
              <a:rPr sz="900">
                <a:solidFill>
                  <a:srgbClr val="333333"/>
                </a:solidFill>
                <a:latin typeface="Consolas"/>
              </a:rPr>
              <a:t> </a:t>
            </a:r>
          </a:p>
          <a:p>
            <a:pPr algn="l"/>
            <a:r>
              <a:rPr sz="900">
                <a:solidFill>
                  <a:srgbClr val="333333"/>
                </a:solidFill>
                <a:latin typeface="Consolas"/>
              </a:rPr>
              <a:t>[... ≤1900 chars, natural-language dates, source-linked headlines ...]</a:t>
            </a:r>
          </a:p>
        </p:txBody>
      </p:sp>
      <p:sp>
        <p:nvSpPr>
          <p:cNvPr id="7" name="TextBox 6"/>
          <p:cNvSpPr txBox="1"/>
          <p:nvPr/>
        </p:nvSpPr>
        <p:spPr>
          <a:xfrm>
            <a:off x="457200" y="6446520"/>
            <a:ext cx="11274552" cy="274320"/>
          </a:xfrm>
          <a:prstGeom prst="rect">
            <a:avLst/>
          </a:prstGeom>
          <a:noFill/>
        </p:spPr>
        <p:txBody>
          <a:bodyPr wrap="none">
            <a:spAutoFit/>
          </a:bodyPr>
          <a:lstStyle/>
          <a:p>
            <a:pPr algn="l"/>
            <a:r>
              <a:rPr sz="800" i="1">
                <a:solidFill>
                  <a:srgbClr val="666666"/>
                </a:solidFill>
                <a:latin typeface="Calibri"/>
              </a:rPr>
              <a:t>Archimedes · Architecture Walkthrough</a:t>
            </a:r>
          </a:p>
        </p:txBody>
      </p:sp>
      <p:sp>
        <p:nvSpPr>
          <p:cNvPr id="8" name="TextBox 7"/>
          <p:cNvSpPr txBox="1"/>
          <p:nvPr/>
        </p:nvSpPr>
        <p:spPr>
          <a:xfrm>
            <a:off x="10515600" y="6446520"/>
            <a:ext cx="1188720" cy="274320"/>
          </a:xfrm>
          <a:prstGeom prst="rect">
            <a:avLst/>
          </a:prstGeom>
          <a:noFill/>
        </p:spPr>
        <p:txBody>
          <a:bodyPr wrap="none">
            <a:spAutoFit/>
          </a:bodyPr>
          <a:lstStyle/>
          <a:p>
            <a:pPr algn="r"/>
            <a:r>
              <a:rPr sz="800">
                <a:solidFill>
                  <a:srgbClr val="666666"/>
                </a:solidFill>
                <a:latin typeface="Calibri"/>
              </a:rPr>
              <a:t>22 / 32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28600"/>
          </a:xfrm>
          <a:prstGeom prst="rect">
            <a:avLst/>
          </a:prstGeom>
          <a:solidFill>
            <a:srgbClr val="4A90E2"/>
          </a:solidFill>
          <a:ln>
            <a:noFill/>
          </a:ln>
        </p:spPr>
        <p:style>
          <a:lnRef idx="1">
            <a:schemeClr val="accent1"/>
          </a:lnRef>
          <a:fillRef idx="3">
            <a:schemeClr val="accent1"/>
          </a:fillRef>
          <a:effectRef idx="2">
            <a:schemeClr val="accent1"/>
          </a:effectRef>
          <a:fontRef idx="minor">
            <a:schemeClr val="lt1"/>
          </a:fontRef>
        </p:style>
        <p:txBody>
          <a:bodyPr rtlCol="0" anchor="ctr" tIns="18288" lIns="457200"/>
          <a:lstStyle/>
          <a:p>
            <a:pPr algn="ctr"/>
            <a:r>
              <a:rPr sz="1000" b="1">
                <a:solidFill>
                  <a:srgbClr val="FFFFFF"/>
                </a:solidFill>
                <a:latin typeface="Calibri"/>
              </a:rPr>
              <a:t>§4  ·  Pipelines</a:t>
            </a:r>
          </a:p>
        </p:txBody>
      </p:sp>
      <p:sp>
        <p:nvSpPr>
          <p:cNvPr id="3" name="TextBox 2"/>
          <p:cNvSpPr txBox="1"/>
          <p:nvPr/>
        </p:nvSpPr>
        <p:spPr>
          <a:xfrm>
            <a:off x="457200" y="274320"/>
            <a:ext cx="11274552" cy="640080"/>
          </a:xfrm>
          <a:prstGeom prst="rect">
            <a:avLst/>
          </a:prstGeom>
          <a:noFill/>
        </p:spPr>
        <p:txBody>
          <a:bodyPr wrap="square">
            <a:spAutoFit/>
          </a:bodyPr>
          <a:lstStyle/>
          <a:p>
            <a:pPr algn="l"/>
            <a:r>
              <a:rPr sz="2800" b="1">
                <a:solidFill>
                  <a:srgbClr val="1F3A5F"/>
                </a:solidFill>
                <a:latin typeface="Calibri"/>
              </a:rPr>
              <a:t>Retraction handling — additive, never silent</a:t>
            </a:r>
          </a:p>
        </p:txBody>
      </p:sp>
      <p:sp>
        <p:nvSpPr>
          <p:cNvPr id="4" name="TextBox 3"/>
          <p:cNvSpPr txBox="1"/>
          <p:nvPr/>
        </p:nvSpPr>
        <p:spPr>
          <a:xfrm>
            <a:off x="457200" y="914400"/>
            <a:ext cx="11274552" cy="365760"/>
          </a:xfrm>
          <a:prstGeom prst="rect">
            <a:avLst/>
          </a:prstGeom>
          <a:noFill/>
        </p:spPr>
        <p:txBody>
          <a:bodyPr wrap="square">
            <a:spAutoFit/>
          </a:bodyPr>
          <a:lstStyle/>
          <a:p>
            <a:r>
              <a:rPr sz="1300" i="1">
                <a:solidFill>
                  <a:srgbClr val="666666"/>
                </a:solidFill>
                <a:latin typeface="Calibri"/>
              </a:rPr>
              <a:t>When something ships wrong, the record of being wrong becomes part of the record.</a:t>
            </a:r>
          </a:p>
        </p:txBody>
      </p:sp>
      <p:sp>
        <p:nvSpPr>
          <p:cNvPr id="5" name="TextBox 4"/>
          <p:cNvSpPr txBox="1"/>
          <p:nvPr/>
        </p:nvSpPr>
        <p:spPr>
          <a:xfrm>
            <a:off x="457200" y="1463040"/>
            <a:ext cx="11274552" cy="4754880"/>
          </a:xfrm>
          <a:prstGeom prst="rect">
            <a:avLst/>
          </a:prstGeom>
          <a:noFill/>
        </p:spPr>
        <p:txBody>
          <a:bodyPr wrap="square">
            <a:spAutoFit/>
          </a:bodyPr>
          <a:lstStyle/>
          <a:p>
            <a:pPr algn="l">
              <a:lnSpc>
                <a:spcPct val="115000"/>
              </a:lnSpc>
            </a:pPr>
            <a:r>
              <a:rPr sz="1200" b="1">
                <a:solidFill>
                  <a:srgbClr val="333333"/>
                </a:solidFill>
                <a:latin typeface="Calibri"/>
              </a:rPr>
              <a:t>• Retraction vs. correction</a:t>
            </a:r>
          </a:p>
          <a:p>
            <a:pPr algn="l">
              <a:lnSpc>
                <a:spcPct val="115000"/>
              </a:lnSpc>
            </a:pPr>
            <a:r>
              <a:rPr sz="1000" i="1">
                <a:solidFill>
                  <a:srgbClr val="666666"/>
                </a:solidFill>
                <a:latin typeface="Calibri"/>
              </a:rPr>
              <a:t>   RETRACTION = factually wrong / materially misleading / doctrine-violating. CORRECTION = typo / wrong link / wording change without meaning shift.</a:t>
            </a:r>
          </a:p>
          <a:p>
            <a:pPr algn="l">
              <a:lnSpc>
                <a:spcPct val="115000"/>
              </a:lnSpc>
              <a:spcBef>
                <a:spcPts val="600"/>
              </a:spcBef>
            </a:pPr>
            <a:r>
              <a:rPr sz="1200" b="1">
                <a:solidFill>
                  <a:srgbClr val="333333"/>
                </a:solidFill>
                <a:latin typeface="Calibri"/>
              </a:rPr>
              <a:t>• Retraction is ALWAYS additive</a:t>
            </a:r>
          </a:p>
          <a:p>
            <a:pPr algn="l">
              <a:lnSpc>
                <a:spcPct val="115000"/>
              </a:lnSpc>
            </a:pPr>
            <a:r>
              <a:rPr sz="1000" i="1">
                <a:solidFill>
                  <a:srgbClr val="666666"/>
                </a:solidFill>
                <a:latin typeface="Calibri"/>
              </a:rPr>
              <a:t>   Original brief file stays in threats/briefs/, unmodified. New retraction note APPENDED to the brief. Coverage-log entry gets retraction block. Discord retraction post in #intel-briefs. Never delete; never edit-to-remove.</a:t>
            </a:r>
          </a:p>
          <a:p>
            <a:pPr algn="l">
              <a:lnSpc>
                <a:spcPct val="115000"/>
              </a:lnSpc>
              <a:spcBef>
                <a:spcPts val="600"/>
              </a:spcBef>
            </a:pPr>
            <a:r>
              <a:rPr sz="1200" b="1">
                <a:solidFill>
                  <a:srgbClr val="333333"/>
                </a:solidFill>
                <a:latin typeface="Calibri"/>
              </a:rPr>
              <a:t>• 72h auto-downgrade clock</a:t>
            </a:r>
          </a:p>
          <a:p>
            <a:pPr algn="l">
              <a:lnSpc>
                <a:spcPct val="115000"/>
              </a:lnSpc>
            </a:pPr>
            <a:r>
              <a:rPr sz="1000" i="1">
                <a:solidFill>
                  <a:srgbClr val="666666"/>
                </a:solidFill>
                <a:latin typeface="Calibri"/>
              </a:rPr>
              <a:t>   Single-source FLASHes ship with an auto-downgrade clock built into the finding frontmatter. Conditions for downgrade are SPECIFIED on the finding itself (no second A/B-grade source AND no Splunk hit AND no CISA pickup → drop attribution leg to C3). When the clock fires unbroken, librarian does in-place frontmatter downgrade — NOT a full retraction (campaign forensics hold; only the attribution leg moves).</a:t>
            </a:r>
          </a:p>
          <a:p>
            <a:pPr algn="l">
              <a:lnSpc>
                <a:spcPct val="115000"/>
              </a:lnSpc>
              <a:spcBef>
                <a:spcPts val="600"/>
              </a:spcBef>
            </a:pPr>
            <a:r>
              <a:rPr sz="1200" b="1">
                <a:solidFill>
                  <a:srgbClr val="333333"/>
                </a:solidFill>
                <a:latin typeface="Calibri"/>
              </a:rPr>
              <a:t>• Tested live on MuddyWater 2026-05-09</a:t>
            </a:r>
          </a:p>
          <a:p>
            <a:pPr algn="l">
              <a:lnSpc>
                <a:spcPct val="115000"/>
              </a:lnSpc>
            </a:pPr>
            <a:r>
              <a:rPr sz="1000" i="1">
                <a:solidFill>
                  <a:srgbClr val="666666"/>
                </a:solidFill>
                <a:latin typeface="Calibri"/>
              </a:rPr>
              <a:t>   FLASH-0002 (Rapid7 single-source MuddyWater attribution) shipped 2026-05-06 12:18 EDT with a 72h clock. Clock fired unbroken at 2026-05-09 12:18 EDT. Librarian updated finding frontmatter: digraph A2 → C3, digraph_split.attribution_leg → C3, campaign forensics held at A2. Coverage log got the supersession entry. Morning brief 2026-05-10 carried the supersession in narrative.</a:t>
            </a:r>
          </a:p>
          <a:p>
            <a:pPr algn="l">
              <a:lnSpc>
                <a:spcPct val="115000"/>
              </a:lnSpc>
              <a:spcBef>
                <a:spcPts val="600"/>
              </a:spcBef>
            </a:pPr>
            <a:r>
              <a:rPr sz="1200" b="1">
                <a:solidFill>
                  <a:srgbClr val="333333"/>
                </a:solidFill>
                <a:latin typeface="Calibri"/>
              </a:rPr>
              <a:t>• Pattern check after every retraction</a:t>
            </a:r>
          </a:p>
          <a:p>
            <a:pPr algn="l">
              <a:lnSpc>
                <a:spcPct val="115000"/>
              </a:lnSpc>
            </a:pPr>
            <a:r>
              <a:rPr sz="1000" i="1">
                <a:solidFill>
                  <a:srgbClr val="666666"/>
                </a:solidFill>
                <a:latin typeface="Calibri"/>
              </a:rPr>
              <a:t>   Was grading process followed? Did red-team catch anything? What would have prevented this? If 3+ retractions trace to the same source in 90 days, actor-profiler proposes a source-grade downgrade.</a:t>
            </a:r>
          </a:p>
        </p:txBody>
      </p:sp>
      <p:sp>
        <p:nvSpPr>
          <p:cNvPr id="6" name="TextBox 5"/>
          <p:cNvSpPr txBox="1"/>
          <p:nvPr/>
        </p:nvSpPr>
        <p:spPr>
          <a:xfrm>
            <a:off x="457200" y="6446520"/>
            <a:ext cx="11274552" cy="274320"/>
          </a:xfrm>
          <a:prstGeom prst="rect">
            <a:avLst/>
          </a:prstGeom>
          <a:noFill/>
        </p:spPr>
        <p:txBody>
          <a:bodyPr wrap="none">
            <a:spAutoFit/>
          </a:bodyPr>
          <a:lstStyle/>
          <a:p>
            <a:pPr algn="l"/>
            <a:r>
              <a:rPr sz="800" i="1">
                <a:solidFill>
                  <a:srgbClr val="666666"/>
                </a:solidFill>
                <a:latin typeface="Calibri"/>
              </a:rPr>
              <a:t>Archimedes · Architecture Walkthrough</a:t>
            </a:r>
          </a:p>
        </p:txBody>
      </p:sp>
      <p:sp>
        <p:nvSpPr>
          <p:cNvPr id="7" name="TextBox 6"/>
          <p:cNvSpPr txBox="1"/>
          <p:nvPr/>
        </p:nvSpPr>
        <p:spPr>
          <a:xfrm>
            <a:off x="10515600" y="6446520"/>
            <a:ext cx="1188720" cy="274320"/>
          </a:xfrm>
          <a:prstGeom prst="rect">
            <a:avLst/>
          </a:prstGeom>
          <a:noFill/>
        </p:spPr>
        <p:txBody>
          <a:bodyPr wrap="none">
            <a:spAutoFit/>
          </a:bodyPr>
          <a:lstStyle/>
          <a:p>
            <a:pPr algn="r"/>
            <a:r>
              <a:rPr sz="800">
                <a:solidFill>
                  <a:srgbClr val="666666"/>
                </a:solidFill>
                <a:latin typeface="Calibri"/>
              </a:rPr>
              <a:t>23 / 32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28600"/>
          </a:xfrm>
          <a:prstGeom prst="rect">
            <a:avLst/>
          </a:prstGeom>
          <a:solidFill>
            <a:srgbClr val="4A90E2"/>
          </a:solidFill>
          <a:ln>
            <a:noFill/>
          </a:ln>
        </p:spPr>
        <p:style>
          <a:lnRef idx="1">
            <a:schemeClr val="accent1"/>
          </a:lnRef>
          <a:fillRef idx="3">
            <a:schemeClr val="accent1"/>
          </a:fillRef>
          <a:effectRef idx="2">
            <a:schemeClr val="accent1"/>
          </a:effectRef>
          <a:fontRef idx="minor">
            <a:schemeClr val="lt1"/>
          </a:fontRef>
        </p:style>
        <p:txBody>
          <a:bodyPr rtlCol="0" anchor="ctr" tIns="18288" lIns="457200"/>
          <a:lstStyle/>
          <a:p>
            <a:pPr algn="ctr"/>
            <a:r>
              <a:rPr sz="1000" b="1">
                <a:solidFill>
                  <a:srgbClr val="FFFFFF"/>
                </a:solidFill>
                <a:latin typeface="Calibri"/>
              </a:rPr>
              <a:t>§5  ·  Infrastructure + ops</a:t>
            </a:r>
          </a:p>
        </p:txBody>
      </p:sp>
      <p:sp>
        <p:nvSpPr>
          <p:cNvPr id="3" name="TextBox 2"/>
          <p:cNvSpPr txBox="1"/>
          <p:nvPr/>
        </p:nvSpPr>
        <p:spPr>
          <a:xfrm>
            <a:off x="457200" y="274320"/>
            <a:ext cx="11274552" cy="640080"/>
          </a:xfrm>
          <a:prstGeom prst="rect">
            <a:avLst/>
          </a:prstGeom>
          <a:noFill/>
        </p:spPr>
        <p:txBody>
          <a:bodyPr wrap="square">
            <a:spAutoFit/>
          </a:bodyPr>
          <a:lstStyle/>
          <a:p>
            <a:pPr algn="l"/>
            <a:r>
              <a:rPr sz="2800" b="1">
                <a:solidFill>
                  <a:srgbClr val="1F3A5F"/>
                </a:solidFill>
                <a:latin typeface="Calibri"/>
              </a:rPr>
              <a:t>Scheduler — Windows Task Scheduler + PowerShell wrapper</a:t>
            </a:r>
          </a:p>
        </p:txBody>
      </p:sp>
      <p:sp>
        <p:nvSpPr>
          <p:cNvPr id="4" name="TextBox 3"/>
          <p:cNvSpPr txBox="1"/>
          <p:nvPr/>
        </p:nvSpPr>
        <p:spPr>
          <a:xfrm>
            <a:off x="457200" y="914400"/>
            <a:ext cx="11274552" cy="365760"/>
          </a:xfrm>
          <a:prstGeom prst="rect">
            <a:avLst/>
          </a:prstGeom>
          <a:noFill/>
        </p:spPr>
        <p:txBody>
          <a:bodyPr wrap="square">
            <a:spAutoFit/>
          </a:bodyPr>
          <a:lstStyle/>
          <a:p>
            <a:r>
              <a:rPr sz="1300" i="1">
                <a:solidFill>
                  <a:srgbClr val="666666"/>
                </a:solidFill>
                <a:latin typeface="Calibri"/>
              </a:rPr>
              <a:t>8 scheduled tasks. infrastructure/scheduler/ holds the templates.</a:t>
            </a:r>
          </a:p>
        </p:txBody>
      </p:sp>
      <p:sp>
        <p:nvSpPr>
          <p:cNvPr id="5" name="Rectangle 4"/>
          <p:cNvSpPr/>
          <p:nvPr/>
        </p:nvSpPr>
        <p:spPr>
          <a:xfrm>
            <a:off x="457200" y="1371600"/>
            <a:ext cx="2743200" cy="4114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tIns="73152"/>
          <a:lstStyle/>
          <a:p>
            <a:pPr algn="ctr"/>
            <a:r>
              <a:rPr sz="1100" b="1">
                <a:solidFill>
                  <a:srgbClr val="FFFFFF"/>
                </a:solidFill>
                <a:latin typeface="Calibri"/>
              </a:rPr>
              <a:t>  Task name</a:t>
            </a:r>
          </a:p>
        </p:txBody>
      </p:sp>
      <p:sp>
        <p:nvSpPr>
          <p:cNvPr id="6" name="Rectangle 5"/>
          <p:cNvSpPr/>
          <p:nvPr/>
        </p:nvSpPr>
        <p:spPr>
          <a:xfrm>
            <a:off x="3200400" y="1371600"/>
            <a:ext cx="1371600" cy="4114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tIns="73152"/>
          <a:lstStyle/>
          <a:p>
            <a:pPr algn="ctr"/>
            <a:r>
              <a:rPr sz="1100" b="1">
                <a:solidFill>
                  <a:srgbClr val="FFFFFF"/>
                </a:solidFill>
                <a:latin typeface="Calibri"/>
              </a:rPr>
              <a:t>  Time</a:t>
            </a:r>
          </a:p>
        </p:txBody>
      </p:sp>
      <p:sp>
        <p:nvSpPr>
          <p:cNvPr id="7" name="Rectangle 6"/>
          <p:cNvSpPr/>
          <p:nvPr/>
        </p:nvSpPr>
        <p:spPr>
          <a:xfrm>
            <a:off x="4572000" y="1371600"/>
            <a:ext cx="7616952" cy="4114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tIns="73152"/>
          <a:lstStyle/>
          <a:p>
            <a:pPr algn="ctr"/>
            <a:r>
              <a:rPr sz="1100" b="1">
                <a:solidFill>
                  <a:srgbClr val="FFFFFF"/>
                </a:solidFill>
                <a:latin typeface="Calibri"/>
              </a:rPr>
              <a:t>  What it does</a:t>
            </a:r>
          </a:p>
        </p:txBody>
      </p:sp>
      <p:sp>
        <p:nvSpPr>
          <p:cNvPr id="8" name="Rectangle 7"/>
          <p:cNvSpPr/>
          <p:nvPr/>
        </p:nvSpPr>
        <p:spPr>
          <a:xfrm>
            <a:off x="457200" y="1783080"/>
            <a:ext cx="2743200" cy="41148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b="1">
                <a:solidFill>
                  <a:srgbClr val="333333"/>
                </a:solidFill>
                <a:latin typeface="Calibri"/>
              </a:rPr>
              <a:t>  flash-sweep-0000</a:t>
            </a:r>
          </a:p>
        </p:txBody>
      </p:sp>
      <p:sp>
        <p:nvSpPr>
          <p:cNvPr id="9" name="Rectangle 8"/>
          <p:cNvSpPr/>
          <p:nvPr/>
        </p:nvSpPr>
        <p:spPr>
          <a:xfrm>
            <a:off x="3200400" y="1783080"/>
            <a:ext cx="1371600" cy="41148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00:00 EDT</a:t>
            </a:r>
          </a:p>
        </p:txBody>
      </p:sp>
      <p:sp>
        <p:nvSpPr>
          <p:cNvPr id="10" name="Rectangle 9"/>
          <p:cNvSpPr/>
          <p:nvPr/>
        </p:nvSpPr>
        <p:spPr>
          <a:xfrm>
            <a:off x="4572000" y="1783080"/>
            <a:ext cx="7616952" cy="41148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FLASH sweep · queue if quiet hours</a:t>
            </a:r>
          </a:p>
        </p:txBody>
      </p:sp>
      <p:sp>
        <p:nvSpPr>
          <p:cNvPr id="11" name="Rectangle 10"/>
          <p:cNvSpPr/>
          <p:nvPr/>
        </p:nvSpPr>
        <p:spPr>
          <a:xfrm>
            <a:off x="457200" y="2194560"/>
            <a:ext cx="2743200" cy="41148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b="1">
                <a:solidFill>
                  <a:srgbClr val="333333"/>
                </a:solidFill>
                <a:latin typeface="Calibri"/>
              </a:rPr>
              <a:t>  flash-sweep-0600</a:t>
            </a:r>
          </a:p>
        </p:txBody>
      </p:sp>
      <p:sp>
        <p:nvSpPr>
          <p:cNvPr id="12" name="Rectangle 11"/>
          <p:cNvSpPr/>
          <p:nvPr/>
        </p:nvSpPr>
        <p:spPr>
          <a:xfrm>
            <a:off x="3200400" y="2194560"/>
            <a:ext cx="1371600" cy="41148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06:00 EDT</a:t>
            </a:r>
          </a:p>
        </p:txBody>
      </p:sp>
      <p:sp>
        <p:nvSpPr>
          <p:cNvPr id="13" name="Rectangle 12"/>
          <p:cNvSpPr/>
          <p:nvPr/>
        </p:nvSpPr>
        <p:spPr>
          <a:xfrm>
            <a:off x="4572000" y="2194560"/>
            <a:ext cx="7616952" cy="41148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FLASH sweep · queue if quiet hours</a:t>
            </a:r>
          </a:p>
        </p:txBody>
      </p:sp>
      <p:sp>
        <p:nvSpPr>
          <p:cNvPr id="14" name="Rectangle 13"/>
          <p:cNvSpPr/>
          <p:nvPr/>
        </p:nvSpPr>
        <p:spPr>
          <a:xfrm>
            <a:off x="457200" y="2606040"/>
            <a:ext cx="2743200" cy="41148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b="1">
                <a:solidFill>
                  <a:srgbClr val="333333"/>
                </a:solidFill>
                <a:latin typeface="Calibri"/>
              </a:rPr>
              <a:t>  pre-brief-morning</a:t>
            </a:r>
          </a:p>
        </p:txBody>
      </p:sp>
      <p:sp>
        <p:nvSpPr>
          <p:cNvPr id="15" name="Rectangle 14"/>
          <p:cNvSpPr/>
          <p:nvPr/>
        </p:nvSpPr>
        <p:spPr>
          <a:xfrm>
            <a:off x="3200400" y="2606040"/>
            <a:ext cx="1371600" cy="41148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07:30 EDT</a:t>
            </a:r>
          </a:p>
        </p:txBody>
      </p:sp>
      <p:sp>
        <p:nvSpPr>
          <p:cNvPr id="16" name="Rectangle 15"/>
          <p:cNvSpPr/>
          <p:nvPr/>
        </p:nvSpPr>
        <p:spPr>
          <a:xfrm>
            <a:off x="4572000" y="2606040"/>
            <a:ext cx="7616952" cy="41148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Collector pre-pass · raw signal → disk · no brief</a:t>
            </a:r>
          </a:p>
        </p:txBody>
      </p:sp>
      <p:sp>
        <p:nvSpPr>
          <p:cNvPr id="17" name="Rectangle 16"/>
          <p:cNvSpPr/>
          <p:nvPr/>
        </p:nvSpPr>
        <p:spPr>
          <a:xfrm>
            <a:off x="457200" y="3017520"/>
            <a:ext cx="2743200" cy="41148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b="1">
                <a:solidFill>
                  <a:srgbClr val="333333"/>
                </a:solidFill>
                <a:latin typeface="Calibri"/>
              </a:rPr>
              <a:t>  morning-brief</a:t>
            </a:r>
          </a:p>
        </p:txBody>
      </p:sp>
      <p:sp>
        <p:nvSpPr>
          <p:cNvPr id="18" name="Rectangle 17"/>
          <p:cNvSpPr/>
          <p:nvPr/>
        </p:nvSpPr>
        <p:spPr>
          <a:xfrm>
            <a:off x="3200400" y="3017520"/>
            <a:ext cx="1371600" cy="41148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08:00 EDT</a:t>
            </a:r>
          </a:p>
        </p:txBody>
      </p:sp>
      <p:sp>
        <p:nvSpPr>
          <p:cNvPr id="19" name="Rectangle 18"/>
          <p:cNvSpPr/>
          <p:nvPr/>
        </p:nvSpPr>
        <p:spPr>
          <a:xfrm>
            <a:off x="4572000" y="3017520"/>
            <a:ext cx="7616952" cy="41148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Full scheduled-brief pipeline · 5 phases</a:t>
            </a:r>
          </a:p>
        </p:txBody>
      </p:sp>
      <p:sp>
        <p:nvSpPr>
          <p:cNvPr id="20" name="Rectangle 19"/>
          <p:cNvSpPr/>
          <p:nvPr/>
        </p:nvSpPr>
        <p:spPr>
          <a:xfrm>
            <a:off x="457200" y="3429000"/>
            <a:ext cx="2743200" cy="41148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b="1">
                <a:solidFill>
                  <a:srgbClr val="333333"/>
                </a:solidFill>
                <a:latin typeface="Calibri"/>
              </a:rPr>
              <a:t>  flash-sweep-1200</a:t>
            </a:r>
          </a:p>
        </p:txBody>
      </p:sp>
      <p:sp>
        <p:nvSpPr>
          <p:cNvPr id="21" name="Rectangle 20"/>
          <p:cNvSpPr/>
          <p:nvPr/>
        </p:nvSpPr>
        <p:spPr>
          <a:xfrm>
            <a:off x="3200400" y="3429000"/>
            <a:ext cx="1371600" cy="41148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12:00 EDT</a:t>
            </a:r>
          </a:p>
        </p:txBody>
      </p:sp>
      <p:sp>
        <p:nvSpPr>
          <p:cNvPr id="22" name="Rectangle 21"/>
          <p:cNvSpPr/>
          <p:nvPr/>
        </p:nvSpPr>
        <p:spPr>
          <a:xfrm>
            <a:off x="4572000" y="3429000"/>
            <a:ext cx="7616952" cy="41148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FLASH sweep</a:t>
            </a:r>
          </a:p>
        </p:txBody>
      </p:sp>
      <p:sp>
        <p:nvSpPr>
          <p:cNvPr id="23" name="Rectangle 22"/>
          <p:cNvSpPr/>
          <p:nvPr/>
        </p:nvSpPr>
        <p:spPr>
          <a:xfrm>
            <a:off x="457200" y="3840480"/>
            <a:ext cx="2743200" cy="41148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b="1">
                <a:solidFill>
                  <a:srgbClr val="333333"/>
                </a:solidFill>
                <a:latin typeface="Calibri"/>
              </a:rPr>
              <a:t>  pre-brief-afternoon</a:t>
            </a:r>
          </a:p>
        </p:txBody>
      </p:sp>
      <p:sp>
        <p:nvSpPr>
          <p:cNvPr id="24" name="Rectangle 23"/>
          <p:cNvSpPr/>
          <p:nvPr/>
        </p:nvSpPr>
        <p:spPr>
          <a:xfrm>
            <a:off x="3200400" y="3840480"/>
            <a:ext cx="1371600" cy="41148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15:30 EDT</a:t>
            </a:r>
          </a:p>
        </p:txBody>
      </p:sp>
      <p:sp>
        <p:nvSpPr>
          <p:cNvPr id="25" name="Rectangle 24"/>
          <p:cNvSpPr/>
          <p:nvPr/>
        </p:nvSpPr>
        <p:spPr>
          <a:xfrm>
            <a:off x="4572000" y="3840480"/>
            <a:ext cx="7616952" cy="41148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Collector pre-pass · raw signal → disk</a:t>
            </a:r>
          </a:p>
        </p:txBody>
      </p:sp>
      <p:sp>
        <p:nvSpPr>
          <p:cNvPr id="26" name="Rectangle 25"/>
          <p:cNvSpPr/>
          <p:nvPr/>
        </p:nvSpPr>
        <p:spPr>
          <a:xfrm>
            <a:off x="457200" y="4251960"/>
            <a:ext cx="2743200" cy="41148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b="1">
                <a:solidFill>
                  <a:srgbClr val="333333"/>
                </a:solidFill>
                <a:latin typeface="Calibri"/>
              </a:rPr>
              <a:t>  afternoon-brief</a:t>
            </a:r>
          </a:p>
        </p:txBody>
      </p:sp>
      <p:sp>
        <p:nvSpPr>
          <p:cNvPr id="27" name="Rectangle 26"/>
          <p:cNvSpPr/>
          <p:nvPr/>
        </p:nvSpPr>
        <p:spPr>
          <a:xfrm>
            <a:off x="3200400" y="4251960"/>
            <a:ext cx="1371600" cy="41148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16:00 EDT</a:t>
            </a:r>
          </a:p>
        </p:txBody>
      </p:sp>
      <p:sp>
        <p:nvSpPr>
          <p:cNvPr id="28" name="Rectangle 27"/>
          <p:cNvSpPr/>
          <p:nvPr/>
        </p:nvSpPr>
        <p:spPr>
          <a:xfrm>
            <a:off x="4572000" y="4251960"/>
            <a:ext cx="7616952" cy="41148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Full scheduled-brief pipeline · 5 phases</a:t>
            </a:r>
          </a:p>
        </p:txBody>
      </p:sp>
      <p:sp>
        <p:nvSpPr>
          <p:cNvPr id="29" name="Rectangle 28"/>
          <p:cNvSpPr/>
          <p:nvPr/>
        </p:nvSpPr>
        <p:spPr>
          <a:xfrm>
            <a:off x="457200" y="4663440"/>
            <a:ext cx="2743200" cy="41148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b="1">
                <a:solidFill>
                  <a:srgbClr val="333333"/>
                </a:solidFill>
                <a:latin typeface="Calibri"/>
              </a:rPr>
              <a:t>  flash-sweep-1800</a:t>
            </a:r>
          </a:p>
        </p:txBody>
      </p:sp>
      <p:sp>
        <p:nvSpPr>
          <p:cNvPr id="30" name="Rectangle 29"/>
          <p:cNvSpPr/>
          <p:nvPr/>
        </p:nvSpPr>
        <p:spPr>
          <a:xfrm>
            <a:off x="3200400" y="4663440"/>
            <a:ext cx="1371600" cy="41148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18:00 EDT</a:t>
            </a:r>
          </a:p>
        </p:txBody>
      </p:sp>
      <p:sp>
        <p:nvSpPr>
          <p:cNvPr id="31" name="Rectangle 30"/>
          <p:cNvSpPr/>
          <p:nvPr/>
        </p:nvSpPr>
        <p:spPr>
          <a:xfrm>
            <a:off x="4572000" y="4663440"/>
            <a:ext cx="7616952" cy="41148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FLASH sweep</a:t>
            </a:r>
          </a:p>
        </p:txBody>
      </p:sp>
      <p:sp>
        <p:nvSpPr>
          <p:cNvPr id="32" name="Rectangle 31"/>
          <p:cNvSpPr/>
          <p:nvPr/>
        </p:nvSpPr>
        <p:spPr>
          <a:xfrm>
            <a:off x="457200" y="4937760"/>
            <a:ext cx="11274552" cy="15544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4360" y="5029200"/>
            <a:ext cx="11000232" cy="1371600"/>
          </a:xfrm>
          <a:prstGeom prst="rect">
            <a:avLst/>
          </a:prstGeom>
          <a:noFill/>
        </p:spPr>
        <p:txBody>
          <a:bodyPr wrap="square">
            <a:spAutoFit/>
          </a:bodyPr>
          <a:lstStyle/>
          <a:p>
            <a:pPr algn="l"/>
            <a:r>
              <a:rPr sz="1000">
                <a:solidFill>
                  <a:srgbClr val="333333"/>
                </a:solidFill>
                <a:latin typeface="Consolas"/>
              </a:rPr>
              <a:t># Wrapper pattern — scripts/run_phase.ps1 (excerpt)</a:t>
            </a:r>
          </a:p>
          <a:p>
            <a:pPr algn="l"/>
            <a:r>
              <a:rPr sz="1000">
                <a:solidFill>
                  <a:srgbClr val="333333"/>
                </a:solidFill>
                <a:latin typeface="Consolas"/>
              </a:rPr>
              <a:t> </a:t>
            </a:r>
          </a:p>
          <a:p>
            <a:pPr algn="l"/>
            <a:r>
              <a:rPr sz="1000">
                <a:solidFill>
                  <a:srgbClr val="333333"/>
                </a:solidFill>
                <a:latin typeface="Consolas"/>
              </a:rPr>
              <a:t>$ErrorActionPreference = 'Stop'</a:t>
            </a:r>
          </a:p>
          <a:p>
            <a:pPr algn="l"/>
            <a:r>
              <a:rPr sz="1000">
                <a:solidFill>
                  <a:srgbClr val="333333"/>
                </a:solidFill>
                <a:latin typeface="Consolas"/>
              </a:rPr>
              <a:t>$phaseId = "morning-brief-$(Get-Date -Format yyyyMMdd-HHmmss)"</a:t>
            </a:r>
          </a:p>
          <a:p>
            <a:pPr algn="l"/>
            <a:r>
              <a:rPr sz="1000">
                <a:solidFill>
                  <a:srgbClr val="333333"/>
                </a:solidFill>
                <a:latin typeface="Consolas"/>
              </a:rPr>
              <a:t> </a:t>
            </a:r>
          </a:p>
          <a:p>
            <a:pPr algn="l"/>
            <a:r>
              <a:rPr sz="1000">
                <a:solidFill>
                  <a:srgbClr val="333333"/>
                </a:solidFill>
                <a:latin typeface="Consolas"/>
              </a:rPr>
              <a:t># Splunk: started event</a:t>
            </a:r>
          </a:p>
          <a:p>
            <a:pPr algn="l"/>
            <a:r>
              <a:rPr sz="1000">
                <a:solidFill>
                  <a:srgbClr val="333333"/>
                </a:solidFill>
                <a:latin typeface="Consolas"/>
              </a:rPr>
              <a:t>&amp; uv run python scripts/splunk_log.py --event-file $eventFile</a:t>
            </a:r>
          </a:p>
          <a:p>
            <a:pPr algn="l"/>
            <a:r>
              <a:rPr sz="1000">
                <a:solidFill>
                  <a:srgbClr val="333333"/>
                </a:solidFill>
                <a:latin typeface="Consolas"/>
              </a:rPr>
              <a:t> </a:t>
            </a:r>
          </a:p>
          <a:p>
            <a:pPr algn="l"/>
            <a:r>
              <a:rPr sz="1000">
                <a:solidFill>
                  <a:srgbClr val="333333"/>
                </a:solidFill>
                <a:latin typeface="Consolas"/>
              </a:rPr>
              <a:t># Invoke claude -p with the phase prompt</a:t>
            </a:r>
          </a:p>
          <a:p>
            <a:pPr algn="l"/>
            <a:r>
              <a:rPr sz="1000">
                <a:solidFill>
                  <a:srgbClr val="333333"/>
                </a:solidFill>
                <a:latin typeface="Consolas"/>
              </a:rPr>
              <a:t>&amp; claude -p "Execute the $phase pipeline. Mode 1 if scheduled brief."</a:t>
            </a:r>
          </a:p>
          <a:p>
            <a:pPr algn="l"/>
            <a:r>
              <a:rPr sz="1000">
                <a:solidFill>
                  <a:srgbClr val="333333"/>
                </a:solidFill>
                <a:latin typeface="Consolas"/>
              </a:rPr>
              <a:t> </a:t>
            </a:r>
          </a:p>
          <a:p>
            <a:pPr algn="l"/>
            <a:r>
              <a:rPr sz="1000">
                <a:solidFill>
                  <a:srgbClr val="333333"/>
                </a:solidFill>
                <a:latin typeface="Consolas"/>
              </a:rPr>
              <a:t># Catchup-push (mitigates librarian push variance)</a:t>
            </a:r>
          </a:p>
          <a:p>
            <a:pPr algn="l"/>
            <a:r>
              <a:rPr sz="1000">
                <a:solidFill>
                  <a:srgbClr val="333333"/>
                </a:solidFill>
                <a:latin typeface="Consolas"/>
              </a:rPr>
              <a:t>$exitCode = &amp; git push origin main; if ($?) { 0 } else { $LASTEXITCODE }</a:t>
            </a:r>
          </a:p>
          <a:p>
            <a:pPr algn="l"/>
            <a:r>
              <a:rPr sz="1000">
                <a:solidFill>
                  <a:srgbClr val="333333"/>
                </a:solidFill>
                <a:latin typeface="Consolas"/>
              </a:rPr>
              <a:t> </a:t>
            </a:r>
          </a:p>
          <a:p>
            <a:pPr algn="l"/>
            <a:r>
              <a:rPr sz="1000">
                <a:solidFill>
                  <a:srgbClr val="333333"/>
                </a:solidFill>
                <a:latin typeface="Consolas"/>
              </a:rPr>
              <a:t># Splunk: completed event with catchup_push_exit</a:t>
            </a:r>
          </a:p>
          <a:p>
            <a:pPr algn="l"/>
            <a:r>
              <a:rPr sz="1000">
                <a:solidFill>
                  <a:srgbClr val="333333"/>
                </a:solidFill>
                <a:latin typeface="Consolas"/>
              </a:rPr>
              <a:t>&amp; uv run python scripts/splunk_log.py --event-file $completedEvent</a:t>
            </a:r>
          </a:p>
        </p:txBody>
      </p:sp>
      <p:sp>
        <p:nvSpPr>
          <p:cNvPr id="34" name="TextBox 33"/>
          <p:cNvSpPr txBox="1"/>
          <p:nvPr/>
        </p:nvSpPr>
        <p:spPr>
          <a:xfrm>
            <a:off x="457200" y="6446520"/>
            <a:ext cx="11274552" cy="274320"/>
          </a:xfrm>
          <a:prstGeom prst="rect">
            <a:avLst/>
          </a:prstGeom>
          <a:noFill/>
        </p:spPr>
        <p:txBody>
          <a:bodyPr wrap="none">
            <a:spAutoFit/>
          </a:bodyPr>
          <a:lstStyle/>
          <a:p>
            <a:pPr algn="l"/>
            <a:r>
              <a:rPr sz="800" i="1">
                <a:solidFill>
                  <a:srgbClr val="666666"/>
                </a:solidFill>
                <a:latin typeface="Calibri"/>
              </a:rPr>
              <a:t>Archimedes · Architecture Walkthrough</a:t>
            </a:r>
          </a:p>
        </p:txBody>
      </p:sp>
      <p:sp>
        <p:nvSpPr>
          <p:cNvPr id="35" name="TextBox 34"/>
          <p:cNvSpPr txBox="1"/>
          <p:nvPr/>
        </p:nvSpPr>
        <p:spPr>
          <a:xfrm>
            <a:off x="10515600" y="6446520"/>
            <a:ext cx="1188720" cy="274320"/>
          </a:xfrm>
          <a:prstGeom prst="rect">
            <a:avLst/>
          </a:prstGeom>
          <a:noFill/>
        </p:spPr>
        <p:txBody>
          <a:bodyPr wrap="none">
            <a:spAutoFit/>
          </a:bodyPr>
          <a:lstStyle/>
          <a:p>
            <a:pPr algn="r"/>
            <a:r>
              <a:rPr sz="800">
                <a:solidFill>
                  <a:srgbClr val="666666"/>
                </a:solidFill>
                <a:latin typeface="Calibri"/>
              </a:rPr>
              <a:t>24 / 32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28600"/>
          </a:xfrm>
          <a:prstGeom prst="rect">
            <a:avLst/>
          </a:prstGeom>
          <a:solidFill>
            <a:srgbClr val="4A90E2"/>
          </a:solidFill>
          <a:ln>
            <a:noFill/>
          </a:ln>
        </p:spPr>
        <p:style>
          <a:lnRef idx="1">
            <a:schemeClr val="accent1"/>
          </a:lnRef>
          <a:fillRef idx="3">
            <a:schemeClr val="accent1"/>
          </a:fillRef>
          <a:effectRef idx="2">
            <a:schemeClr val="accent1"/>
          </a:effectRef>
          <a:fontRef idx="minor">
            <a:schemeClr val="lt1"/>
          </a:fontRef>
        </p:style>
        <p:txBody>
          <a:bodyPr rtlCol="0" anchor="ctr" tIns="18288" lIns="457200"/>
          <a:lstStyle/>
          <a:p>
            <a:pPr algn="ctr"/>
            <a:r>
              <a:rPr sz="1000" b="1">
                <a:solidFill>
                  <a:srgbClr val="FFFFFF"/>
                </a:solidFill>
                <a:latin typeface="Calibri"/>
              </a:rPr>
              <a:t>§5  ·  Infrastructure + ops</a:t>
            </a:r>
          </a:p>
        </p:txBody>
      </p:sp>
      <p:sp>
        <p:nvSpPr>
          <p:cNvPr id="3" name="TextBox 2"/>
          <p:cNvSpPr txBox="1"/>
          <p:nvPr/>
        </p:nvSpPr>
        <p:spPr>
          <a:xfrm>
            <a:off x="457200" y="274320"/>
            <a:ext cx="11274552" cy="640080"/>
          </a:xfrm>
          <a:prstGeom prst="rect">
            <a:avLst/>
          </a:prstGeom>
          <a:noFill/>
        </p:spPr>
        <p:txBody>
          <a:bodyPr wrap="square">
            <a:spAutoFit/>
          </a:bodyPr>
          <a:lstStyle/>
          <a:p>
            <a:pPr algn="l"/>
            <a:r>
              <a:rPr sz="2800" b="1">
                <a:solidFill>
                  <a:srgbClr val="1F3A5F"/>
                </a:solidFill>
                <a:latin typeface="Calibri"/>
              </a:rPr>
              <a:t>Hooks — bash scripts for deterministic side effects</a:t>
            </a:r>
          </a:p>
        </p:txBody>
      </p:sp>
      <p:sp>
        <p:nvSpPr>
          <p:cNvPr id="4" name="TextBox 3"/>
          <p:cNvSpPr txBox="1"/>
          <p:nvPr/>
        </p:nvSpPr>
        <p:spPr>
          <a:xfrm>
            <a:off x="457200" y="914400"/>
            <a:ext cx="11274552" cy="365760"/>
          </a:xfrm>
          <a:prstGeom prst="rect">
            <a:avLst/>
          </a:prstGeom>
          <a:noFill/>
        </p:spPr>
        <p:txBody>
          <a:bodyPr wrap="square">
            <a:spAutoFit/>
          </a:bodyPr>
          <a:lstStyle/>
          <a:p>
            <a:r>
              <a:rPr sz="1300" i="1">
                <a:solidFill>
                  <a:srgbClr val="666666"/>
                </a:solidFill>
                <a:latin typeface="Calibri"/>
              </a:rPr>
              <a:t>.claude/hooks/  — why hooks not subagents (no LLM cost, deterministic, easy to debug)</a:t>
            </a:r>
          </a:p>
        </p:txBody>
      </p:sp>
      <p:sp>
        <p:nvSpPr>
          <p:cNvPr id="5" name="Rectangle 4"/>
          <p:cNvSpPr/>
          <p:nvPr/>
        </p:nvSpPr>
        <p:spPr>
          <a:xfrm>
            <a:off x="457200" y="1417320"/>
            <a:ext cx="11274552" cy="5029200"/>
          </a:xfrm>
          <a:prstGeom prst="rect">
            <a:avLst/>
          </a:prstGeom>
          <a:solidFill>
            <a:srgbClr val="2D3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508760"/>
            <a:ext cx="11000232" cy="4846320"/>
          </a:xfrm>
          <a:prstGeom prst="rect">
            <a:avLst/>
          </a:prstGeom>
          <a:noFill/>
        </p:spPr>
        <p:txBody>
          <a:bodyPr wrap="square">
            <a:spAutoFit/>
          </a:bodyPr>
          <a:lstStyle/>
          <a:p>
            <a:pPr algn="l"/>
            <a:r>
              <a:rPr sz="1000">
                <a:solidFill>
                  <a:srgbClr val="E6E6E6"/>
                </a:solidFill>
                <a:latin typeface="Consolas"/>
              </a:rPr>
              <a:t>.claude/hooks/discord-post.sh</a:t>
            </a:r>
          </a:p>
          <a:p>
            <a:pPr algn="l"/>
            <a:r>
              <a:rPr sz="1000">
                <a:solidFill>
                  <a:srgbClr val="E6E6E6"/>
                </a:solidFill>
                <a:latin typeface="Consolas"/>
              </a:rPr>
              <a:t> </a:t>
            </a:r>
          </a:p>
          <a:p>
            <a:pPr algn="l"/>
            <a:r>
              <a:rPr sz="1000">
                <a:solidFill>
                  <a:srgbClr val="E6E6E6"/>
                </a:solidFill>
                <a:latin typeface="Consolas"/>
              </a:rPr>
              <a:t>#!/usr/bin/env bash</a:t>
            </a:r>
          </a:p>
          <a:p>
            <a:pPr algn="l"/>
            <a:r>
              <a:rPr sz="1000">
                <a:solidFill>
                  <a:srgbClr val="E6E6E6"/>
                </a:solidFill>
                <a:latin typeface="Consolas"/>
              </a:rPr>
              <a:t># Post a message file to a Discord channel via webhook.</a:t>
            </a:r>
          </a:p>
          <a:p>
            <a:pPr algn="l"/>
            <a:r>
              <a:rPr sz="1000">
                <a:solidFill>
                  <a:srgbClr val="E6E6E6"/>
                </a:solidFill>
                <a:latin typeface="Consolas"/>
              </a:rPr>
              <a:t># Invoked by librarian: bash discord-post.sh --channel intel-briefs --message-file &lt;path&gt;</a:t>
            </a:r>
          </a:p>
          <a:p>
            <a:pPr algn="l"/>
            <a:r>
              <a:rPr sz="1000">
                <a:solidFill>
                  <a:srgbClr val="E6E6E6"/>
                </a:solidFill>
                <a:latin typeface="Consolas"/>
              </a:rPr>
              <a:t> </a:t>
            </a:r>
          </a:p>
          <a:p>
            <a:pPr algn="l"/>
            <a:r>
              <a:rPr sz="1000">
                <a:solidFill>
                  <a:srgbClr val="E6E6E6"/>
                </a:solidFill>
                <a:latin typeface="Consolas"/>
              </a:rPr>
              <a:t>set -euo pipefail</a:t>
            </a:r>
          </a:p>
          <a:p>
            <a:pPr algn="l"/>
            <a:r>
              <a:rPr sz="1000">
                <a:solidFill>
                  <a:srgbClr val="E6E6E6"/>
                </a:solidFill>
                <a:latin typeface="Consolas"/>
              </a:rPr>
              <a:t> </a:t>
            </a:r>
          </a:p>
          <a:p>
            <a:pPr algn="l"/>
            <a:r>
              <a:rPr sz="1000">
                <a:solidFill>
                  <a:srgbClr val="E6E6E6"/>
                </a:solidFill>
                <a:latin typeface="Consolas"/>
              </a:rPr>
              <a:t>CHANNEL=""; MESSAGE_FILE=""; FLASH=false</a:t>
            </a:r>
          </a:p>
          <a:p>
            <a:pPr algn="l"/>
            <a:r>
              <a:rPr sz="1000">
                <a:solidFill>
                  <a:srgbClr val="E6E6E6"/>
                </a:solidFill>
                <a:latin typeface="Consolas"/>
              </a:rPr>
              <a:t>while [[ $# -gt 0 ]]; do</a:t>
            </a:r>
          </a:p>
          <a:p>
            <a:pPr algn="l"/>
            <a:r>
              <a:rPr sz="1000">
                <a:solidFill>
                  <a:srgbClr val="E6E6E6"/>
                </a:solidFill>
                <a:latin typeface="Consolas"/>
              </a:rPr>
              <a:t>    case "$1" in</a:t>
            </a:r>
          </a:p>
          <a:p>
            <a:pPr algn="l"/>
            <a:r>
              <a:rPr sz="1000">
                <a:solidFill>
                  <a:srgbClr val="E6E6E6"/>
                </a:solidFill>
                <a:latin typeface="Consolas"/>
              </a:rPr>
              <a:t>        --channel)      CHANNEL="$2"; shift 2 ;;</a:t>
            </a:r>
          </a:p>
          <a:p>
            <a:pPr algn="l"/>
            <a:r>
              <a:rPr sz="1000">
                <a:solidFill>
                  <a:srgbClr val="E6E6E6"/>
                </a:solidFill>
                <a:latin typeface="Consolas"/>
              </a:rPr>
              <a:t>        --message-file) MESSAGE_FILE="$2"; shift 2 ;;</a:t>
            </a:r>
          </a:p>
          <a:p>
            <a:pPr algn="l"/>
            <a:r>
              <a:rPr sz="1000">
                <a:solidFill>
                  <a:srgbClr val="E6E6E6"/>
                </a:solidFill>
                <a:latin typeface="Consolas"/>
              </a:rPr>
              <a:t>        --flash)        FLASH=true; shift ;;</a:t>
            </a:r>
          </a:p>
          <a:p>
            <a:pPr algn="l"/>
            <a:r>
              <a:rPr sz="1000">
                <a:solidFill>
                  <a:srgbClr val="E6E6E6"/>
                </a:solidFill>
                <a:latin typeface="Consolas"/>
              </a:rPr>
              <a:t>    esac</a:t>
            </a:r>
          </a:p>
          <a:p>
            <a:pPr algn="l"/>
            <a:r>
              <a:rPr sz="1000">
                <a:solidFill>
                  <a:srgbClr val="E6E6E6"/>
                </a:solidFill>
                <a:latin typeface="Consolas"/>
              </a:rPr>
              <a:t>done</a:t>
            </a:r>
          </a:p>
          <a:p>
            <a:pPr algn="l"/>
            <a:r>
              <a:rPr sz="1000">
                <a:solidFill>
                  <a:srgbClr val="E6E6E6"/>
                </a:solidFill>
                <a:latin typeface="Consolas"/>
              </a:rPr>
              <a:t> </a:t>
            </a:r>
          </a:p>
          <a:p>
            <a:pPr algn="l"/>
            <a:r>
              <a:rPr sz="1000">
                <a:solidFill>
                  <a:srgbClr val="E6E6E6"/>
                </a:solidFill>
                <a:latin typeface="Consolas"/>
              </a:rPr>
              <a:t># Resolve webhook URL by channel name (from .env)</a:t>
            </a:r>
          </a:p>
          <a:p>
            <a:pPr algn="l"/>
            <a:r>
              <a:rPr sz="1000">
                <a:solidFill>
                  <a:srgbClr val="E6E6E6"/>
                </a:solidFill>
                <a:latin typeface="Consolas"/>
              </a:rPr>
              <a:t>case "$CHANNEL" in</a:t>
            </a:r>
          </a:p>
          <a:p>
            <a:pPr algn="l"/>
            <a:r>
              <a:rPr sz="1000">
                <a:solidFill>
                  <a:srgbClr val="E6E6E6"/>
                </a:solidFill>
                <a:latin typeface="Consolas"/>
              </a:rPr>
              <a:t>    intel-briefs)   WEBHOOK="$DISCORD_WEBHOOK_INTEL_BRIEFS" ;;</a:t>
            </a:r>
          </a:p>
          <a:p>
            <a:pPr algn="l"/>
            <a:r>
              <a:rPr sz="1000">
                <a:solidFill>
                  <a:srgbClr val="E6E6E6"/>
                </a:solidFill>
                <a:latin typeface="Consolas"/>
              </a:rPr>
              <a:t>    flash-alerts)   WEBHOOK="$DISCORD_WEBHOOK_FLASH_ALERTS" ;;</a:t>
            </a:r>
          </a:p>
          <a:p>
            <a:pPr algn="l"/>
            <a:r>
              <a:rPr sz="1000">
                <a:solidFill>
                  <a:srgbClr val="E6E6E6"/>
                </a:solidFill>
                <a:latin typeface="Consolas"/>
              </a:rPr>
              <a:t>    actor-review)   WEBHOOK="$DISCORD_WEBHOOK_ACTOR_REVIEW" ;;</a:t>
            </a:r>
          </a:p>
          <a:p>
            <a:pPr algn="l"/>
            <a:r>
              <a:rPr sz="1000">
                <a:solidFill>
                  <a:srgbClr val="E6E6E6"/>
                </a:solidFill>
                <a:latin typeface="Consolas"/>
              </a:rPr>
              <a:t>    *) echo "Unknown channel: $CHANNEL"; exit 1 ;;</a:t>
            </a:r>
          </a:p>
          <a:p>
            <a:pPr algn="l"/>
            <a:r>
              <a:rPr sz="1000">
                <a:solidFill>
                  <a:srgbClr val="E6E6E6"/>
                </a:solidFill>
                <a:latin typeface="Consolas"/>
              </a:rPr>
              <a:t>esac</a:t>
            </a:r>
          </a:p>
          <a:p>
            <a:pPr algn="l"/>
            <a:r>
              <a:rPr sz="1000">
                <a:solidFill>
                  <a:srgbClr val="E6E6E6"/>
                </a:solidFill>
                <a:latin typeface="Consolas"/>
              </a:rPr>
              <a:t> </a:t>
            </a:r>
          </a:p>
          <a:p>
            <a:pPr algn="l"/>
            <a:r>
              <a:rPr sz="1000">
                <a:solidFill>
                  <a:srgbClr val="E6E6E6"/>
                </a:solidFill>
                <a:latin typeface="Consolas"/>
              </a:rPr>
              <a:t># Read message body; truncate at 2000 chars if needed (Discord limit)</a:t>
            </a:r>
          </a:p>
          <a:p>
            <a:pPr algn="l"/>
            <a:r>
              <a:rPr sz="1000">
                <a:solidFill>
                  <a:srgbClr val="E6E6E6"/>
                </a:solidFill>
                <a:latin typeface="Consolas"/>
              </a:rPr>
              <a:t>BODY=$(cat "$MESSAGE_FILE")</a:t>
            </a:r>
          </a:p>
          <a:p>
            <a:pPr algn="l"/>
            <a:r>
              <a:rPr sz="1000">
                <a:solidFill>
                  <a:srgbClr val="E6E6E6"/>
                </a:solidFill>
                <a:latin typeface="Consolas"/>
              </a:rPr>
              <a:t>if [[ ${#BODY} -gt 2000 ]]; then</a:t>
            </a:r>
          </a:p>
          <a:p>
            <a:pPr algn="l"/>
            <a:r>
              <a:rPr sz="1000">
                <a:solidFill>
                  <a:srgbClr val="E6E6E6"/>
                </a:solidFill>
                <a:latin typeface="Consolas"/>
              </a:rPr>
              <a:t>    echo "WARN: body &gt;2000 chars; truncating"</a:t>
            </a:r>
          </a:p>
          <a:p>
            <a:pPr algn="l"/>
            <a:r>
              <a:rPr sz="1000">
                <a:solidFill>
                  <a:srgbClr val="E6E6E6"/>
                </a:solidFill>
                <a:latin typeface="Consolas"/>
              </a:rPr>
              <a:t>    BODY="${BODY:0:1997}..."</a:t>
            </a:r>
          </a:p>
          <a:p>
            <a:pPr algn="l"/>
            <a:r>
              <a:rPr sz="1000">
                <a:solidFill>
                  <a:srgbClr val="E6E6E6"/>
                </a:solidFill>
                <a:latin typeface="Consolas"/>
              </a:rPr>
              <a:t>fi</a:t>
            </a:r>
          </a:p>
          <a:p>
            <a:pPr algn="l"/>
            <a:r>
              <a:rPr sz="1000">
                <a:solidFill>
                  <a:srgbClr val="E6E6E6"/>
                </a:solidFill>
                <a:latin typeface="Consolas"/>
              </a:rPr>
              <a:t> </a:t>
            </a:r>
          </a:p>
          <a:p>
            <a:pPr algn="l"/>
            <a:r>
              <a:rPr sz="1000">
                <a:solidFill>
                  <a:srgbClr val="E6E6E6"/>
                </a:solidFill>
                <a:latin typeface="Consolas"/>
              </a:rPr>
              <a:t># POST</a:t>
            </a:r>
          </a:p>
          <a:p>
            <a:pPr algn="l"/>
            <a:r>
              <a:rPr sz="1000">
                <a:solidFill>
                  <a:srgbClr val="E6E6E6"/>
                </a:solidFill>
                <a:latin typeface="Consolas"/>
              </a:rPr>
              <a:t>curl -X POST -H "Content-Type: application/json" \</a:t>
            </a:r>
          </a:p>
          <a:p>
            <a:pPr algn="l"/>
            <a:r>
              <a:rPr sz="1000">
                <a:solidFill>
                  <a:srgbClr val="E6E6E6"/>
                </a:solidFill>
                <a:latin typeface="Consolas"/>
              </a:rPr>
              <a:t>     -d "$(jq -Rs '{content: .}' &lt;&lt;&lt; "$BODY")" \</a:t>
            </a:r>
          </a:p>
          <a:p>
            <a:pPr algn="l"/>
            <a:r>
              <a:rPr sz="1000">
                <a:solidFill>
                  <a:srgbClr val="E6E6E6"/>
                </a:solidFill>
                <a:latin typeface="Consolas"/>
              </a:rPr>
              <a:t>     "$WEBHOOK"</a:t>
            </a:r>
          </a:p>
          <a:p>
            <a:pPr algn="l"/>
            <a:r>
              <a:rPr sz="1000">
                <a:solidFill>
                  <a:srgbClr val="E6E6E6"/>
                </a:solidFill>
                <a:latin typeface="Consolas"/>
              </a:rPr>
              <a:t> </a:t>
            </a:r>
          </a:p>
          <a:p>
            <a:pPr algn="l"/>
            <a:r>
              <a:rPr sz="1000">
                <a:solidFill>
                  <a:srgbClr val="E6E6E6"/>
                </a:solidFill>
                <a:latin typeface="Consolas"/>
              </a:rPr>
              <a:t>echo "POSTED to #$CHANNEL"   # parsed by librarian for status</a:t>
            </a:r>
          </a:p>
        </p:txBody>
      </p:sp>
      <p:sp>
        <p:nvSpPr>
          <p:cNvPr id="7" name="TextBox 6"/>
          <p:cNvSpPr txBox="1"/>
          <p:nvPr/>
        </p:nvSpPr>
        <p:spPr>
          <a:xfrm>
            <a:off x="457200" y="6446520"/>
            <a:ext cx="11274552" cy="274320"/>
          </a:xfrm>
          <a:prstGeom prst="rect">
            <a:avLst/>
          </a:prstGeom>
          <a:noFill/>
        </p:spPr>
        <p:txBody>
          <a:bodyPr wrap="none">
            <a:spAutoFit/>
          </a:bodyPr>
          <a:lstStyle/>
          <a:p>
            <a:pPr algn="l"/>
            <a:r>
              <a:rPr sz="800" i="1">
                <a:solidFill>
                  <a:srgbClr val="666666"/>
                </a:solidFill>
                <a:latin typeface="Calibri"/>
              </a:rPr>
              <a:t>Archimedes · Architecture Walkthrough</a:t>
            </a:r>
          </a:p>
        </p:txBody>
      </p:sp>
      <p:sp>
        <p:nvSpPr>
          <p:cNvPr id="8" name="TextBox 7"/>
          <p:cNvSpPr txBox="1"/>
          <p:nvPr/>
        </p:nvSpPr>
        <p:spPr>
          <a:xfrm>
            <a:off x="10515600" y="6446520"/>
            <a:ext cx="1188720" cy="274320"/>
          </a:xfrm>
          <a:prstGeom prst="rect">
            <a:avLst/>
          </a:prstGeom>
          <a:noFill/>
        </p:spPr>
        <p:txBody>
          <a:bodyPr wrap="none">
            <a:spAutoFit/>
          </a:bodyPr>
          <a:lstStyle/>
          <a:p>
            <a:pPr algn="r"/>
            <a:r>
              <a:rPr sz="800">
                <a:solidFill>
                  <a:srgbClr val="666666"/>
                </a:solidFill>
                <a:latin typeface="Calibri"/>
              </a:rPr>
              <a:t>25 / 32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28600"/>
          </a:xfrm>
          <a:prstGeom prst="rect">
            <a:avLst/>
          </a:prstGeom>
          <a:solidFill>
            <a:srgbClr val="4A90E2"/>
          </a:solidFill>
          <a:ln>
            <a:noFill/>
          </a:ln>
        </p:spPr>
        <p:style>
          <a:lnRef idx="1">
            <a:schemeClr val="accent1"/>
          </a:lnRef>
          <a:fillRef idx="3">
            <a:schemeClr val="accent1"/>
          </a:fillRef>
          <a:effectRef idx="2">
            <a:schemeClr val="accent1"/>
          </a:effectRef>
          <a:fontRef idx="minor">
            <a:schemeClr val="lt1"/>
          </a:fontRef>
        </p:style>
        <p:txBody>
          <a:bodyPr rtlCol="0" anchor="ctr" tIns="18288" lIns="457200"/>
          <a:lstStyle/>
          <a:p>
            <a:pPr algn="ctr"/>
            <a:r>
              <a:rPr sz="1000" b="1">
                <a:solidFill>
                  <a:srgbClr val="FFFFFF"/>
                </a:solidFill>
                <a:latin typeface="Calibri"/>
              </a:rPr>
              <a:t>§5  ·  Infrastructure + ops</a:t>
            </a:r>
          </a:p>
        </p:txBody>
      </p:sp>
      <p:sp>
        <p:nvSpPr>
          <p:cNvPr id="3" name="TextBox 2"/>
          <p:cNvSpPr txBox="1"/>
          <p:nvPr/>
        </p:nvSpPr>
        <p:spPr>
          <a:xfrm>
            <a:off x="457200" y="274320"/>
            <a:ext cx="11274552" cy="640080"/>
          </a:xfrm>
          <a:prstGeom prst="rect">
            <a:avLst/>
          </a:prstGeom>
          <a:noFill/>
        </p:spPr>
        <p:txBody>
          <a:bodyPr wrap="square">
            <a:spAutoFit/>
          </a:bodyPr>
          <a:lstStyle/>
          <a:p>
            <a:pPr algn="l"/>
            <a:r>
              <a:rPr sz="2800" b="1">
                <a:solidFill>
                  <a:srgbClr val="1F3A5F"/>
                </a:solidFill>
                <a:latin typeface="Calibri"/>
              </a:rPr>
              <a:t>Audit trail — three logs that reconstruct any action</a:t>
            </a:r>
          </a:p>
        </p:txBody>
      </p:sp>
      <p:sp>
        <p:nvSpPr>
          <p:cNvPr id="4" name="TextBox 3"/>
          <p:cNvSpPr txBox="1"/>
          <p:nvPr/>
        </p:nvSpPr>
        <p:spPr>
          <a:xfrm>
            <a:off x="457200" y="914400"/>
            <a:ext cx="11274552" cy="365760"/>
          </a:xfrm>
          <a:prstGeom prst="rect">
            <a:avLst/>
          </a:prstGeom>
          <a:noFill/>
        </p:spPr>
        <p:txBody>
          <a:bodyPr wrap="square">
            <a:spAutoFit/>
          </a:bodyPr>
          <a:lstStyle/>
          <a:p>
            <a:r>
              <a:rPr sz="1300" i="1">
                <a:solidFill>
                  <a:srgbClr val="666666"/>
                </a:solidFill>
                <a:latin typeface="Calibri"/>
              </a:rPr>
              <a:t>Together: git + Splunk + Discord = full provenance for everything the agent did.</a:t>
            </a:r>
          </a:p>
        </p:txBody>
      </p:sp>
      <p:sp>
        <p:nvSpPr>
          <p:cNvPr id="5" name="TextBox 4"/>
          <p:cNvSpPr txBox="1"/>
          <p:nvPr/>
        </p:nvSpPr>
        <p:spPr>
          <a:xfrm>
            <a:off x="457200" y="1463040"/>
            <a:ext cx="11274552" cy="4754880"/>
          </a:xfrm>
          <a:prstGeom prst="rect">
            <a:avLst/>
          </a:prstGeom>
          <a:noFill/>
        </p:spPr>
        <p:txBody>
          <a:bodyPr wrap="square">
            <a:spAutoFit/>
          </a:bodyPr>
          <a:lstStyle/>
          <a:p>
            <a:pPr algn="l">
              <a:lnSpc>
                <a:spcPct val="115000"/>
              </a:lnSpc>
            </a:pPr>
            <a:r>
              <a:rPr sz="1200" b="1">
                <a:solidFill>
                  <a:srgbClr val="333333"/>
                </a:solidFill>
                <a:latin typeface="Calibri"/>
              </a:rPr>
              <a:t>• git history — the corpus changes</a:t>
            </a:r>
          </a:p>
          <a:p>
            <a:pPr algn="l">
              <a:lnSpc>
                <a:spcPct val="115000"/>
              </a:lnSpc>
            </a:pPr>
            <a:r>
              <a:rPr sz="1000" i="1">
                <a:solidFill>
                  <a:srgbClr val="666666"/>
                </a:solidFill>
                <a:latin typeface="Calibri"/>
              </a:rPr>
              <a:t>   Every brief committed. Every finding committed. Every dossier update. Every doctrine revision. 60+ commits/week typical. Provenance is queryable: `git log --since`, `git blame`, `git log -p &lt;file&gt;`. Co-Authored-By: Claude trailer on every commit makes agent-vs-human authorship explicit.</a:t>
            </a:r>
          </a:p>
          <a:p>
            <a:pPr algn="l">
              <a:lnSpc>
                <a:spcPct val="115000"/>
              </a:lnSpc>
              <a:spcBef>
                <a:spcPts val="600"/>
              </a:spcBef>
            </a:pPr>
            <a:r>
              <a:rPr sz="1200" b="1">
                <a:solidFill>
                  <a:srgbClr val="333333"/>
                </a:solidFill>
                <a:latin typeface="Calibri"/>
              </a:rPr>
              <a:t>• Splunk events — operational telemetry</a:t>
            </a:r>
          </a:p>
          <a:p>
            <a:pPr algn="l">
              <a:lnSpc>
                <a:spcPct val="115000"/>
              </a:lnSpc>
            </a:pPr>
            <a:r>
              <a:rPr sz="1000" i="1">
                <a:solidFill>
                  <a:srgbClr val="666666"/>
                </a:solidFill>
                <a:latin typeface="Calibri"/>
              </a:rPr>
              <a:t>   Sourcetype: archimedes:operation. Events: run_started, run_completed, brief_published, git_committed, flash_queued, threat_box_scoring_completed, discord_format_preview_posted, retraction_logged, policy_violation. Indexed for dashboarding + alerting on agent behavior.</a:t>
            </a:r>
          </a:p>
          <a:p>
            <a:pPr algn="l">
              <a:lnSpc>
                <a:spcPct val="115000"/>
              </a:lnSpc>
              <a:spcBef>
                <a:spcPts val="600"/>
              </a:spcBef>
            </a:pPr>
            <a:r>
              <a:rPr sz="1200" b="1">
                <a:solidFill>
                  <a:srgbClr val="333333"/>
                </a:solidFill>
                <a:latin typeface="Calibri"/>
              </a:rPr>
              <a:t>• Discord channels — delivery log</a:t>
            </a:r>
          </a:p>
          <a:p>
            <a:pPr algn="l">
              <a:lnSpc>
                <a:spcPct val="115000"/>
              </a:lnSpc>
            </a:pPr>
            <a:r>
              <a:rPr sz="1000" i="1">
                <a:solidFill>
                  <a:srgbClr val="666666"/>
                </a:solidFill>
                <a:latin typeface="Calibri"/>
              </a:rPr>
              <a:t>   #intel-briefs (scheduled briefs + Layer 2 summaries). #flash-alerts (FLASH posts). #actor-review (HIGH-scoring proposals + retraction proposals). #commands (operator slash commands + responses). Every channel post has a message ID; ID recorded in Splunk.</a:t>
            </a:r>
          </a:p>
          <a:p>
            <a:pPr algn="l">
              <a:lnSpc>
                <a:spcPct val="115000"/>
              </a:lnSpc>
              <a:spcBef>
                <a:spcPts val="600"/>
              </a:spcBef>
            </a:pPr>
            <a:r>
              <a:rPr sz="1200" b="1">
                <a:solidFill>
                  <a:srgbClr val="333333"/>
                </a:solidFill>
                <a:latin typeface="Calibri"/>
              </a:rPr>
              <a:t>• Cross-reference via run_id</a:t>
            </a:r>
          </a:p>
          <a:p>
            <a:pPr algn="l">
              <a:lnSpc>
                <a:spcPct val="115000"/>
              </a:lnSpc>
            </a:pPr>
            <a:r>
              <a:rPr sz="1000" i="1">
                <a:solidFill>
                  <a:srgbClr val="666666"/>
                </a:solidFill>
                <a:latin typeface="Calibri"/>
              </a:rPr>
              <a:t>   Every scheduled phase has a run_id (e.g., morning-brief-20260511-080000). The run_id appears in the git commit message, the Splunk event, and the Discord post. Three logs joined on one key.</a:t>
            </a:r>
          </a:p>
          <a:p>
            <a:pPr algn="l">
              <a:lnSpc>
                <a:spcPct val="115000"/>
              </a:lnSpc>
              <a:spcBef>
                <a:spcPts val="600"/>
              </a:spcBef>
            </a:pPr>
            <a:r>
              <a:rPr sz="1200" b="1">
                <a:solidFill>
                  <a:srgbClr val="333333"/>
                </a:solidFill>
                <a:latin typeface="Calibri"/>
              </a:rPr>
              <a:t>• Refusal logging — policy-violations.yaml</a:t>
            </a:r>
          </a:p>
          <a:p>
            <a:pPr algn="l">
              <a:lnSpc>
                <a:spcPct val="115000"/>
              </a:lnSpc>
            </a:pPr>
            <a:r>
              <a:rPr sz="1000" i="1">
                <a:solidFill>
                  <a:srgbClr val="666666"/>
                </a:solidFill>
                <a:latin typeface="Calibri"/>
              </a:rPr>
              <a:t>   Every Hard Rule refusal logged to infrastructure/policy-violations.yaml with timestamp, subagent, section, attempted_action, triggering_prompt (sanitized), reason. Auditable record of what the agent WAS asked to do but refused.</a:t>
            </a:r>
          </a:p>
        </p:txBody>
      </p:sp>
      <p:sp>
        <p:nvSpPr>
          <p:cNvPr id="6" name="TextBox 5"/>
          <p:cNvSpPr txBox="1"/>
          <p:nvPr/>
        </p:nvSpPr>
        <p:spPr>
          <a:xfrm>
            <a:off x="457200" y="6446520"/>
            <a:ext cx="11274552" cy="274320"/>
          </a:xfrm>
          <a:prstGeom prst="rect">
            <a:avLst/>
          </a:prstGeom>
          <a:noFill/>
        </p:spPr>
        <p:txBody>
          <a:bodyPr wrap="none">
            <a:spAutoFit/>
          </a:bodyPr>
          <a:lstStyle/>
          <a:p>
            <a:pPr algn="l"/>
            <a:r>
              <a:rPr sz="800" i="1">
                <a:solidFill>
                  <a:srgbClr val="666666"/>
                </a:solidFill>
                <a:latin typeface="Calibri"/>
              </a:rPr>
              <a:t>Archimedes · Architecture Walkthrough</a:t>
            </a:r>
          </a:p>
        </p:txBody>
      </p:sp>
      <p:sp>
        <p:nvSpPr>
          <p:cNvPr id="7" name="TextBox 6"/>
          <p:cNvSpPr txBox="1"/>
          <p:nvPr/>
        </p:nvSpPr>
        <p:spPr>
          <a:xfrm>
            <a:off x="10515600" y="6446520"/>
            <a:ext cx="1188720" cy="274320"/>
          </a:xfrm>
          <a:prstGeom prst="rect">
            <a:avLst/>
          </a:prstGeom>
          <a:noFill/>
        </p:spPr>
        <p:txBody>
          <a:bodyPr wrap="none">
            <a:spAutoFit/>
          </a:bodyPr>
          <a:lstStyle/>
          <a:p>
            <a:pPr algn="r"/>
            <a:r>
              <a:rPr sz="800">
                <a:solidFill>
                  <a:srgbClr val="666666"/>
                </a:solidFill>
                <a:latin typeface="Calibri"/>
              </a:rPr>
              <a:t>26 / 32</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28600"/>
          </a:xfrm>
          <a:prstGeom prst="rect">
            <a:avLst/>
          </a:prstGeom>
          <a:solidFill>
            <a:srgbClr val="4A90E2"/>
          </a:solidFill>
          <a:ln>
            <a:noFill/>
          </a:ln>
        </p:spPr>
        <p:style>
          <a:lnRef idx="1">
            <a:schemeClr val="accent1"/>
          </a:lnRef>
          <a:fillRef idx="3">
            <a:schemeClr val="accent1"/>
          </a:fillRef>
          <a:effectRef idx="2">
            <a:schemeClr val="accent1"/>
          </a:effectRef>
          <a:fontRef idx="minor">
            <a:schemeClr val="lt1"/>
          </a:fontRef>
        </p:style>
        <p:txBody>
          <a:bodyPr rtlCol="0" anchor="ctr" tIns="18288" lIns="457200"/>
          <a:lstStyle/>
          <a:p>
            <a:pPr algn="ctr"/>
            <a:r>
              <a:rPr sz="1000" b="1">
                <a:solidFill>
                  <a:srgbClr val="FFFFFF"/>
                </a:solidFill>
                <a:latin typeface="Calibri"/>
              </a:rPr>
              <a:t>§5  ·  Infrastructure + ops</a:t>
            </a:r>
          </a:p>
        </p:txBody>
      </p:sp>
      <p:sp>
        <p:nvSpPr>
          <p:cNvPr id="3" name="TextBox 2"/>
          <p:cNvSpPr txBox="1"/>
          <p:nvPr/>
        </p:nvSpPr>
        <p:spPr>
          <a:xfrm>
            <a:off x="457200" y="274320"/>
            <a:ext cx="11274552" cy="640080"/>
          </a:xfrm>
          <a:prstGeom prst="rect">
            <a:avLst/>
          </a:prstGeom>
          <a:noFill/>
        </p:spPr>
        <p:txBody>
          <a:bodyPr wrap="square">
            <a:spAutoFit/>
          </a:bodyPr>
          <a:lstStyle/>
          <a:p>
            <a:pPr algn="l"/>
            <a:r>
              <a:rPr sz="2800" b="1">
                <a:solidFill>
                  <a:srgbClr val="1F3A5F"/>
                </a:solidFill>
                <a:latin typeface="Calibri"/>
              </a:rPr>
              <a:t>Configuration — what's where, what's gitignored</a:t>
            </a:r>
          </a:p>
        </p:txBody>
      </p:sp>
      <p:sp>
        <p:nvSpPr>
          <p:cNvPr id="4" name="TextBox 3"/>
          <p:cNvSpPr txBox="1"/>
          <p:nvPr/>
        </p:nvSpPr>
        <p:spPr>
          <a:xfrm>
            <a:off x="457200" y="914400"/>
            <a:ext cx="11274552" cy="365760"/>
          </a:xfrm>
          <a:prstGeom prst="rect">
            <a:avLst/>
          </a:prstGeom>
          <a:noFill/>
        </p:spPr>
        <p:txBody>
          <a:bodyPr wrap="square">
            <a:spAutoFit/>
          </a:bodyPr>
          <a:lstStyle/>
          <a:p>
            <a:r>
              <a:rPr sz="1300" i="1">
                <a:solidFill>
                  <a:srgbClr val="666666"/>
                </a:solidFill>
                <a:latin typeface="Calibri"/>
              </a:rPr>
              <a:t>Three classes: secrets (.env), agent-readable YAML (infrastructure/), runtime state (gitignored YAML).</a:t>
            </a:r>
          </a:p>
        </p:txBody>
      </p:sp>
      <p:sp>
        <p:nvSpPr>
          <p:cNvPr id="5" name="Rectangle 4"/>
          <p:cNvSpPr/>
          <p:nvPr/>
        </p:nvSpPr>
        <p:spPr>
          <a:xfrm>
            <a:off x="457200" y="1371600"/>
            <a:ext cx="3474720" cy="3840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tIns="73152"/>
          <a:lstStyle/>
          <a:p>
            <a:pPr algn="ctr"/>
            <a:r>
              <a:rPr sz="1100" b="1">
                <a:solidFill>
                  <a:srgbClr val="FFFFFF"/>
                </a:solidFill>
                <a:latin typeface="Calibri"/>
              </a:rPr>
              <a:t>  File</a:t>
            </a:r>
          </a:p>
        </p:txBody>
      </p:sp>
      <p:sp>
        <p:nvSpPr>
          <p:cNvPr id="6" name="Rectangle 5"/>
          <p:cNvSpPr/>
          <p:nvPr/>
        </p:nvSpPr>
        <p:spPr>
          <a:xfrm>
            <a:off x="3931920" y="1371600"/>
            <a:ext cx="1463040" cy="3840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tIns="73152"/>
          <a:lstStyle/>
          <a:p>
            <a:pPr algn="ctr"/>
            <a:r>
              <a:rPr sz="1100" b="1">
                <a:solidFill>
                  <a:srgbClr val="FFFFFF"/>
                </a:solidFill>
                <a:latin typeface="Calibri"/>
              </a:rPr>
              <a:t>  Git status</a:t>
            </a:r>
          </a:p>
        </p:txBody>
      </p:sp>
      <p:sp>
        <p:nvSpPr>
          <p:cNvPr id="7" name="Rectangle 6"/>
          <p:cNvSpPr/>
          <p:nvPr/>
        </p:nvSpPr>
        <p:spPr>
          <a:xfrm>
            <a:off x="5394960" y="1371600"/>
            <a:ext cx="6336792" cy="3840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tIns="73152"/>
          <a:lstStyle/>
          <a:p>
            <a:pPr algn="ctr"/>
            <a:r>
              <a:rPr sz="1100" b="1">
                <a:solidFill>
                  <a:srgbClr val="FFFFFF"/>
                </a:solidFill>
                <a:latin typeface="Calibri"/>
              </a:rPr>
              <a:t>  Contents</a:t>
            </a:r>
          </a:p>
        </p:txBody>
      </p:sp>
      <p:sp>
        <p:nvSpPr>
          <p:cNvPr id="8" name="Rectangle 7"/>
          <p:cNvSpPr/>
          <p:nvPr/>
        </p:nvSpPr>
        <p:spPr>
          <a:xfrm>
            <a:off x="457200" y="1755648"/>
            <a:ext cx="3474720" cy="38404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b="1">
                <a:solidFill>
                  <a:srgbClr val="333333"/>
                </a:solidFill>
                <a:latin typeface="Calibri"/>
              </a:rPr>
              <a:t>  .env</a:t>
            </a:r>
          </a:p>
        </p:txBody>
      </p:sp>
      <p:sp>
        <p:nvSpPr>
          <p:cNvPr id="9" name="Rectangle 8"/>
          <p:cNvSpPr/>
          <p:nvPr/>
        </p:nvSpPr>
        <p:spPr>
          <a:xfrm>
            <a:off x="3931920" y="1755648"/>
            <a:ext cx="1463040" cy="38404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a:solidFill>
                  <a:srgbClr val="333333"/>
                </a:solidFill>
                <a:latin typeface="Calibri"/>
              </a:rPr>
              <a:t>  gitignored</a:t>
            </a:r>
          </a:p>
        </p:txBody>
      </p:sp>
      <p:sp>
        <p:nvSpPr>
          <p:cNvPr id="10" name="Rectangle 9"/>
          <p:cNvSpPr/>
          <p:nvPr/>
        </p:nvSpPr>
        <p:spPr>
          <a:xfrm>
            <a:off x="5394960" y="1755648"/>
            <a:ext cx="6336792" cy="38404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a:solidFill>
                  <a:srgbClr val="333333"/>
                </a:solidFill>
                <a:latin typeface="Calibri"/>
              </a:rPr>
              <a:t>  API keys · Discord webhooks · Splunk HEC token · ANTHROPIC_API_KEY (deliberately unset; use Claude Max)</a:t>
            </a:r>
          </a:p>
        </p:txBody>
      </p:sp>
      <p:sp>
        <p:nvSpPr>
          <p:cNvPr id="11" name="Rectangle 10"/>
          <p:cNvSpPr/>
          <p:nvPr/>
        </p:nvSpPr>
        <p:spPr>
          <a:xfrm>
            <a:off x="457200" y="2139696"/>
            <a:ext cx="3474720" cy="384048"/>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b="1">
                <a:solidFill>
                  <a:srgbClr val="333333"/>
                </a:solidFill>
                <a:latin typeface="Calibri"/>
              </a:rPr>
              <a:t>  .env.example</a:t>
            </a:r>
          </a:p>
        </p:txBody>
      </p:sp>
      <p:sp>
        <p:nvSpPr>
          <p:cNvPr id="12" name="Rectangle 11"/>
          <p:cNvSpPr/>
          <p:nvPr/>
        </p:nvSpPr>
        <p:spPr>
          <a:xfrm>
            <a:off x="3931920" y="2139696"/>
            <a:ext cx="1463040" cy="384048"/>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a:solidFill>
                  <a:srgbClr val="333333"/>
                </a:solidFill>
                <a:latin typeface="Calibri"/>
              </a:rPr>
              <a:t>  committed</a:t>
            </a:r>
          </a:p>
        </p:txBody>
      </p:sp>
      <p:sp>
        <p:nvSpPr>
          <p:cNvPr id="13" name="Rectangle 12"/>
          <p:cNvSpPr/>
          <p:nvPr/>
        </p:nvSpPr>
        <p:spPr>
          <a:xfrm>
            <a:off x="5394960" y="2139696"/>
            <a:ext cx="6336792" cy="384048"/>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a:solidFill>
                  <a:srgbClr val="333333"/>
                </a:solidFill>
                <a:latin typeface="Calibri"/>
              </a:rPr>
              <a:t>  Schema template · variable names + comments · NO secret values · current with the real .env</a:t>
            </a:r>
          </a:p>
        </p:txBody>
      </p:sp>
      <p:sp>
        <p:nvSpPr>
          <p:cNvPr id="14" name="Rectangle 13"/>
          <p:cNvSpPr/>
          <p:nvPr/>
        </p:nvSpPr>
        <p:spPr>
          <a:xfrm>
            <a:off x="457200" y="2523744"/>
            <a:ext cx="3474720" cy="38404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b="1">
                <a:solidFill>
                  <a:srgbClr val="333333"/>
                </a:solidFill>
                <a:latin typeface="Calibri"/>
              </a:rPr>
              <a:t>  infrastructure/source-grades.yaml</a:t>
            </a:r>
          </a:p>
        </p:txBody>
      </p:sp>
      <p:sp>
        <p:nvSpPr>
          <p:cNvPr id="15" name="Rectangle 14"/>
          <p:cNvSpPr/>
          <p:nvPr/>
        </p:nvSpPr>
        <p:spPr>
          <a:xfrm>
            <a:off x="3931920" y="2523744"/>
            <a:ext cx="1463040" cy="38404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a:solidFill>
                  <a:srgbClr val="333333"/>
                </a:solidFill>
                <a:latin typeface="Calibri"/>
              </a:rPr>
              <a:t>  committed</a:t>
            </a:r>
          </a:p>
        </p:txBody>
      </p:sp>
      <p:sp>
        <p:nvSpPr>
          <p:cNvPr id="16" name="Rectangle 15"/>
          <p:cNvSpPr/>
          <p:nvPr/>
        </p:nvSpPr>
        <p:spPr>
          <a:xfrm>
            <a:off x="5394960" y="2523744"/>
            <a:ext cx="6336792" cy="38404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a:solidFill>
                  <a:srgbClr val="333333"/>
                </a:solidFill>
                <a:latin typeface="Calibri"/>
              </a:rPr>
              <a:t>  Source → grade + category mapping · 45 entries · ratification log in source-grade-log.md</a:t>
            </a:r>
          </a:p>
        </p:txBody>
      </p:sp>
      <p:sp>
        <p:nvSpPr>
          <p:cNvPr id="17" name="Rectangle 16"/>
          <p:cNvSpPr/>
          <p:nvPr/>
        </p:nvSpPr>
        <p:spPr>
          <a:xfrm>
            <a:off x="457200" y="2907791"/>
            <a:ext cx="3474720" cy="384048"/>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b="1">
                <a:solidFill>
                  <a:srgbClr val="333333"/>
                </a:solidFill>
                <a:latin typeface="Calibri"/>
              </a:rPr>
              <a:t>  infrastructure/source-health.yaml</a:t>
            </a:r>
          </a:p>
        </p:txBody>
      </p:sp>
      <p:sp>
        <p:nvSpPr>
          <p:cNvPr id="18" name="Rectangle 17"/>
          <p:cNvSpPr/>
          <p:nvPr/>
        </p:nvSpPr>
        <p:spPr>
          <a:xfrm>
            <a:off x="3931920" y="2907791"/>
            <a:ext cx="1463040" cy="384048"/>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a:solidFill>
                  <a:srgbClr val="333333"/>
                </a:solidFill>
                <a:latin typeface="Calibri"/>
              </a:rPr>
              <a:t>  gitignored</a:t>
            </a:r>
          </a:p>
        </p:txBody>
      </p:sp>
      <p:sp>
        <p:nvSpPr>
          <p:cNvPr id="19" name="Rectangle 18"/>
          <p:cNvSpPr/>
          <p:nvPr/>
        </p:nvSpPr>
        <p:spPr>
          <a:xfrm>
            <a:off x="5394960" y="2907791"/>
            <a:ext cx="6336792" cy="384048"/>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a:solidFill>
                  <a:srgbClr val="333333"/>
                </a:solidFill>
                <a:latin typeface="Calibri"/>
              </a:rPr>
              <a:t>  Runtime: status · last_successful_fetch · failure_count · stale_since · last_error · operator notes preserved</a:t>
            </a:r>
          </a:p>
        </p:txBody>
      </p:sp>
      <p:sp>
        <p:nvSpPr>
          <p:cNvPr id="20" name="Rectangle 19"/>
          <p:cNvSpPr/>
          <p:nvPr/>
        </p:nvSpPr>
        <p:spPr>
          <a:xfrm>
            <a:off x="457200" y="3291839"/>
            <a:ext cx="3474720" cy="38404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b="1">
                <a:solidFill>
                  <a:srgbClr val="333333"/>
                </a:solidFill>
                <a:latin typeface="Calibri"/>
              </a:rPr>
              <a:t>  infrastructure/watch-config.yaml</a:t>
            </a:r>
          </a:p>
        </p:txBody>
      </p:sp>
      <p:sp>
        <p:nvSpPr>
          <p:cNvPr id="21" name="Rectangle 20"/>
          <p:cNvSpPr/>
          <p:nvPr/>
        </p:nvSpPr>
        <p:spPr>
          <a:xfrm>
            <a:off x="3931920" y="3291839"/>
            <a:ext cx="1463040" cy="38404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a:solidFill>
                  <a:srgbClr val="333333"/>
                </a:solidFill>
                <a:latin typeface="Calibri"/>
              </a:rPr>
              <a:t>  committed</a:t>
            </a:r>
          </a:p>
        </p:txBody>
      </p:sp>
      <p:sp>
        <p:nvSpPr>
          <p:cNvPr id="22" name="Rectangle 21"/>
          <p:cNvSpPr/>
          <p:nvPr/>
        </p:nvSpPr>
        <p:spPr>
          <a:xfrm>
            <a:off x="5394960" y="3291839"/>
            <a:ext cx="6336792" cy="38404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a:solidFill>
                  <a:srgbClr val="333333"/>
                </a:solidFill>
                <a:latin typeface="Calibri"/>
              </a:rPr>
              <a:t>  Standing brief sections · sector watchlists · FLASH triggers · silent_day_template</a:t>
            </a:r>
          </a:p>
        </p:txBody>
      </p:sp>
      <p:sp>
        <p:nvSpPr>
          <p:cNvPr id="23" name="Rectangle 22"/>
          <p:cNvSpPr/>
          <p:nvPr/>
        </p:nvSpPr>
        <p:spPr>
          <a:xfrm>
            <a:off x="457200" y="3675887"/>
            <a:ext cx="3474720" cy="384048"/>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b="1">
                <a:solidFill>
                  <a:srgbClr val="333333"/>
                </a:solidFill>
                <a:latin typeface="Calibri"/>
              </a:rPr>
              <a:t>  infrastructure/authorized-targets.yaml</a:t>
            </a:r>
          </a:p>
        </p:txBody>
      </p:sp>
      <p:sp>
        <p:nvSpPr>
          <p:cNvPr id="24" name="Rectangle 23"/>
          <p:cNvSpPr/>
          <p:nvPr/>
        </p:nvSpPr>
        <p:spPr>
          <a:xfrm>
            <a:off x="3931920" y="3675887"/>
            <a:ext cx="1463040" cy="384048"/>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a:solidFill>
                  <a:srgbClr val="333333"/>
                </a:solidFill>
                <a:latin typeface="Calibri"/>
              </a:rPr>
              <a:t>  committed</a:t>
            </a:r>
          </a:p>
        </p:txBody>
      </p:sp>
      <p:sp>
        <p:nvSpPr>
          <p:cNvPr id="25" name="Rectangle 24"/>
          <p:cNvSpPr/>
          <p:nvPr/>
        </p:nvSpPr>
        <p:spPr>
          <a:xfrm>
            <a:off x="5394960" y="3675887"/>
            <a:ext cx="6336792" cy="384048"/>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a:solidFill>
                  <a:srgbClr val="333333"/>
                </a:solidFill>
                <a:latin typeface="Calibri"/>
              </a:rPr>
              <a:t>  Hard Rule 4 enforcement list · only these targets may be actively scanned</a:t>
            </a:r>
          </a:p>
        </p:txBody>
      </p:sp>
      <p:sp>
        <p:nvSpPr>
          <p:cNvPr id="26" name="Rectangle 25"/>
          <p:cNvSpPr/>
          <p:nvPr/>
        </p:nvSpPr>
        <p:spPr>
          <a:xfrm>
            <a:off x="457200" y="4059935"/>
            <a:ext cx="3474720" cy="38404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b="1">
                <a:solidFill>
                  <a:srgbClr val="333333"/>
                </a:solidFill>
                <a:latin typeface="Calibri"/>
              </a:rPr>
              <a:t>  infrastructure/watchlists/*.yaml</a:t>
            </a:r>
          </a:p>
        </p:txBody>
      </p:sp>
      <p:sp>
        <p:nvSpPr>
          <p:cNvPr id="27" name="Rectangle 26"/>
          <p:cNvSpPr/>
          <p:nvPr/>
        </p:nvSpPr>
        <p:spPr>
          <a:xfrm>
            <a:off x="3931920" y="4059935"/>
            <a:ext cx="1463040" cy="38404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a:solidFill>
                  <a:srgbClr val="333333"/>
                </a:solidFill>
                <a:latin typeface="Calibri"/>
              </a:rPr>
              <a:t>  committed</a:t>
            </a:r>
          </a:p>
        </p:txBody>
      </p:sp>
      <p:sp>
        <p:nvSpPr>
          <p:cNvPr id="28" name="Rectangle 27"/>
          <p:cNvSpPr/>
          <p:nvPr/>
        </p:nvSpPr>
        <p:spPr>
          <a:xfrm>
            <a:off x="5394960" y="4059935"/>
            <a:ext cx="6336792" cy="38404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a:solidFill>
                  <a:srgbClr val="333333"/>
                </a:solidFill>
                <a:latin typeface="Calibri"/>
              </a:rPr>
              <a:t>  Per-watchlist YAML: A&amp;D, ransomware, etc. Used by collector to filter raw signal</a:t>
            </a:r>
          </a:p>
        </p:txBody>
      </p:sp>
      <p:sp>
        <p:nvSpPr>
          <p:cNvPr id="29" name="Rectangle 28"/>
          <p:cNvSpPr/>
          <p:nvPr/>
        </p:nvSpPr>
        <p:spPr>
          <a:xfrm>
            <a:off x="457200" y="4443983"/>
            <a:ext cx="3474720" cy="384048"/>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b="1">
                <a:solidFill>
                  <a:srgbClr val="333333"/>
                </a:solidFill>
                <a:latin typeface="Calibri"/>
              </a:rPr>
              <a:t>  infrastructure/flash-queue.yaml</a:t>
            </a:r>
          </a:p>
        </p:txBody>
      </p:sp>
      <p:sp>
        <p:nvSpPr>
          <p:cNvPr id="30" name="Rectangle 29"/>
          <p:cNvSpPr/>
          <p:nvPr/>
        </p:nvSpPr>
        <p:spPr>
          <a:xfrm>
            <a:off x="3931920" y="4443983"/>
            <a:ext cx="1463040" cy="384048"/>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a:solidFill>
                  <a:srgbClr val="333333"/>
                </a:solidFill>
                <a:latin typeface="Calibri"/>
              </a:rPr>
              <a:t>  gitignored</a:t>
            </a:r>
          </a:p>
        </p:txBody>
      </p:sp>
      <p:sp>
        <p:nvSpPr>
          <p:cNvPr id="31" name="Rectangle 30"/>
          <p:cNvSpPr/>
          <p:nvPr/>
        </p:nvSpPr>
        <p:spPr>
          <a:xfrm>
            <a:off x="5394960" y="4443983"/>
            <a:ext cx="6336792" cy="384048"/>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a:solidFill>
                  <a:srgbClr val="333333"/>
                </a:solidFill>
                <a:latin typeface="Calibri"/>
              </a:rPr>
              <a:t>  Quiet-hours FLASH queue · 09:00 catchup sweep processes it</a:t>
            </a:r>
          </a:p>
        </p:txBody>
      </p:sp>
      <p:sp>
        <p:nvSpPr>
          <p:cNvPr id="32" name="Rectangle 31"/>
          <p:cNvSpPr/>
          <p:nvPr/>
        </p:nvSpPr>
        <p:spPr>
          <a:xfrm>
            <a:off x="457200" y="4828031"/>
            <a:ext cx="3474720" cy="38404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b="1">
                <a:solidFill>
                  <a:srgbClr val="333333"/>
                </a:solidFill>
                <a:latin typeface="Calibri"/>
              </a:rPr>
              <a:t>  threats/threat-actors/_roster.yaml</a:t>
            </a:r>
          </a:p>
        </p:txBody>
      </p:sp>
      <p:sp>
        <p:nvSpPr>
          <p:cNvPr id="33" name="Rectangle 32"/>
          <p:cNvSpPr/>
          <p:nvPr/>
        </p:nvSpPr>
        <p:spPr>
          <a:xfrm>
            <a:off x="3931920" y="4828031"/>
            <a:ext cx="1463040" cy="38404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a:solidFill>
                  <a:srgbClr val="333333"/>
                </a:solidFill>
                <a:latin typeface="Calibri"/>
              </a:rPr>
              <a:t>  committed</a:t>
            </a:r>
          </a:p>
        </p:txBody>
      </p:sp>
      <p:sp>
        <p:nvSpPr>
          <p:cNvPr id="34" name="Rectangle 33"/>
          <p:cNvSpPr/>
          <p:nvPr/>
        </p:nvSpPr>
        <p:spPr>
          <a:xfrm>
            <a:off x="5394960" y="4828031"/>
            <a:ext cx="6336792" cy="38404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a:solidFill>
                  <a:srgbClr val="333333"/>
                </a:solidFill>
                <a:latin typeface="Calibri"/>
              </a:rPr>
              <a:t>  23-actor roster · per-actor primary_name, aliases, attribution, dossier path, scoring counters</a:t>
            </a:r>
          </a:p>
        </p:txBody>
      </p:sp>
      <p:sp>
        <p:nvSpPr>
          <p:cNvPr id="35" name="Rectangle 34"/>
          <p:cNvSpPr/>
          <p:nvPr/>
        </p:nvSpPr>
        <p:spPr>
          <a:xfrm>
            <a:off x="457200" y="5212079"/>
            <a:ext cx="3474720" cy="384048"/>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b="1">
                <a:solidFill>
                  <a:srgbClr val="333333"/>
                </a:solidFill>
                <a:latin typeface="Calibri"/>
              </a:rPr>
              <a:t>  threats/vulnerabilities/_index.yaml</a:t>
            </a:r>
          </a:p>
        </p:txBody>
      </p:sp>
      <p:sp>
        <p:nvSpPr>
          <p:cNvPr id="36" name="Rectangle 35"/>
          <p:cNvSpPr/>
          <p:nvPr/>
        </p:nvSpPr>
        <p:spPr>
          <a:xfrm>
            <a:off x="3931920" y="5212079"/>
            <a:ext cx="1463040" cy="384048"/>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a:solidFill>
                  <a:srgbClr val="333333"/>
                </a:solidFill>
                <a:latin typeface="Calibri"/>
              </a:rPr>
              <a:t>  committed</a:t>
            </a:r>
          </a:p>
        </p:txBody>
      </p:sp>
      <p:sp>
        <p:nvSpPr>
          <p:cNvPr id="37" name="Rectangle 36"/>
          <p:cNvSpPr/>
          <p:nvPr/>
        </p:nvSpPr>
        <p:spPr>
          <a:xfrm>
            <a:off x="5394960" y="5212079"/>
            <a:ext cx="6336792" cy="384048"/>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a:solidFill>
                  <a:srgbClr val="333333"/>
                </a:solidFill>
                <a:latin typeface="Calibri"/>
              </a:rPr>
              <a:t>  Tracked CVE index</a:t>
            </a:r>
          </a:p>
        </p:txBody>
      </p:sp>
      <p:sp>
        <p:nvSpPr>
          <p:cNvPr id="38" name="Rectangle 37"/>
          <p:cNvSpPr/>
          <p:nvPr/>
        </p:nvSpPr>
        <p:spPr>
          <a:xfrm>
            <a:off x="457200" y="5596128"/>
            <a:ext cx="3474720" cy="38404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b="1">
                <a:solidFill>
                  <a:srgbClr val="333333"/>
                </a:solidFill>
                <a:latin typeface="Calibri"/>
              </a:rPr>
              <a:t>  threats/iocs/_master-index.yaml</a:t>
            </a:r>
          </a:p>
        </p:txBody>
      </p:sp>
      <p:sp>
        <p:nvSpPr>
          <p:cNvPr id="39" name="Rectangle 38"/>
          <p:cNvSpPr/>
          <p:nvPr/>
        </p:nvSpPr>
        <p:spPr>
          <a:xfrm>
            <a:off x="3931920" y="5596128"/>
            <a:ext cx="1463040" cy="38404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a:solidFill>
                  <a:srgbClr val="333333"/>
                </a:solidFill>
                <a:latin typeface="Calibri"/>
              </a:rPr>
              <a:t>  committed</a:t>
            </a:r>
          </a:p>
        </p:txBody>
      </p:sp>
      <p:sp>
        <p:nvSpPr>
          <p:cNvPr id="40" name="Rectangle 39"/>
          <p:cNvSpPr/>
          <p:nvPr/>
        </p:nvSpPr>
        <p:spPr>
          <a:xfrm>
            <a:off x="5394960" y="5596128"/>
            <a:ext cx="6336792" cy="38404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900">
                <a:solidFill>
                  <a:srgbClr val="333333"/>
                </a:solidFill>
                <a:latin typeface="Calibri"/>
              </a:rPr>
              <a:t>  Regenerated by librarian on IOC changes · scripts/regenerate_ioc_index.py</a:t>
            </a:r>
          </a:p>
        </p:txBody>
      </p:sp>
      <p:sp>
        <p:nvSpPr>
          <p:cNvPr id="41" name="TextBox 40"/>
          <p:cNvSpPr txBox="1"/>
          <p:nvPr/>
        </p:nvSpPr>
        <p:spPr>
          <a:xfrm>
            <a:off x="457200" y="6446520"/>
            <a:ext cx="11274552" cy="274320"/>
          </a:xfrm>
          <a:prstGeom prst="rect">
            <a:avLst/>
          </a:prstGeom>
          <a:noFill/>
        </p:spPr>
        <p:txBody>
          <a:bodyPr wrap="none">
            <a:spAutoFit/>
          </a:bodyPr>
          <a:lstStyle/>
          <a:p>
            <a:pPr algn="l"/>
            <a:r>
              <a:rPr sz="800" i="1">
                <a:solidFill>
                  <a:srgbClr val="666666"/>
                </a:solidFill>
                <a:latin typeface="Calibri"/>
              </a:rPr>
              <a:t>Archimedes · Architecture Walkthrough</a:t>
            </a:r>
          </a:p>
        </p:txBody>
      </p:sp>
      <p:sp>
        <p:nvSpPr>
          <p:cNvPr id="42" name="TextBox 41"/>
          <p:cNvSpPr txBox="1"/>
          <p:nvPr/>
        </p:nvSpPr>
        <p:spPr>
          <a:xfrm>
            <a:off x="10515600" y="6446520"/>
            <a:ext cx="1188720" cy="274320"/>
          </a:xfrm>
          <a:prstGeom prst="rect">
            <a:avLst/>
          </a:prstGeom>
          <a:noFill/>
        </p:spPr>
        <p:txBody>
          <a:bodyPr wrap="none">
            <a:spAutoFit/>
          </a:bodyPr>
          <a:lstStyle/>
          <a:p>
            <a:pPr algn="r"/>
            <a:r>
              <a:rPr sz="800">
                <a:solidFill>
                  <a:srgbClr val="666666"/>
                </a:solidFill>
                <a:latin typeface="Calibri"/>
              </a:rPr>
              <a:t>27 / 32</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28600"/>
          </a:xfrm>
          <a:prstGeom prst="rect">
            <a:avLst/>
          </a:prstGeom>
          <a:solidFill>
            <a:srgbClr val="4A90E2"/>
          </a:solidFill>
          <a:ln>
            <a:noFill/>
          </a:ln>
        </p:spPr>
        <p:style>
          <a:lnRef idx="1">
            <a:schemeClr val="accent1"/>
          </a:lnRef>
          <a:fillRef idx="3">
            <a:schemeClr val="accent1"/>
          </a:fillRef>
          <a:effectRef idx="2">
            <a:schemeClr val="accent1"/>
          </a:effectRef>
          <a:fontRef idx="minor">
            <a:schemeClr val="lt1"/>
          </a:fontRef>
        </p:style>
        <p:txBody>
          <a:bodyPr rtlCol="0" anchor="ctr" tIns="18288" lIns="457200"/>
          <a:lstStyle/>
          <a:p>
            <a:pPr algn="ctr"/>
            <a:r>
              <a:rPr sz="1000" b="1">
                <a:solidFill>
                  <a:srgbClr val="FFFFFF"/>
                </a:solidFill>
                <a:latin typeface="Calibri"/>
              </a:rPr>
              <a:t>§5  ·  Infrastructure + ops</a:t>
            </a:r>
          </a:p>
        </p:txBody>
      </p:sp>
      <p:sp>
        <p:nvSpPr>
          <p:cNvPr id="3" name="TextBox 2"/>
          <p:cNvSpPr txBox="1"/>
          <p:nvPr/>
        </p:nvSpPr>
        <p:spPr>
          <a:xfrm>
            <a:off x="457200" y="274320"/>
            <a:ext cx="11274552" cy="640080"/>
          </a:xfrm>
          <a:prstGeom prst="rect">
            <a:avLst/>
          </a:prstGeom>
          <a:noFill/>
        </p:spPr>
        <p:txBody>
          <a:bodyPr wrap="square">
            <a:spAutoFit/>
          </a:bodyPr>
          <a:lstStyle/>
          <a:p>
            <a:pPr algn="l"/>
            <a:r>
              <a:rPr sz="2800" b="1">
                <a:solidFill>
                  <a:srgbClr val="1F3A5F"/>
                </a:solidFill>
                <a:latin typeface="Calibri"/>
              </a:rPr>
              <a:t>Testing — per-MCP suites + the 13-item preflight</a:t>
            </a:r>
          </a:p>
        </p:txBody>
      </p:sp>
      <p:sp>
        <p:nvSpPr>
          <p:cNvPr id="4" name="TextBox 3"/>
          <p:cNvSpPr txBox="1"/>
          <p:nvPr/>
        </p:nvSpPr>
        <p:spPr>
          <a:xfrm>
            <a:off x="457200" y="914400"/>
            <a:ext cx="11274552" cy="365760"/>
          </a:xfrm>
          <a:prstGeom prst="rect">
            <a:avLst/>
          </a:prstGeom>
          <a:noFill/>
        </p:spPr>
        <p:txBody>
          <a:bodyPr wrap="square">
            <a:spAutoFit/>
          </a:bodyPr>
          <a:lstStyle/>
          <a:p>
            <a:r>
              <a:rPr sz="1300" i="1">
                <a:solidFill>
                  <a:srgbClr val="666666"/>
                </a:solidFill>
                <a:latin typeface="Calibri"/>
              </a:rPr>
              <a:t>231 unit tests across 8 MCPs. Live validation patterns where mocks aren't enough.</a:t>
            </a:r>
          </a:p>
        </p:txBody>
      </p:sp>
      <p:sp>
        <p:nvSpPr>
          <p:cNvPr id="5" name="TextBox 4"/>
          <p:cNvSpPr txBox="1"/>
          <p:nvPr/>
        </p:nvSpPr>
        <p:spPr>
          <a:xfrm>
            <a:off x="457200" y="1463040"/>
            <a:ext cx="11274552" cy="4754880"/>
          </a:xfrm>
          <a:prstGeom prst="rect">
            <a:avLst/>
          </a:prstGeom>
          <a:noFill/>
        </p:spPr>
        <p:txBody>
          <a:bodyPr wrap="square">
            <a:spAutoFit/>
          </a:bodyPr>
          <a:lstStyle/>
          <a:p>
            <a:pPr algn="l">
              <a:lnSpc>
                <a:spcPct val="115000"/>
              </a:lnSpc>
            </a:pPr>
            <a:r>
              <a:rPr sz="1200" b="1">
                <a:solidFill>
                  <a:srgbClr val="333333"/>
                </a:solidFill>
                <a:latin typeface="Calibri"/>
              </a:rPr>
              <a:t>• Per-MCP pytest suites</a:t>
            </a:r>
          </a:p>
          <a:p>
            <a:pPr algn="l">
              <a:lnSpc>
                <a:spcPct val="115000"/>
              </a:lnSpc>
            </a:pPr>
            <a:r>
              <a:rPr sz="1000" i="1">
                <a:solidFill>
                  <a:srgbClr val="666666"/>
                </a:solidFill>
                <a:latin typeface="Calibri"/>
              </a:rPr>
              <a:t>   Each MCP has its own tests/ directory. test_config.py (env loading), test_&lt;name&gt;_client.py (respx-mocked HTTP), test_policy.py (where applicable), test_integration.py (live tests behind credentials, skipped by default). 231 unit tests passing across 8 MCPs.</a:t>
            </a:r>
          </a:p>
          <a:p>
            <a:pPr algn="l">
              <a:lnSpc>
                <a:spcPct val="115000"/>
              </a:lnSpc>
              <a:spcBef>
                <a:spcPts val="600"/>
              </a:spcBef>
            </a:pPr>
            <a:r>
              <a:rPr sz="1200" b="1">
                <a:solidFill>
                  <a:srgbClr val="333333"/>
                </a:solidFill>
                <a:latin typeface="Calibri"/>
              </a:rPr>
              <a:t>• respx for HTTP mocking</a:t>
            </a:r>
          </a:p>
          <a:p>
            <a:pPr algn="l">
              <a:lnSpc>
                <a:spcPct val="115000"/>
              </a:lnSpc>
            </a:pPr>
            <a:r>
              <a:rPr sz="1000" i="1">
                <a:solidFill>
                  <a:srgbClr val="666666"/>
                </a:solidFill>
                <a:latin typeface="Calibri"/>
              </a:rPr>
              <a:t>   All HTTP wrappers tested with respx — register expected requests + canned responses, run the client, assert. No real network in unit tests.</a:t>
            </a:r>
          </a:p>
          <a:p>
            <a:pPr algn="l">
              <a:lnSpc>
                <a:spcPct val="115000"/>
              </a:lnSpc>
              <a:spcBef>
                <a:spcPts val="600"/>
              </a:spcBef>
            </a:pPr>
            <a:r>
              <a:rPr sz="1200" b="1">
                <a:solidFill>
                  <a:srgbClr val="333333"/>
                </a:solidFill>
                <a:latin typeface="Calibri"/>
              </a:rPr>
              <a:t>• Live validation for third-party tools</a:t>
            </a:r>
          </a:p>
          <a:p>
            <a:pPr algn="l">
              <a:lnSpc>
                <a:spcPct val="115000"/>
              </a:lnSpc>
            </a:pPr>
            <a:r>
              <a:rPr sz="1000" i="1">
                <a:solidFill>
                  <a:srgbClr val="666666"/>
                </a:solidFill>
                <a:latin typeface="Calibri"/>
              </a:rPr>
              <a:t>   Mocks based on documentation are confidence-without-verification. theHarvester 4.10.1 + SpiderFoot 4.0.0 each surfaced 3 bugs that unit tests couldn't have caught: API shape drift, off-by-one in scanstatus parsing, wrong JSON endpoint. Fix: live-test against real services.</a:t>
            </a:r>
          </a:p>
          <a:p>
            <a:pPr algn="l">
              <a:lnSpc>
                <a:spcPct val="115000"/>
              </a:lnSpc>
              <a:spcBef>
                <a:spcPts val="600"/>
              </a:spcBef>
            </a:pPr>
            <a:r>
              <a:rPr sz="1200" b="1">
                <a:solidFill>
                  <a:srgbClr val="333333"/>
                </a:solidFill>
                <a:latin typeface="Calibri"/>
              </a:rPr>
              <a:t>• Preflight checklist — 13 items</a:t>
            </a:r>
          </a:p>
          <a:p>
            <a:pPr algn="l">
              <a:lnSpc>
                <a:spcPct val="115000"/>
              </a:lnSpc>
            </a:pPr>
            <a:r>
              <a:rPr sz="1000" i="1">
                <a:solidFill>
                  <a:srgbClr val="666666"/>
                </a:solidFill>
                <a:latin typeface="Calibri"/>
              </a:rPr>
              <a:t>   .claude/skills/smart-brevity/references/preflight-checklist.md. Briefer runs this checklist before every brief publication. ALL must pass or regenerate. Items: source URL present, Admiralty digraph, coverage-log respected, lead-with-impact, banned phrases zero, standing sections present, WEP vocabulary, word count in range, actor/vuln links, TLP marked, single-source veto, quote discipline, Layer 2 section compliant.</a:t>
            </a:r>
          </a:p>
          <a:p>
            <a:pPr algn="l">
              <a:lnSpc>
                <a:spcPct val="115000"/>
              </a:lnSpc>
              <a:spcBef>
                <a:spcPts val="600"/>
              </a:spcBef>
            </a:pPr>
            <a:r>
              <a:rPr sz="1200" b="1">
                <a:solidFill>
                  <a:srgbClr val="333333"/>
                </a:solidFill>
                <a:latin typeface="Calibri"/>
              </a:rPr>
              <a:t>• Doctrine review as a test phase</a:t>
            </a:r>
          </a:p>
          <a:p>
            <a:pPr algn="l">
              <a:lnSpc>
                <a:spcPct val="115000"/>
              </a:lnSpc>
            </a:pPr>
            <a:r>
              <a:rPr sz="1000" i="1">
                <a:solidFill>
                  <a:srgbClr val="666666"/>
                </a:solidFill>
                <a:latin typeface="Calibri"/>
              </a:rPr>
              <a:t>   When doctrine changes, walk through every subagent that reads it and ask: does the change break anything? When INTEL-BRIEF-STANDARDS got Layer 2, briefer.md + librarian.md + preflight-checklist.md all needed coordinated updates.</a:t>
            </a:r>
          </a:p>
        </p:txBody>
      </p:sp>
      <p:sp>
        <p:nvSpPr>
          <p:cNvPr id="6" name="TextBox 5"/>
          <p:cNvSpPr txBox="1"/>
          <p:nvPr/>
        </p:nvSpPr>
        <p:spPr>
          <a:xfrm>
            <a:off x="457200" y="6446520"/>
            <a:ext cx="11274552" cy="274320"/>
          </a:xfrm>
          <a:prstGeom prst="rect">
            <a:avLst/>
          </a:prstGeom>
          <a:noFill/>
        </p:spPr>
        <p:txBody>
          <a:bodyPr wrap="none">
            <a:spAutoFit/>
          </a:bodyPr>
          <a:lstStyle/>
          <a:p>
            <a:pPr algn="l"/>
            <a:r>
              <a:rPr sz="800" i="1">
                <a:solidFill>
                  <a:srgbClr val="666666"/>
                </a:solidFill>
                <a:latin typeface="Calibri"/>
              </a:rPr>
              <a:t>Archimedes · Architecture Walkthrough</a:t>
            </a:r>
          </a:p>
        </p:txBody>
      </p:sp>
      <p:sp>
        <p:nvSpPr>
          <p:cNvPr id="7" name="TextBox 6"/>
          <p:cNvSpPr txBox="1"/>
          <p:nvPr/>
        </p:nvSpPr>
        <p:spPr>
          <a:xfrm>
            <a:off x="10515600" y="6446520"/>
            <a:ext cx="1188720" cy="274320"/>
          </a:xfrm>
          <a:prstGeom prst="rect">
            <a:avLst/>
          </a:prstGeom>
          <a:noFill/>
        </p:spPr>
        <p:txBody>
          <a:bodyPr wrap="none">
            <a:spAutoFit/>
          </a:bodyPr>
          <a:lstStyle/>
          <a:p>
            <a:pPr algn="r"/>
            <a:r>
              <a:rPr sz="800">
                <a:solidFill>
                  <a:srgbClr val="666666"/>
                </a:solidFill>
                <a:latin typeface="Calibri"/>
              </a:rPr>
              <a:t>28 / 32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28600"/>
          </a:xfrm>
          <a:prstGeom prst="rect">
            <a:avLst/>
          </a:prstGeom>
          <a:solidFill>
            <a:srgbClr val="4A90E2"/>
          </a:solidFill>
          <a:ln>
            <a:noFill/>
          </a:ln>
        </p:spPr>
        <p:style>
          <a:lnRef idx="1">
            <a:schemeClr val="accent1"/>
          </a:lnRef>
          <a:fillRef idx="3">
            <a:schemeClr val="accent1"/>
          </a:fillRef>
          <a:effectRef idx="2">
            <a:schemeClr val="accent1"/>
          </a:effectRef>
          <a:fontRef idx="minor">
            <a:schemeClr val="lt1"/>
          </a:fontRef>
        </p:style>
        <p:txBody>
          <a:bodyPr rtlCol="0" anchor="ctr" tIns="18288" lIns="457200"/>
          <a:lstStyle/>
          <a:p>
            <a:pPr algn="ctr"/>
            <a:r>
              <a:rPr sz="1000" b="1">
                <a:solidFill>
                  <a:srgbClr val="FFFFFF"/>
                </a:solidFill>
                <a:latin typeface="Calibri"/>
              </a:rPr>
              <a:t>§6  ·  Rebuild guide</a:t>
            </a:r>
          </a:p>
        </p:txBody>
      </p:sp>
      <p:sp>
        <p:nvSpPr>
          <p:cNvPr id="3" name="TextBox 2"/>
          <p:cNvSpPr txBox="1"/>
          <p:nvPr/>
        </p:nvSpPr>
        <p:spPr>
          <a:xfrm>
            <a:off x="457200" y="274320"/>
            <a:ext cx="11274552" cy="640080"/>
          </a:xfrm>
          <a:prstGeom prst="rect">
            <a:avLst/>
          </a:prstGeom>
          <a:noFill/>
        </p:spPr>
        <p:txBody>
          <a:bodyPr wrap="square">
            <a:spAutoFit/>
          </a:bodyPr>
          <a:lstStyle/>
          <a:p>
            <a:pPr algn="l"/>
            <a:r>
              <a:rPr sz="2800" b="1">
                <a:solidFill>
                  <a:srgbClr val="1F3A5F"/>
                </a:solidFill>
                <a:latin typeface="Calibri"/>
              </a:rPr>
              <a:t>Minimum viable Archimedes</a:t>
            </a:r>
          </a:p>
        </p:txBody>
      </p:sp>
      <p:sp>
        <p:nvSpPr>
          <p:cNvPr id="4" name="TextBox 3"/>
          <p:cNvSpPr txBox="1"/>
          <p:nvPr/>
        </p:nvSpPr>
        <p:spPr>
          <a:xfrm>
            <a:off x="457200" y="914400"/>
            <a:ext cx="11274552" cy="365760"/>
          </a:xfrm>
          <a:prstGeom prst="rect">
            <a:avLst/>
          </a:prstGeom>
          <a:noFill/>
        </p:spPr>
        <p:txBody>
          <a:bodyPr wrap="square">
            <a:spAutoFit/>
          </a:bodyPr>
          <a:lstStyle/>
          <a:p>
            <a:r>
              <a:rPr sz="1300" i="1">
                <a:solidFill>
                  <a:srgbClr val="666666"/>
                </a:solidFill>
                <a:latin typeface="Calibri"/>
              </a:rPr>
              <a:t>The smallest version that delivers value. Then iterate.</a:t>
            </a:r>
          </a:p>
        </p:txBody>
      </p:sp>
      <p:sp>
        <p:nvSpPr>
          <p:cNvPr id="5" name="Rectangle 4"/>
          <p:cNvSpPr/>
          <p:nvPr/>
        </p:nvSpPr>
        <p:spPr>
          <a:xfrm>
            <a:off x="457200" y="1417320"/>
            <a:ext cx="11274552" cy="41148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508760"/>
            <a:ext cx="11000232" cy="3931920"/>
          </a:xfrm>
          <a:prstGeom prst="rect">
            <a:avLst/>
          </a:prstGeom>
          <a:noFill/>
        </p:spPr>
        <p:txBody>
          <a:bodyPr wrap="square">
            <a:spAutoFit/>
          </a:bodyPr>
          <a:lstStyle/>
          <a:p>
            <a:pPr algn="l"/>
            <a:r>
              <a:rPr sz="1000">
                <a:solidFill>
                  <a:srgbClr val="333333"/>
                </a:solidFill>
                <a:latin typeface="Consolas"/>
              </a:rPr>
              <a:t>minimum-viable/</a:t>
            </a:r>
          </a:p>
          <a:p>
            <a:pPr algn="l"/>
            <a:r>
              <a:rPr sz="1000">
                <a:solidFill>
                  <a:srgbClr val="333333"/>
                </a:solidFill>
                <a:latin typeface="Consolas"/>
              </a:rPr>
              <a:t>├── doctrine/</a:t>
            </a:r>
          </a:p>
          <a:p>
            <a:pPr algn="l"/>
            <a:r>
              <a:rPr sz="1000">
                <a:solidFill>
                  <a:srgbClr val="333333"/>
                </a:solidFill>
                <a:latin typeface="Consolas"/>
              </a:rPr>
              <a:t>│   └── INTEL-GRADING.md            # ONE doctrine file. Admiralty + WEP.</a:t>
            </a:r>
          </a:p>
          <a:p>
            <a:pPr algn="l"/>
            <a:r>
              <a:rPr sz="1000">
                <a:solidFill>
                  <a:srgbClr val="333333"/>
                </a:solidFill>
                <a:latin typeface="Consolas"/>
              </a:rPr>
              <a:t>│</a:t>
            </a:r>
          </a:p>
          <a:p>
            <a:pPr algn="l"/>
            <a:r>
              <a:rPr sz="1000">
                <a:solidFill>
                  <a:srgbClr val="333333"/>
                </a:solidFill>
                <a:latin typeface="Consolas"/>
              </a:rPr>
              <a:t>├── .claude/</a:t>
            </a:r>
          </a:p>
          <a:p>
            <a:pPr algn="l"/>
            <a:r>
              <a:rPr sz="1000">
                <a:solidFill>
                  <a:srgbClr val="333333"/>
                </a:solidFill>
                <a:latin typeface="Consolas"/>
              </a:rPr>
              <a:t>│   ├── agents/</a:t>
            </a:r>
          </a:p>
          <a:p>
            <a:pPr algn="l"/>
            <a:r>
              <a:rPr sz="1000">
                <a:solidFill>
                  <a:srgbClr val="333333"/>
                </a:solidFill>
                <a:latin typeface="Consolas"/>
              </a:rPr>
              <a:t>│   │   ├── grader.md               # ONE subagent. Promotes raw → graded.</a:t>
            </a:r>
          </a:p>
          <a:p>
            <a:pPr algn="l"/>
            <a:r>
              <a:rPr sz="1000">
                <a:solidFill>
                  <a:srgbClr val="333333"/>
                </a:solidFill>
                <a:latin typeface="Consolas"/>
              </a:rPr>
              <a:t>│   │   └── briefer.md              # ONE subagent. Composes the brief.</a:t>
            </a:r>
          </a:p>
          <a:p>
            <a:pPr algn="l"/>
            <a:r>
              <a:rPr sz="1000">
                <a:solidFill>
                  <a:srgbClr val="333333"/>
                </a:solidFill>
                <a:latin typeface="Consolas"/>
              </a:rPr>
              <a:t>│   └── hooks/</a:t>
            </a:r>
          </a:p>
          <a:p>
            <a:pPr algn="l"/>
            <a:r>
              <a:rPr sz="1000">
                <a:solidFill>
                  <a:srgbClr val="333333"/>
                </a:solidFill>
                <a:latin typeface="Consolas"/>
              </a:rPr>
              <a:t>│       └── discord-post.sh         # ONE delivery channel.</a:t>
            </a:r>
          </a:p>
          <a:p>
            <a:pPr algn="l"/>
            <a:r>
              <a:rPr sz="1000">
                <a:solidFill>
                  <a:srgbClr val="333333"/>
                </a:solidFill>
                <a:latin typeface="Consolas"/>
              </a:rPr>
              <a:t>│</a:t>
            </a:r>
          </a:p>
          <a:p>
            <a:pPr algn="l"/>
            <a:r>
              <a:rPr sz="1000">
                <a:solidFill>
                  <a:srgbClr val="333333"/>
                </a:solidFill>
                <a:latin typeface="Consolas"/>
              </a:rPr>
              <a:t>├── mcps/</a:t>
            </a:r>
          </a:p>
          <a:p>
            <a:pPr algn="l"/>
            <a:r>
              <a:rPr sz="1000">
                <a:solidFill>
                  <a:srgbClr val="333333"/>
                </a:solidFill>
                <a:latin typeface="Consolas"/>
              </a:rPr>
              <a:t>│   └── rss-bridge/                 # ONE MCP. RSS feed fetcher.</a:t>
            </a:r>
          </a:p>
          <a:p>
            <a:pPr algn="l"/>
            <a:r>
              <a:rPr sz="1000">
                <a:solidFill>
                  <a:srgbClr val="333333"/>
                </a:solidFill>
                <a:latin typeface="Consolas"/>
              </a:rPr>
              <a:t>│</a:t>
            </a:r>
          </a:p>
          <a:p>
            <a:pPr algn="l"/>
            <a:r>
              <a:rPr sz="1000">
                <a:solidFill>
                  <a:srgbClr val="333333"/>
                </a:solidFill>
                <a:latin typeface="Consolas"/>
              </a:rPr>
              <a:t>├── threats/</a:t>
            </a:r>
          </a:p>
          <a:p>
            <a:pPr algn="l"/>
            <a:r>
              <a:rPr sz="1000">
                <a:solidFill>
                  <a:srgbClr val="333333"/>
                </a:solidFill>
                <a:latin typeface="Consolas"/>
              </a:rPr>
              <a:t>│   ├── raw-signal/                 # collector output (manual to start)</a:t>
            </a:r>
          </a:p>
          <a:p>
            <a:pPr algn="l"/>
            <a:r>
              <a:rPr sz="1000">
                <a:solidFill>
                  <a:srgbClr val="333333"/>
                </a:solidFill>
                <a:latin typeface="Consolas"/>
              </a:rPr>
              <a:t>│   ├── findings/                   # grader output</a:t>
            </a:r>
          </a:p>
          <a:p>
            <a:pPr algn="l"/>
            <a:r>
              <a:rPr sz="1000">
                <a:solidFill>
                  <a:srgbClr val="333333"/>
                </a:solidFill>
                <a:latin typeface="Consolas"/>
              </a:rPr>
              <a:t>│   └── briefs/                     # briefer output</a:t>
            </a:r>
          </a:p>
          <a:p>
            <a:pPr algn="l"/>
            <a:r>
              <a:rPr sz="1000">
                <a:solidFill>
                  <a:srgbClr val="333333"/>
                </a:solidFill>
                <a:latin typeface="Consolas"/>
              </a:rPr>
              <a:t>│</a:t>
            </a:r>
          </a:p>
          <a:p>
            <a:pPr algn="l"/>
            <a:r>
              <a:rPr sz="1000">
                <a:solidFill>
                  <a:srgbClr val="333333"/>
                </a:solidFill>
                <a:latin typeface="Consolas"/>
              </a:rPr>
              <a:t>├── .env                            # DISCORD_WEBHOOK_URL only</a:t>
            </a:r>
          </a:p>
          <a:p>
            <a:pPr algn="l"/>
            <a:r>
              <a:rPr sz="1000">
                <a:solidFill>
                  <a:srgbClr val="333333"/>
                </a:solidFill>
                <a:latin typeface="Consolas"/>
              </a:rPr>
              <a:t>├── pyproject.toml</a:t>
            </a:r>
          </a:p>
          <a:p>
            <a:pPr algn="l"/>
            <a:r>
              <a:rPr sz="1000">
                <a:solidFill>
                  <a:srgbClr val="333333"/>
                </a:solidFill>
                <a:latin typeface="Consolas"/>
              </a:rPr>
              <a:t>└── CLAUDE.md                       # the agent's identity</a:t>
            </a:r>
          </a:p>
        </p:txBody>
      </p:sp>
      <p:sp>
        <p:nvSpPr>
          <p:cNvPr id="7" name="TextBox 6"/>
          <p:cNvSpPr txBox="1"/>
          <p:nvPr/>
        </p:nvSpPr>
        <p:spPr>
          <a:xfrm>
            <a:off x="457200" y="5577840"/>
            <a:ext cx="11274552" cy="914400"/>
          </a:xfrm>
          <a:prstGeom prst="rect">
            <a:avLst/>
          </a:prstGeom>
          <a:noFill/>
        </p:spPr>
        <p:txBody>
          <a:bodyPr wrap="square">
            <a:spAutoFit/>
          </a:bodyPr>
          <a:lstStyle/>
          <a:p>
            <a:r>
              <a:rPr sz="1200" i="1">
                <a:solidFill>
                  <a:srgbClr val="333333"/>
                </a:solidFill>
                <a:latin typeface="Calibri"/>
              </a:rPr>
              <a:t>Start here. Run it manually for a week — operator pulls articles from feeds, drops them into raw-signal/, invokes the grader, invokes the briefer, posts to Discord via the hook. As friction surfaces, add the next piece: collector subagent → more MCPs → librarian subagent → scheduler → more doctrine files. Each addition replaces one source of manual work. The minimum viable version proves the value before you commit to building the rest.</a:t>
            </a:r>
          </a:p>
        </p:txBody>
      </p:sp>
      <p:sp>
        <p:nvSpPr>
          <p:cNvPr id="8" name="TextBox 7"/>
          <p:cNvSpPr txBox="1"/>
          <p:nvPr/>
        </p:nvSpPr>
        <p:spPr>
          <a:xfrm>
            <a:off x="457200" y="6446520"/>
            <a:ext cx="11274552" cy="274320"/>
          </a:xfrm>
          <a:prstGeom prst="rect">
            <a:avLst/>
          </a:prstGeom>
          <a:noFill/>
        </p:spPr>
        <p:txBody>
          <a:bodyPr wrap="none">
            <a:spAutoFit/>
          </a:bodyPr>
          <a:lstStyle/>
          <a:p>
            <a:pPr algn="l"/>
            <a:r>
              <a:rPr sz="800" i="1">
                <a:solidFill>
                  <a:srgbClr val="666666"/>
                </a:solidFill>
                <a:latin typeface="Calibri"/>
              </a:rPr>
              <a:t>Archimedes · Architecture Walkthrough</a:t>
            </a:r>
          </a:p>
        </p:txBody>
      </p:sp>
      <p:sp>
        <p:nvSpPr>
          <p:cNvPr id="9" name="TextBox 8"/>
          <p:cNvSpPr txBox="1"/>
          <p:nvPr/>
        </p:nvSpPr>
        <p:spPr>
          <a:xfrm>
            <a:off x="10515600" y="6446520"/>
            <a:ext cx="1188720" cy="274320"/>
          </a:xfrm>
          <a:prstGeom prst="rect">
            <a:avLst/>
          </a:prstGeom>
          <a:noFill/>
        </p:spPr>
        <p:txBody>
          <a:bodyPr wrap="none">
            <a:spAutoFit/>
          </a:bodyPr>
          <a:lstStyle/>
          <a:p>
            <a:pPr algn="r"/>
            <a:r>
              <a:rPr sz="800">
                <a:solidFill>
                  <a:srgbClr val="666666"/>
                </a:solidFill>
                <a:latin typeface="Calibri"/>
              </a:rPr>
              <a:t>29 / 32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28600"/>
          </a:xfrm>
          <a:prstGeom prst="rect">
            <a:avLst/>
          </a:prstGeom>
          <a:solidFill>
            <a:srgbClr val="4A90E2"/>
          </a:solidFill>
          <a:ln>
            <a:noFill/>
          </a:ln>
        </p:spPr>
        <p:style>
          <a:lnRef idx="1">
            <a:schemeClr val="accent1"/>
          </a:lnRef>
          <a:fillRef idx="3">
            <a:schemeClr val="accent1"/>
          </a:fillRef>
          <a:effectRef idx="2">
            <a:schemeClr val="accent1"/>
          </a:effectRef>
          <a:fontRef idx="minor">
            <a:schemeClr val="lt1"/>
          </a:fontRef>
        </p:style>
        <p:txBody>
          <a:bodyPr rtlCol="0" anchor="ctr" tIns="18288" lIns="457200"/>
          <a:lstStyle/>
          <a:p>
            <a:pPr algn="ctr"/>
            <a:r>
              <a:rPr sz="1000" b="1">
                <a:solidFill>
                  <a:srgbClr val="FFFFFF"/>
                </a:solidFill>
                <a:latin typeface="Calibri"/>
              </a:rPr>
              <a:t>§6  ·  Rebuild guide</a:t>
            </a:r>
          </a:p>
        </p:txBody>
      </p:sp>
      <p:sp>
        <p:nvSpPr>
          <p:cNvPr id="3" name="TextBox 2"/>
          <p:cNvSpPr txBox="1"/>
          <p:nvPr/>
        </p:nvSpPr>
        <p:spPr>
          <a:xfrm>
            <a:off x="457200" y="274320"/>
            <a:ext cx="11274552" cy="640080"/>
          </a:xfrm>
          <a:prstGeom prst="rect">
            <a:avLst/>
          </a:prstGeom>
          <a:noFill/>
        </p:spPr>
        <p:txBody>
          <a:bodyPr wrap="square">
            <a:spAutoFit/>
          </a:bodyPr>
          <a:lstStyle/>
          <a:p>
            <a:pPr algn="l"/>
            <a:r>
              <a:rPr sz="2800" b="1">
                <a:solidFill>
                  <a:srgbClr val="1F3A5F"/>
                </a:solidFill>
                <a:latin typeface="Calibri"/>
              </a:rPr>
              <a:t>Recommended build order</a:t>
            </a:r>
          </a:p>
        </p:txBody>
      </p:sp>
      <p:sp>
        <p:nvSpPr>
          <p:cNvPr id="4" name="TextBox 3"/>
          <p:cNvSpPr txBox="1"/>
          <p:nvPr/>
        </p:nvSpPr>
        <p:spPr>
          <a:xfrm>
            <a:off x="457200" y="914400"/>
            <a:ext cx="11274552" cy="365760"/>
          </a:xfrm>
          <a:prstGeom prst="rect">
            <a:avLst/>
          </a:prstGeom>
          <a:noFill/>
        </p:spPr>
        <p:txBody>
          <a:bodyPr wrap="square">
            <a:spAutoFit/>
          </a:bodyPr>
          <a:lstStyle/>
          <a:p>
            <a:r>
              <a:rPr sz="1300" i="1">
                <a:solidFill>
                  <a:srgbClr val="666666"/>
                </a:solidFill>
                <a:latin typeface="Calibri"/>
              </a:rPr>
              <a:t>What to add when. Time estimates assume the team is familiar with Claude + MCP.</a:t>
            </a:r>
          </a:p>
        </p:txBody>
      </p:sp>
      <p:sp>
        <p:nvSpPr>
          <p:cNvPr id="5" name="Rectangle 4"/>
          <p:cNvSpPr/>
          <p:nvPr/>
        </p:nvSpPr>
        <p:spPr>
          <a:xfrm>
            <a:off x="457200" y="1371600"/>
            <a:ext cx="1097280" cy="3840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tIns="73152"/>
          <a:lstStyle/>
          <a:p>
            <a:pPr algn="ctr"/>
            <a:r>
              <a:rPr sz="1100" b="1">
                <a:solidFill>
                  <a:srgbClr val="FFFFFF"/>
                </a:solidFill>
                <a:latin typeface="Calibri"/>
              </a:rPr>
              <a:t>  When</a:t>
            </a:r>
          </a:p>
        </p:txBody>
      </p:sp>
      <p:sp>
        <p:nvSpPr>
          <p:cNvPr id="6" name="Rectangle 5"/>
          <p:cNvSpPr/>
          <p:nvPr/>
        </p:nvSpPr>
        <p:spPr>
          <a:xfrm>
            <a:off x="1554480" y="1371600"/>
            <a:ext cx="3200400" cy="3840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tIns="73152"/>
          <a:lstStyle/>
          <a:p>
            <a:pPr algn="ctr"/>
            <a:r>
              <a:rPr sz="1100" b="1">
                <a:solidFill>
                  <a:srgbClr val="FFFFFF"/>
                </a:solidFill>
                <a:latin typeface="Calibri"/>
              </a:rPr>
              <a:t>  Add</a:t>
            </a:r>
          </a:p>
        </p:txBody>
      </p:sp>
      <p:sp>
        <p:nvSpPr>
          <p:cNvPr id="7" name="Rectangle 6"/>
          <p:cNvSpPr/>
          <p:nvPr/>
        </p:nvSpPr>
        <p:spPr>
          <a:xfrm>
            <a:off x="4754880" y="1371600"/>
            <a:ext cx="6976872" cy="3840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tIns="73152"/>
          <a:lstStyle/>
          <a:p>
            <a:pPr algn="ctr"/>
            <a:r>
              <a:rPr sz="1100" b="1">
                <a:solidFill>
                  <a:srgbClr val="FFFFFF"/>
                </a:solidFill>
                <a:latin typeface="Calibri"/>
              </a:rPr>
              <a:t>  Why now</a:t>
            </a:r>
          </a:p>
        </p:txBody>
      </p:sp>
      <p:sp>
        <p:nvSpPr>
          <p:cNvPr id="8" name="Rectangle 7"/>
          <p:cNvSpPr/>
          <p:nvPr/>
        </p:nvSpPr>
        <p:spPr>
          <a:xfrm>
            <a:off x="457200" y="1755648"/>
            <a:ext cx="1097280" cy="38404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b="1">
                <a:solidFill>
                  <a:srgbClr val="333333"/>
                </a:solidFill>
                <a:latin typeface="Calibri"/>
              </a:rPr>
              <a:t>  Week 1</a:t>
            </a:r>
          </a:p>
        </p:txBody>
      </p:sp>
      <p:sp>
        <p:nvSpPr>
          <p:cNvPr id="9" name="Rectangle 8"/>
          <p:cNvSpPr/>
          <p:nvPr/>
        </p:nvSpPr>
        <p:spPr>
          <a:xfrm>
            <a:off x="1554480" y="1755648"/>
            <a:ext cx="3200400" cy="38404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Doctrine + identity</a:t>
            </a:r>
          </a:p>
        </p:txBody>
      </p:sp>
      <p:sp>
        <p:nvSpPr>
          <p:cNvPr id="10" name="Rectangle 9"/>
          <p:cNvSpPr/>
          <p:nvPr/>
        </p:nvSpPr>
        <p:spPr>
          <a:xfrm>
            <a:off x="4754880" y="1755648"/>
            <a:ext cx="6976872" cy="38404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Write CLAUDE.md + 1-2 doctrine files. No code yet. Just the agent's job description.</a:t>
            </a:r>
          </a:p>
        </p:txBody>
      </p:sp>
      <p:sp>
        <p:nvSpPr>
          <p:cNvPr id="11" name="Rectangle 10"/>
          <p:cNvSpPr/>
          <p:nvPr/>
        </p:nvSpPr>
        <p:spPr>
          <a:xfrm>
            <a:off x="457200" y="2139696"/>
            <a:ext cx="1097280" cy="384048"/>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b="1">
                <a:solidFill>
                  <a:srgbClr val="333333"/>
                </a:solidFill>
                <a:latin typeface="Calibri"/>
              </a:rPr>
              <a:t>  Week 1</a:t>
            </a:r>
          </a:p>
        </p:txBody>
      </p:sp>
      <p:sp>
        <p:nvSpPr>
          <p:cNvPr id="12" name="Rectangle 11"/>
          <p:cNvSpPr/>
          <p:nvPr/>
        </p:nvSpPr>
        <p:spPr>
          <a:xfrm>
            <a:off x="1554480" y="2139696"/>
            <a:ext cx="3200400" cy="384048"/>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Grader subagent + RSS MCP</a:t>
            </a:r>
          </a:p>
        </p:txBody>
      </p:sp>
      <p:sp>
        <p:nvSpPr>
          <p:cNvPr id="13" name="Rectangle 12"/>
          <p:cNvSpPr/>
          <p:nvPr/>
        </p:nvSpPr>
        <p:spPr>
          <a:xfrm>
            <a:off x="4754880" y="2139696"/>
            <a:ext cx="6976872" cy="384048"/>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Build the grading path end-to-end against canned input. Run manually.</a:t>
            </a:r>
          </a:p>
        </p:txBody>
      </p:sp>
      <p:sp>
        <p:nvSpPr>
          <p:cNvPr id="14" name="Rectangle 13"/>
          <p:cNvSpPr/>
          <p:nvPr/>
        </p:nvSpPr>
        <p:spPr>
          <a:xfrm>
            <a:off x="457200" y="2523744"/>
            <a:ext cx="1097280" cy="38404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b="1">
                <a:solidFill>
                  <a:srgbClr val="333333"/>
                </a:solidFill>
                <a:latin typeface="Calibri"/>
              </a:rPr>
              <a:t>  Week 2</a:t>
            </a:r>
          </a:p>
        </p:txBody>
      </p:sp>
      <p:sp>
        <p:nvSpPr>
          <p:cNvPr id="15" name="Rectangle 14"/>
          <p:cNvSpPr/>
          <p:nvPr/>
        </p:nvSpPr>
        <p:spPr>
          <a:xfrm>
            <a:off x="1554480" y="2523744"/>
            <a:ext cx="3200400" cy="38404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Briefer subagent</a:t>
            </a:r>
          </a:p>
        </p:txBody>
      </p:sp>
      <p:sp>
        <p:nvSpPr>
          <p:cNvPr id="16" name="Rectangle 15"/>
          <p:cNvSpPr/>
          <p:nvPr/>
        </p:nvSpPr>
        <p:spPr>
          <a:xfrm>
            <a:off x="4754880" y="2523744"/>
            <a:ext cx="6976872" cy="38404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Add brief composition. Hand-craft 3-5 sample briefs first; reverse-engineer the prompt from the samples.</a:t>
            </a:r>
          </a:p>
        </p:txBody>
      </p:sp>
      <p:sp>
        <p:nvSpPr>
          <p:cNvPr id="17" name="Rectangle 16"/>
          <p:cNvSpPr/>
          <p:nvPr/>
        </p:nvSpPr>
        <p:spPr>
          <a:xfrm>
            <a:off x="457200" y="2907791"/>
            <a:ext cx="1097280" cy="384048"/>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b="1">
                <a:solidFill>
                  <a:srgbClr val="333333"/>
                </a:solidFill>
                <a:latin typeface="Calibri"/>
              </a:rPr>
              <a:t>  Week 2</a:t>
            </a:r>
          </a:p>
        </p:txBody>
      </p:sp>
      <p:sp>
        <p:nvSpPr>
          <p:cNvPr id="18" name="Rectangle 17"/>
          <p:cNvSpPr/>
          <p:nvPr/>
        </p:nvSpPr>
        <p:spPr>
          <a:xfrm>
            <a:off x="1554480" y="2907791"/>
            <a:ext cx="3200400" cy="384048"/>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Discord delivery (hook)</a:t>
            </a:r>
          </a:p>
        </p:txBody>
      </p:sp>
      <p:sp>
        <p:nvSpPr>
          <p:cNvPr id="19" name="Rectangle 18"/>
          <p:cNvSpPr/>
          <p:nvPr/>
        </p:nvSpPr>
        <p:spPr>
          <a:xfrm>
            <a:off x="4754880" y="2907791"/>
            <a:ext cx="6976872" cy="384048"/>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discord-post.sh + webhook URL in .env. Ship the first brief to a channel.</a:t>
            </a:r>
          </a:p>
        </p:txBody>
      </p:sp>
      <p:sp>
        <p:nvSpPr>
          <p:cNvPr id="20" name="Rectangle 19"/>
          <p:cNvSpPr/>
          <p:nvPr/>
        </p:nvSpPr>
        <p:spPr>
          <a:xfrm>
            <a:off x="457200" y="3291839"/>
            <a:ext cx="1097280" cy="38404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b="1">
                <a:solidFill>
                  <a:srgbClr val="333333"/>
                </a:solidFill>
                <a:latin typeface="Calibri"/>
              </a:rPr>
              <a:t>  Week 3</a:t>
            </a:r>
          </a:p>
        </p:txBody>
      </p:sp>
      <p:sp>
        <p:nvSpPr>
          <p:cNvPr id="21" name="Rectangle 20"/>
          <p:cNvSpPr/>
          <p:nvPr/>
        </p:nvSpPr>
        <p:spPr>
          <a:xfrm>
            <a:off x="1554480" y="3291839"/>
            <a:ext cx="3200400" cy="38404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Librarian subagent + git</a:t>
            </a:r>
          </a:p>
        </p:txBody>
      </p:sp>
      <p:sp>
        <p:nvSpPr>
          <p:cNvPr id="22" name="Rectangle 21"/>
          <p:cNvSpPr/>
          <p:nvPr/>
        </p:nvSpPr>
        <p:spPr>
          <a:xfrm>
            <a:off x="4754880" y="3291839"/>
            <a:ext cx="6976872" cy="38404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Move side effects (commit, post, log) into the librarian. Test the LEGAL-POLICY content scan gate.</a:t>
            </a:r>
          </a:p>
        </p:txBody>
      </p:sp>
      <p:sp>
        <p:nvSpPr>
          <p:cNvPr id="23" name="Rectangle 22"/>
          <p:cNvSpPr/>
          <p:nvPr/>
        </p:nvSpPr>
        <p:spPr>
          <a:xfrm>
            <a:off x="457200" y="3675887"/>
            <a:ext cx="1097280" cy="384048"/>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b="1">
                <a:solidFill>
                  <a:srgbClr val="333333"/>
                </a:solidFill>
                <a:latin typeface="Calibri"/>
              </a:rPr>
              <a:t>  Week 3</a:t>
            </a:r>
          </a:p>
        </p:txBody>
      </p:sp>
      <p:sp>
        <p:nvSpPr>
          <p:cNvPr id="24" name="Rectangle 23"/>
          <p:cNvSpPr/>
          <p:nvPr/>
        </p:nvSpPr>
        <p:spPr>
          <a:xfrm>
            <a:off x="1554480" y="3675887"/>
            <a:ext cx="3200400" cy="384048"/>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Collector subagent</a:t>
            </a:r>
          </a:p>
        </p:txBody>
      </p:sp>
      <p:sp>
        <p:nvSpPr>
          <p:cNvPr id="25" name="Rectangle 24"/>
          <p:cNvSpPr/>
          <p:nvPr/>
        </p:nvSpPr>
        <p:spPr>
          <a:xfrm>
            <a:off x="4754880" y="3675887"/>
            <a:ext cx="6976872" cy="384048"/>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Replace manual feed-pulling with the collector. Add 5+ MCPs (VT, Shodan, urlscan, RSS, web search).</a:t>
            </a:r>
          </a:p>
        </p:txBody>
      </p:sp>
      <p:sp>
        <p:nvSpPr>
          <p:cNvPr id="26" name="Rectangle 25"/>
          <p:cNvSpPr/>
          <p:nvPr/>
        </p:nvSpPr>
        <p:spPr>
          <a:xfrm>
            <a:off x="457200" y="4059935"/>
            <a:ext cx="1097280" cy="38404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b="1">
                <a:solidFill>
                  <a:srgbClr val="333333"/>
                </a:solidFill>
                <a:latin typeface="Calibri"/>
              </a:rPr>
              <a:t>  Week 4</a:t>
            </a:r>
          </a:p>
        </p:txBody>
      </p:sp>
      <p:sp>
        <p:nvSpPr>
          <p:cNvPr id="27" name="Rectangle 26"/>
          <p:cNvSpPr/>
          <p:nvPr/>
        </p:nvSpPr>
        <p:spPr>
          <a:xfrm>
            <a:off x="1554480" y="4059935"/>
            <a:ext cx="3200400" cy="38404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Scheduler</a:t>
            </a:r>
          </a:p>
        </p:txBody>
      </p:sp>
      <p:sp>
        <p:nvSpPr>
          <p:cNvPr id="28" name="Rectangle 27"/>
          <p:cNvSpPr/>
          <p:nvPr/>
        </p:nvSpPr>
        <p:spPr>
          <a:xfrm>
            <a:off x="4754880" y="4059935"/>
            <a:ext cx="6976872" cy="38404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Task Scheduler XMLs · run_phase.ps1 wrapper · Splunk telemetry. First fully autonomous brief.</a:t>
            </a:r>
          </a:p>
        </p:txBody>
      </p:sp>
      <p:sp>
        <p:nvSpPr>
          <p:cNvPr id="29" name="Rectangle 28"/>
          <p:cNvSpPr/>
          <p:nvPr/>
        </p:nvSpPr>
        <p:spPr>
          <a:xfrm>
            <a:off x="457200" y="4443983"/>
            <a:ext cx="1097280" cy="384048"/>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b="1">
                <a:solidFill>
                  <a:srgbClr val="333333"/>
                </a:solidFill>
                <a:latin typeface="Calibri"/>
              </a:rPr>
              <a:t>  Week 4</a:t>
            </a:r>
          </a:p>
        </p:txBody>
      </p:sp>
      <p:sp>
        <p:nvSpPr>
          <p:cNvPr id="30" name="Rectangle 29"/>
          <p:cNvSpPr/>
          <p:nvPr/>
        </p:nvSpPr>
        <p:spPr>
          <a:xfrm>
            <a:off x="1554480" y="4443983"/>
            <a:ext cx="3200400" cy="384048"/>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Analyst + red-team</a:t>
            </a:r>
          </a:p>
        </p:txBody>
      </p:sp>
      <p:sp>
        <p:nvSpPr>
          <p:cNvPr id="31" name="Rectangle 30"/>
          <p:cNvSpPr/>
          <p:nvPr/>
        </p:nvSpPr>
        <p:spPr>
          <a:xfrm>
            <a:off x="4754880" y="4443983"/>
            <a:ext cx="6976872" cy="384048"/>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Add SAT skills + the analyst chain. Trigger red-team conditional on WEP threshold.</a:t>
            </a:r>
          </a:p>
        </p:txBody>
      </p:sp>
      <p:sp>
        <p:nvSpPr>
          <p:cNvPr id="32" name="Rectangle 31"/>
          <p:cNvSpPr/>
          <p:nvPr/>
        </p:nvSpPr>
        <p:spPr>
          <a:xfrm>
            <a:off x="457200" y="4828031"/>
            <a:ext cx="1097280" cy="38404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b="1">
                <a:solidFill>
                  <a:srgbClr val="333333"/>
                </a:solidFill>
                <a:latin typeface="Calibri"/>
              </a:rPr>
              <a:t>  Week 5</a:t>
            </a:r>
          </a:p>
        </p:txBody>
      </p:sp>
      <p:sp>
        <p:nvSpPr>
          <p:cNvPr id="33" name="Rectangle 32"/>
          <p:cNvSpPr/>
          <p:nvPr/>
        </p:nvSpPr>
        <p:spPr>
          <a:xfrm>
            <a:off x="1554480" y="4828031"/>
            <a:ext cx="3200400" cy="38404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Actor profiles + vulns</a:t>
            </a:r>
          </a:p>
        </p:txBody>
      </p:sp>
      <p:sp>
        <p:nvSpPr>
          <p:cNvPr id="34" name="Rectangle 33"/>
          <p:cNvSpPr/>
          <p:nvPr/>
        </p:nvSpPr>
        <p:spPr>
          <a:xfrm>
            <a:off x="4754880" y="4828031"/>
            <a:ext cx="6976872" cy="38404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Add actor-profiler + vuln-tracker. Hard Rule 5 gate to #actor-review.</a:t>
            </a:r>
          </a:p>
        </p:txBody>
      </p:sp>
      <p:sp>
        <p:nvSpPr>
          <p:cNvPr id="35" name="Rectangle 34"/>
          <p:cNvSpPr/>
          <p:nvPr/>
        </p:nvSpPr>
        <p:spPr>
          <a:xfrm>
            <a:off x="457200" y="5212079"/>
            <a:ext cx="1097280" cy="384048"/>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b="1">
                <a:solidFill>
                  <a:srgbClr val="333333"/>
                </a:solidFill>
                <a:latin typeface="Calibri"/>
              </a:rPr>
              <a:t>  Week 5</a:t>
            </a:r>
          </a:p>
        </p:txBody>
      </p:sp>
      <p:sp>
        <p:nvSpPr>
          <p:cNvPr id="36" name="Rectangle 35"/>
          <p:cNvSpPr/>
          <p:nvPr/>
        </p:nvSpPr>
        <p:spPr>
          <a:xfrm>
            <a:off x="1554480" y="5212079"/>
            <a:ext cx="3200400" cy="384048"/>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Retraction handling</a:t>
            </a:r>
          </a:p>
        </p:txBody>
      </p:sp>
      <p:sp>
        <p:nvSpPr>
          <p:cNvPr id="37" name="Rectangle 36"/>
          <p:cNvSpPr/>
          <p:nvPr/>
        </p:nvSpPr>
        <p:spPr>
          <a:xfrm>
            <a:off x="4754880" y="5212079"/>
            <a:ext cx="6976872" cy="384048"/>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RETRACTION-POLICY + 72h auto-downgrade clock. Test on a hypothetical bad finding.</a:t>
            </a:r>
          </a:p>
        </p:txBody>
      </p:sp>
      <p:sp>
        <p:nvSpPr>
          <p:cNvPr id="38" name="Rectangle 37"/>
          <p:cNvSpPr/>
          <p:nvPr/>
        </p:nvSpPr>
        <p:spPr>
          <a:xfrm>
            <a:off x="457200" y="5596128"/>
            <a:ext cx="1097280" cy="38404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b="1">
                <a:solidFill>
                  <a:srgbClr val="333333"/>
                </a:solidFill>
                <a:latin typeface="Calibri"/>
              </a:rPr>
              <a:t>  Week 6</a:t>
            </a:r>
          </a:p>
        </p:txBody>
      </p:sp>
      <p:sp>
        <p:nvSpPr>
          <p:cNvPr id="39" name="Rectangle 38"/>
          <p:cNvSpPr/>
          <p:nvPr/>
        </p:nvSpPr>
        <p:spPr>
          <a:xfrm>
            <a:off x="1554480" y="5596128"/>
            <a:ext cx="3200400" cy="38404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On-demand / Discord listener</a:t>
            </a:r>
          </a:p>
        </p:txBody>
      </p:sp>
      <p:sp>
        <p:nvSpPr>
          <p:cNvPr id="40" name="Rectangle 39"/>
          <p:cNvSpPr/>
          <p:nvPr/>
        </p:nvSpPr>
        <p:spPr>
          <a:xfrm>
            <a:off x="4754880" y="5596128"/>
            <a:ext cx="6976872" cy="38404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scripts/discord_listener.py + the slash command surface. Now interactive.</a:t>
            </a:r>
          </a:p>
        </p:txBody>
      </p:sp>
      <p:sp>
        <p:nvSpPr>
          <p:cNvPr id="41" name="Rectangle 40"/>
          <p:cNvSpPr/>
          <p:nvPr/>
        </p:nvSpPr>
        <p:spPr>
          <a:xfrm>
            <a:off x="457200" y="5980176"/>
            <a:ext cx="1097280" cy="384048"/>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b="1">
                <a:solidFill>
                  <a:srgbClr val="333333"/>
                </a:solidFill>
                <a:latin typeface="Calibri"/>
              </a:rPr>
              <a:t>  Week 6</a:t>
            </a:r>
          </a:p>
        </p:txBody>
      </p:sp>
      <p:sp>
        <p:nvSpPr>
          <p:cNvPr id="42" name="Rectangle 41"/>
          <p:cNvSpPr/>
          <p:nvPr/>
        </p:nvSpPr>
        <p:spPr>
          <a:xfrm>
            <a:off x="1554480" y="5980176"/>
            <a:ext cx="3200400" cy="384048"/>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Hardening + observability</a:t>
            </a:r>
          </a:p>
        </p:txBody>
      </p:sp>
      <p:sp>
        <p:nvSpPr>
          <p:cNvPr id="43" name="Rectangle 42"/>
          <p:cNvSpPr/>
          <p:nvPr/>
        </p:nvSpPr>
        <p:spPr>
          <a:xfrm>
            <a:off x="4754880" y="5980176"/>
            <a:ext cx="6976872" cy="384048"/>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54864" wrap="square"/>
          <a:lstStyle/>
          <a:p>
            <a:pPr algn="ctr"/>
            <a:r>
              <a:rPr sz="1000">
                <a:solidFill>
                  <a:srgbClr val="333333"/>
                </a:solidFill>
                <a:latin typeface="Calibri"/>
              </a:rPr>
              <a:t>  Splunk dashboards. Refusal logging. Audit-trail end-to-end tests. Production cutover.</a:t>
            </a:r>
          </a:p>
        </p:txBody>
      </p:sp>
      <p:sp>
        <p:nvSpPr>
          <p:cNvPr id="44" name="TextBox 43"/>
          <p:cNvSpPr txBox="1"/>
          <p:nvPr/>
        </p:nvSpPr>
        <p:spPr>
          <a:xfrm>
            <a:off x="457200" y="6446520"/>
            <a:ext cx="11274552" cy="274320"/>
          </a:xfrm>
          <a:prstGeom prst="rect">
            <a:avLst/>
          </a:prstGeom>
          <a:noFill/>
        </p:spPr>
        <p:txBody>
          <a:bodyPr wrap="none">
            <a:spAutoFit/>
          </a:bodyPr>
          <a:lstStyle/>
          <a:p>
            <a:pPr algn="l"/>
            <a:r>
              <a:rPr sz="800" i="1">
                <a:solidFill>
                  <a:srgbClr val="666666"/>
                </a:solidFill>
                <a:latin typeface="Calibri"/>
              </a:rPr>
              <a:t>Archimedes · Architecture Walkthrough</a:t>
            </a:r>
          </a:p>
        </p:txBody>
      </p:sp>
      <p:sp>
        <p:nvSpPr>
          <p:cNvPr id="45" name="TextBox 44"/>
          <p:cNvSpPr txBox="1"/>
          <p:nvPr/>
        </p:nvSpPr>
        <p:spPr>
          <a:xfrm>
            <a:off x="10515600" y="6446520"/>
            <a:ext cx="1188720" cy="274320"/>
          </a:xfrm>
          <a:prstGeom prst="rect">
            <a:avLst/>
          </a:prstGeom>
          <a:noFill/>
        </p:spPr>
        <p:txBody>
          <a:bodyPr wrap="none">
            <a:spAutoFit/>
          </a:bodyPr>
          <a:lstStyle/>
          <a:p>
            <a:pPr algn="r"/>
            <a:r>
              <a:rPr sz="800">
                <a:solidFill>
                  <a:srgbClr val="666666"/>
                </a:solidFill>
                <a:latin typeface="Calibri"/>
              </a:rPr>
              <a:t>30 / 32</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28600"/>
          </a:xfrm>
          <a:prstGeom prst="rect">
            <a:avLst/>
          </a:prstGeom>
          <a:solidFill>
            <a:srgbClr val="4A90E2"/>
          </a:solidFill>
          <a:ln>
            <a:noFill/>
          </a:ln>
        </p:spPr>
        <p:style>
          <a:lnRef idx="1">
            <a:schemeClr val="accent1"/>
          </a:lnRef>
          <a:fillRef idx="3">
            <a:schemeClr val="accent1"/>
          </a:fillRef>
          <a:effectRef idx="2">
            <a:schemeClr val="accent1"/>
          </a:effectRef>
          <a:fontRef idx="minor">
            <a:schemeClr val="lt1"/>
          </a:fontRef>
        </p:style>
        <p:txBody>
          <a:bodyPr rtlCol="0" anchor="ctr" tIns="18288" lIns="457200"/>
          <a:lstStyle/>
          <a:p>
            <a:pPr algn="ctr"/>
            <a:r>
              <a:rPr sz="1000" b="1">
                <a:solidFill>
                  <a:srgbClr val="FFFFFF"/>
                </a:solidFill>
                <a:latin typeface="Calibri"/>
              </a:rPr>
              <a:t>§6  ·  Rebuild guide</a:t>
            </a:r>
          </a:p>
        </p:txBody>
      </p:sp>
      <p:sp>
        <p:nvSpPr>
          <p:cNvPr id="3" name="TextBox 2"/>
          <p:cNvSpPr txBox="1"/>
          <p:nvPr/>
        </p:nvSpPr>
        <p:spPr>
          <a:xfrm>
            <a:off x="457200" y="274320"/>
            <a:ext cx="11274552" cy="640080"/>
          </a:xfrm>
          <a:prstGeom prst="rect">
            <a:avLst/>
          </a:prstGeom>
          <a:noFill/>
        </p:spPr>
        <p:txBody>
          <a:bodyPr wrap="square">
            <a:spAutoFit/>
          </a:bodyPr>
          <a:lstStyle/>
          <a:p>
            <a:pPr algn="l"/>
            <a:r>
              <a:rPr sz="2800" b="1">
                <a:solidFill>
                  <a:srgbClr val="1F3A5F"/>
                </a:solidFill>
                <a:latin typeface="Calibri"/>
              </a:rPr>
              <a:t>What to skip / defer</a:t>
            </a:r>
          </a:p>
        </p:txBody>
      </p:sp>
      <p:sp>
        <p:nvSpPr>
          <p:cNvPr id="4" name="TextBox 3"/>
          <p:cNvSpPr txBox="1"/>
          <p:nvPr/>
        </p:nvSpPr>
        <p:spPr>
          <a:xfrm>
            <a:off x="457200" y="914400"/>
            <a:ext cx="11274552" cy="365760"/>
          </a:xfrm>
          <a:prstGeom prst="rect">
            <a:avLst/>
          </a:prstGeom>
          <a:noFill/>
        </p:spPr>
        <p:txBody>
          <a:bodyPr wrap="square">
            <a:spAutoFit/>
          </a:bodyPr>
          <a:lstStyle/>
          <a:p>
            <a:r>
              <a:rPr sz="1300" i="1">
                <a:solidFill>
                  <a:srgbClr val="666666"/>
                </a:solidFill>
                <a:latin typeface="Calibri"/>
              </a:rPr>
              <a:t>Things Archimedes has that you probably don't need on day 1.</a:t>
            </a:r>
          </a:p>
        </p:txBody>
      </p:sp>
      <p:sp>
        <p:nvSpPr>
          <p:cNvPr id="5" name="TextBox 4"/>
          <p:cNvSpPr txBox="1"/>
          <p:nvPr/>
        </p:nvSpPr>
        <p:spPr>
          <a:xfrm>
            <a:off x="457200" y="1463040"/>
            <a:ext cx="11274552" cy="4754880"/>
          </a:xfrm>
          <a:prstGeom prst="rect">
            <a:avLst/>
          </a:prstGeom>
          <a:noFill/>
        </p:spPr>
        <p:txBody>
          <a:bodyPr wrap="square">
            <a:spAutoFit/>
          </a:bodyPr>
          <a:lstStyle/>
          <a:p>
            <a:pPr algn="l">
              <a:lnSpc>
                <a:spcPct val="115000"/>
              </a:lnSpc>
            </a:pPr>
            <a:r>
              <a:rPr sz="1200" b="1">
                <a:solidFill>
                  <a:srgbClr val="333333"/>
                </a:solidFill>
                <a:latin typeface="Calibri"/>
              </a:rPr>
              <a:t>• The web dashboard</a:t>
            </a:r>
          </a:p>
          <a:p>
            <a:pPr algn="l">
              <a:lnSpc>
                <a:spcPct val="115000"/>
              </a:lnSpc>
            </a:pPr>
            <a:r>
              <a:rPr sz="1000" i="1">
                <a:solidFill>
                  <a:srgbClr val="666666"/>
                </a:solidFill>
                <a:latin typeface="Calibri"/>
              </a:rPr>
              <a:t>   interfaces/dashboard/ is an empty placeholder. Originally planned as a Flask UI for browsing the corpus. Deferred indefinitely because the Discord listener (/cve, /investigate, /ioc-hunt) covers the interactive-query need and the markdown corpus is browsable in GitHub or any editor. Skip unless you need a non-technical-stakeholder browser.</a:t>
            </a:r>
          </a:p>
          <a:p>
            <a:pPr algn="l">
              <a:lnSpc>
                <a:spcPct val="115000"/>
              </a:lnSpc>
              <a:spcBef>
                <a:spcPts val="600"/>
              </a:spcBef>
            </a:pPr>
            <a:r>
              <a:rPr sz="1200" b="1">
                <a:solidFill>
                  <a:srgbClr val="333333"/>
                </a:solidFill>
                <a:latin typeface="Calibri"/>
              </a:rPr>
              <a:t>• 8 MCP wrappers on day 1</a:t>
            </a:r>
          </a:p>
          <a:p>
            <a:pPr algn="l">
              <a:lnSpc>
                <a:spcPct val="115000"/>
              </a:lnSpc>
            </a:pPr>
            <a:r>
              <a:rPr sz="1000" i="1">
                <a:solidFill>
                  <a:srgbClr val="666666"/>
                </a:solidFill>
                <a:latin typeface="Calibri"/>
              </a:rPr>
              <a:t>   Start with 1-3. RSS bridge covers most feeds. VirusTotal covers IOC enrichment. Splunk-query covers first-party. Add more when you hit a 'this would be easier with X' moment. theHarvester + SpiderFoot can wait until you need passive recon.</a:t>
            </a:r>
          </a:p>
          <a:p>
            <a:pPr algn="l">
              <a:lnSpc>
                <a:spcPct val="115000"/>
              </a:lnSpc>
              <a:spcBef>
                <a:spcPts val="600"/>
              </a:spcBef>
            </a:pPr>
            <a:r>
              <a:rPr sz="1200" b="1">
                <a:solidFill>
                  <a:srgbClr val="333333"/>
                </a:solidFill>
                <a:latin typeface="Calibri"/>
              </a:rPr>
              <a:t>• All 9 subagents</a:t>
            </a:r>
          </a:p>
          <a:p>
            <a:pPr algn="l">
              <a:lnSpc>
                <a:spcPct val="115000"/>
              </a:lnSpc>
            </a:pPr>
            <a:r>
              <a:rPr sz="1000" i="1">
                <a:solidFill>
                  <a:srgbClr val="666666"/>
                </a:solidFill>
                <a:latin typeface="Calibri"/>
              </a:rPr>
              <a:t>   Start with 2-3. Grader + briefer covers the load-bearing path. Add collector (week 3), librarian (week 3), scheduler (week 4), analyst (week 4), red-team (week 4), actor-profiler (week 5), vuln-tracker (week 5). Building all 9 before anything ships is the failure mode.</a:t>
            </a:r>
          </a:p>
          <a:p>
            <a:pPr algn="l">
              <a:lnSpc>
                <a:spcPct val="115000"/>
              </a:lnSpc>
              <a:spcBef>
                <a:spcPts val="600"/>
              </a:spcBef>
            </a:pPr>
            <a:r>
              <a:rPr sz="1200" b="1">
                <a:solidFill>
                  <a:srgbClr val="333333"/>
                </a:solidFill>
                <a:latin typeface="Calibri"/>
              </a:rPr>
              <a:t>• Per-actor red-team variant</a:t>
            </a:r>
          </a:p>
          <a:p>
            <a:pPr algn="l">
              <a:lnSpc>
                <a:spcPct val="115000"/>
              </a:lnSpc>
            </a:pPr>
            <a:r>
              <a:rPr sz="1000" i="1">
                <a:solidFill>
                  <a:srgbClr val="666666"/>
                </a:solidFill>
                <a:latin typeface="Calibri"/>
              </a:rPr>
              <a:t>   We have red-team-analyst for findings. We also drafted a per-actor red-team for scoring runs — never built because the regular red-team chain was sufficient. Skip until proven necessary.</a:t>
            </a:r>
          </a:p>
          <a:p>
            <a:pPr algn="l">
              <a:lnSpc>
                <a:spcPct val="115000"/>
              </a:lnSpc>
              <a:spcBef>
                <a:spcPts val="600"/>
              </a:spcBef>
            </a:pPr>
            <a:r>
              <a:rPr sz="1200" b="1">
                <a:solidFill>
                  <a:srgbClr val="333333"/>
                </a:solidFill>
                <a:latin typeface="Calibri"/>
              </a:rPr>
              <a:t>• On-demand investigation slash commands beyond /investigate + /ioc-hunt</a:t>
            </a:r>
          </a:p>
          <a:p>
            <a:pPr algn="l">
              <a:lnSpc>
                <a:spcPct val="115000"/>
              </a:lnSpc>
            </a:pPr>
            <a:r>
              <a:rPr sz="1000" i="1">
                <a:solidFill>
                  <a:srgbClr val="666666"/>
                </a:solidFill>
                <a:latin typeface="Calibri"/>
              </a:rPr>
              <a:t>   The full list (8 slash commands) accreted over time. Start with 2-3 (/investigate + /ioc-hunt + /help). /new-actor, /update-tracking, /approve-scoring matter once you have an actor corpus to maintain.</a:t>
            </a:r>
          </a:p>
          <a:p>
            <a:pPr algn="l">
              <a:lnSpc>
                <a:spcPct val="115000"/>
              </a:lnSpc>
              <a:spcBef>
                <a:spcPts val="600"/>
              </a:spcBef>
            </a:pPr>
            <a:r>
              <a:rPr sz="1200" b="1">
                <a:solidFill>
                  <a:srgbClr val="333333"/>
                </a:solidFill>
                <a:latin typeface="Calibri"/>
              </a:rPr>
              <a:t>• FLASH if your cadence permits</a:t>
            </a:r>
          </a:p>
          <a:p>
            <a:pPr algn="l">
              <a:lnSpc>
                <a:spcPct val="115000"/>
              </a:lnSpc>
            </a:pPr>
            <a:r>
              <a:rPr sz="1000" i="1">
                <a:solidFill>
                  <a:srgbClr val="666666"/>
                </a:solidFill>
                <a:latin typeface="Calibri"/>
              </a:rPr>
              <a:t>   Scheduled briefs cover most operational needs. FLASH is the answer to 'CVE-10 broke at 3 AM, page me now.' If your operators don't need that pager-style escalation, scheduled briefs alone are sufficient.</a:t>
            </a:r>
          </a:p>
        </p:txBody>
      </p:sp>
      <p:sp>
        <p:nvSpPr>
          <p:cNvPr id="6" name="TextBox 5"/>
          <p:cNvSpPr txBox="1"/>
          <p:nvPr/>
        </p:nvSpPr>
        <p:spPr>
          <a:xfrm>
            <a:off x="457200" y="6446520"/>
            <a:ext cx="11274552" cy="274320"/>
          </a:xfrm>
          <a:prstGeom prst="rect">
            <a:avLst/>
          </a:prstGeom>
          <a:noFill/>
        </p:spPr>
        <p:txBody>
          <a:bodyPr wrap="none">
            <a:spAutoFit/>
          </a:bodyPr>
          <a:lstStyle/>
          <a:p>
            <a:pPr algn="l"/>
            <a:r>
              <a:rPr sz="800" i="1">
                <a:solidFill>
                  <a:srgbClr val="666666"/>
                </a:solidFill>
                <a:latin typeface="Calibri"/>
              </a:rPr>
              <a:t>Archimedes · Architecture Walkthrough</a:t>
            </a:r>
          </a:p>
        </p:txBody>
      </p:sp>
      <p:sp>
        <p:nvSpPr>
          <p:cNvPr id="7" name="TextBox 6"/>
          <p:cNvSpPr txBox="1"/>
          <p:nvPr/>
        </p:nvSpPr>
        <p:spPr>
          <a:xfrm>
            <a:off x="10515600" y="6446520"/>
            <a:ext cx="1188720" cy="274320"/>
          </a:xfrm>
          <a:prstGeom prst="rect">
            <a:avLst/>
          </a:prstGeom>
          <a:noFill/>
        </p:spPr>
        <p:txBody>
          <a:bodyPr wrap="none">
            <a:spAutoFit/>
          </a:bodyPr>
          <a:lstStyle/>
          <a:p>
            <a:pPr algn="r"/>
            <a:r>
              <a:rPr sz="800">
                <a:solidFill>
                  <a:srgbClr val="666666"/>
                </a:solidFill>
                <a:latin typeface="Calibri"/>
              </a:rPr>
              <a:t>31 / 32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194560"/>
            <a:ext cx="11274552" cy="1097280"/>
          </a:xfrm>
          <a:prstGeom prst="rect">
            <a:avLst/>
          </a:prstGeom>
          <a:noFill/>
        </p:spPr>
        <p:txBody>
          <a:bodyPr wrap="none">
            <a:spAutoFit/>
          </a:bodyPr>
          <a:lstStyle/>
          <a:p>
            <a:pPr algn="ctr"/>
            <a:r>
              <a:rPr sz="5400" b="1">
                <a:solidFill>
                  <a:srgbClr val="1F3A5F"/>
                </a:solidFill>
                <a:latin typeface="Calibri"/>
              </a:rPr>
              <a:t>Questions?</a:t>
            </a:r>
          </a:p>
        </p:txBody>
      </p:sp>
      <p:sp>
        <p:nvSpPr>
          <p:cNvPr id="3" name="TextBox 2"/>
          <p:cNvSpPr txBox="1"/>
          <p:nvPr/>
        </p:nvSpPr>
        <p:spPr>
          <a:xfrm>
            <a:off x="457200" y="3474720"/>
            <a:ext cx="11274552" cy="457200"/>
          </a:xfrm>
          <a:prstGeom prst="rect">
            <a:avLst/>
          </a:prstGeom>
          <a:noFill/>
        </p:spPr>
        <p:txBody>
          <a:bodyPr wrap="none">
            <a:spAutoFit/>
          </a:bodyPr>
          <a:lstStyle/>
          <a:p>
            <a:pPr algn="ctr"/>
            <a:r>
              <a:rPr sz="2000" i="1">
                <a:solidFill>
                  <a:srgbClr val="666666"/>
                </a:solidFill>
                <a:latin typeface="Calibri"/>
              </a:rPr>
              <a:t>Where would you start?</a:t>
            </a:r>
          </a:p>
        </p:txBody>
      </p:sp>
      <p:sp>
        <p:nvSpPr>
          <p:cNvPr id="4" name="TextBox 3"/>
          <p:cNvSpPr txBox="1"/>
          <p:nvPr/>
        </p:nvSpPr>
        <p:spPr>
          <a:xfrm>
            <a:off x="457200" y="5029200"/>
            <a:ext cx="11274552" cy="457200"/>
          </a:xfrm>
          <a:prstGeom prst="rect">
            <a:avLst/>
          </a:prstGeom>
          <a:noFill/>
        </p:spPr>
        <p:txBody>
          <a:bodyPr wrap="none">
            <a:spAutoFit/>
          </a:bodyPr>
          <a:lstStyle/>
          <a:p>
            <a:pPr algn="ctr"/>
            <a:r>
              <a:rPr sz="1400">
                <a:solidFill>
                  <a:srgbClr val="666666"/>
                </a:solidFill>
                <a:latin typeface="Calibri"/>
              </a:rPr>
              <a:t>[Presenter name]   ·   [Email / Slack / Teams handle]</a:t>
            </a:r>
          </a:p>
        </p:txBody>
      </p:sp>
      <p:sp>
        <p:nvSpPr>
          <p:cNvPr id="5" name="TextBox 4"/>
          <p:cNvSpPr txBox="1"/>
          <p:nvPr/>
        </p:nvSpPr>
        <p:spPr>
          <a:xfrm>
            <a:off x="457200" y="6446520"/>
            <a:ext cx="11274552" cy="274320"/>
          </a:xfrm>
          <a:prstGeom prst="rect">
            <a:avLst/>
          </a:prstGeom>
          <a:noFill/>
        </p:spPr>
        <p:txBody>
          <a:bodyPr wrap="none">
            <a:spAutoFit/>
          </a:bodyPr>
          <a:lstStyle/>
          <a:p>
            <a:pPr algn="l"/>
            <a:r>
              <a:rPr sz="800" i="1">
                <a:solidFill>
                  <a:srgbClr val="666666"/>
                </a:solidFill>
                <a:latin typeface="Calibri"/>
              </a:rPr>
              <a:t>Archimedes · Architecture Walkthrough</a:t>
            </a:r>
          </a:p>
        </p:txBody>
      </p:sp>
      <p:sp>
        <p:nvSpPr>
          <p:cNvPr id="6" name="TextBox 5"/>
          <p:cNvSpPr txBox="1"/>
          <p:nvPr/>
        </p:nvSpPr>
        <p:spPr>
          <a:xfrm>
            <a:off x="10515600" y="6446520"/>
            <a:ext cx="1188720" cy="274320"/>
          </a:xfrm>
          <a:prstGeom prst="rect">
            <a:avLst/>
          </a:prstGeom>
          <a:noFill/>
        </p:spPr>
        <p:txBody>
          <a:bodyPr wrap="none">
            <a:spAutoFit/>
          </a:bodyPr>
          <a:lstStyle/>
          <a:p>
            <a:pPr algn="r"/>
            <a:r>
              <a:rPr sz="800">
                <a:solidFill>
                  <a:srgbClr val="666666"/>
                </a:solidFill>
                <a:latin typeface="Calibri"/>
              </a:rPr>
              <a:t>32 / 32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