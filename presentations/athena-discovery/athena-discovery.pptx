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by naming the audience explicitly — dev team here to evaluate buildability, sponsors here to evaluate whether to fund a Discovery Phase. Frame: this is a Discovery proposal, not a build commitment. We have a working architecture pattern (Archimedes) we'd anchor on, but we're asking for 2-3 weeks of structured working sessions to validate the requirements before sizing a build. The deck shows the proposed approach plus the open questions that need stakeholder input.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problem statement out loud — most of the room hasn't seen this slide before. The three tags at the bottom are what we'll come back to throughout — Athena's job is to make these three things go away. Don't get into the solution yet; this slide is anchoring why we're here.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you have concrete numbers (analyst-hours per week, time-to-triage averages, MTTR for high-impact threats), drop them in here BEFORE this meeting — leadership wants the specific cost. If you don't have those numbers yet, the Discovery Phase produces them as part of validation. Frame that explicitly during the talk.</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'we know what we're doing' slide for leadership. Three points: pattern proven, substrate in place, Claude is the right engine. If asked to demo Archimedes, you can show #intel-briefs Discord post or screen-share a brief markdown file. The final bullet pivots to the Discovery ask without committing to a build yet.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load-bearing slide of the deck. Every requirement from the intake is mapped to a concrete proposed feature and labeled with what we already know vs. what needs Discovery validation. Green text = pattern proven in Archimedes, low risk. Amber text = needs your input to lock. This is also the place to invite questions from the room — anything they want to flag as 'we need more on this' is fair game.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Frame: Admiralty is older than cyber — NATO has used it since the Cold War. WEP comes from a 1964 CIA paper. We're not inventing methodology; we're encoding existing methodology in doctrine the agent applies uniformly. The single-source-veto rule is the load-bearing answer to 'inconsistent confidence across analysts' — the agent literally cannot promote a single-source claim above 'likely' regardless of how strong it sounds.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Critical for the inconsistency-across-analysts problem: the methodology is mechanical. Every analyst hitting this with the same evidence gets the same answer. The example on the right shows the discipline working — APT37 has espionage capability that would justify HIGH if you only looked at one category, but the four floor scores dilute to overall MEDIUM. Sponsors will ask 'what if we disagree with the weights?' — answer: the weights are doctrine, versioned in git, tunable in Discovery Phase per your priorities.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slide where 'AI in CTI' becomes specific to YOUR environment. OpenCTI alone gives you the external intel; CMDB alone gives you the asset inventory; GTI alone gives you a risk overlay. Athena connects all three so 'CVE-2026-XXXX is hot' becomes '23 of YOUR assets are exposed; 4 are crown-jewel-tier; GTI rates this an 80; here's your prioritized list.' The amber callouts at the bottom are the explicit Discovery questions — three integration paths we need to validate before sizing the build.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'Prioritization drift across the org' is solved here. Every team sees the same canonical findings, rendered for their workflow. Vuln Mgmt sees CVE deadlines; SOC sees Splunk hunt queries; Leadership sees the executive heatmap. Same source intel; same prioritization model; different surface. The discipline is in the doctrine — INTEL-BRIEF-STANDARDS specifies the per-team rendering rules.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Wireframe — for discussion, NOT a committed design. Four quadrants address four different consumption modes: 'what's hot' (top threats), 'where am I exposed' (heatmap), 'what needs my attention' (FLASH+gates), 'what just happened' (activity log). Sponsors will want to see this — leadership consumes the dashboard primarily. Dev team will ask about hosting / auth / data refresh; that's all Discovery work. Note this is also where 'inconsistent prioritization across the org' gets visually resolved — everybody sees the same top-5 list.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Show what 'ask the agent a question' actually looks like. The shape is borrowed from Archimedes' Discord listener — slash commands, structured response, source citations. Three things to emphasize: (1) the agent investigates LIVE against OpenCTI + GTI, not just the cached corpus; (2) it returns the same analyst-grade format the briefs use, not a chatbot ramble; (3) every claim cites a source. If the audience asks 'what if the agent gets it wrong' — the answer is single-source-veto + WEP discipline + every refusal logged for review.</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bidirectional webhook pattern is what closes the loop on 'delays response actions for high-impact threats.' Without it, the agent just produces graded intel; with it, the intel triggers actual response. Critical caveat for sponsors: automated response on production assets is high-stakes. Discovery Phase needs to lock down which playbooks are agent-triggerable vs. analyst-confirmed-then-triggered. Pattern: low-risk actions auto-fire (quarantine, ticket open); destructive actions require human approval (block, isolate, take down).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architecture for sponsors. Frame it as 'this is the starting point we'd anchor on; Discovery validates the integration paths.' The amber band lists the four integration unknowns explicitly — those are the questions we're asking sponsors to commit working-session time to resolve. If a dev in the room asks 'why subagents instead of one prompt' — answer: context isolation. Proven pattern; lower error rate; auditable per-role.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Doctrine-as-code is the architectural answer to 'how do we govern agent behavior in a regulated environment?' Every rule the agent follows is in a .md file. Every change is in git history. Every refusal is traceable. Engineers can review the structure; analysts can review the methodology. Compliance can audit both. This is the layer that makes the system defensible — not just performant. Discovery Phase includes a doctrine review with your intel team lead — they sign off on the methodology before we commit to building against it.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Discovery is a contained scope with a hard decision gate at the end. Three weeks; named deliverables; either we have a sized build plan or we have a documented reason not to proceed. Either outcome is valuable. Push for sponsor commitment to attend working sessions personally — without their input on weights and per-team rendering, we'll build the wrong thing efficiently.</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these out loud. The point is to make explicit what's NOT yet known — sponsors should see that we've thought about what could go wrong and have a structured plan to surface answers. If a sponsor in the room can already answer one of these, capture it immediately — that's pre-Discovery progress. The deck deliberately doesn't pretend to have answers we don't. Honest scope wins.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concrete asks. None of them commit to a build; all of them get us to a sized build plan. If sponsors push back on any specific ask — capture the resistance and route around it; don't argue. The point is to get to Discovery, not to win every line item. Closing line for this slide: 'with these five things, we can start Discovery next Monday and have a sized build plan in three weeks.'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on the value of Discovery whether it leads to a build or not. A 'no, not yet' answer that surfaces three specific blockers is worth as much as a 'yes' — because we don't waste 8 weeks of build time on a project that wasn't ready. Both outcomes produce a defensible artifact. That's the discovery framing's strongest argument.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Likely questions to be ready for: (1) Cost — Discovery is mostly your time + working-session hours; the build itself is the unknown until Discovery sizes it. (2) What if Discovery says 'no' — both outcomes produce a defensible artifact (see slide 18). (3) Why Claude vs. an in-house ML model — long-context + tool-use + framework-application discipline at this maturity is hard to build from scratch; Claude solves the analyst-layer problem cheaper and faster than a custom model would. (4) Security review — every external integration is auth-bounded; every action is logged; every doctrine refusal is auditable. Discovery includes a security review touchpoint.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65760"/>
          </a:xfrm>
          <a:prstGeom prst="rect">
            <a:avLst/>
          </a:prstGeom>
          <a:solidFill>
            <a:srgbClr val="C87F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Calibri"/>
              </a:rPr>
              <a:t>DISCOVERY PROPOSAL  —  for discussion, not commitment</a:t>
            </a:r>
          </a:p>
        </p:txBody>
      </p:sp>
      <p:sp>
        <p:nvSpPr>
          <p:cNvPr id="3" name="TextBox 2"/>
          <p:cNvSpPr txBox="1"/>
          <p:nvPr/>
        </p:nvSpPr>
        <p:spPr>
          <a:xfrm>
            <a:off x="457200" y="2194560"/>
            <a:ext cx="11274552" cy="1280160"/>
          </a:xfrm>
          <a:prstGeom prst="rect">
            <a:avLst/>
          </a:prstGeom>
          <a:noFill/>
        </p:spPr>
        <p:txBody>
          <a:bodyPr wrap="square">
            <a:spAutoFit/>
          </a:bodyPr>
          <a:lstStyle/>
          <a:p>
            <a:pPr algn="ctr"/>
            <a:r>
              <a:rPr sz="7200" b="1">
                <a:solidFill>
                  <a:srgbClr val="1F3A5F"/>
                </a:solidFill>
                <a:latin typeface="Calibri"/>
              </a:rPr>
              <a:t>Athena</a:t>
            </a:r>
          </a:p>
        </p:txBody>
      </p:sp>
      <p:sp>
        <p:nvSpPr>
          <p:cNvPr id="4" name="TextBox 3"/>
          <p:cNvSpPr txBox="1"/>
          <p:nvPr/>
        </p:nvSpPr>
        <p:spPr>
          <a:xfrm>
            <a:off x="457200" y="3749039"/>
            <a:ext cx="11274552" cy="548640"/>
          </a:xfrm>
          <a:prstGeom prst="rect">
            <a:avLst/>
          </a:prstGeom>
          <a:noFill/>
        </p:spPr>
        <p:txBody>
          <a:bodyPr wrap="none">
            <a:spAutoFit/>
          </a:bodyPr>
          <a:lstStyle/>
          <a:p>
            <a:pPr algn="ctr"/>
            <a:r>
              <a:rPr sz="2200" i="1">
                <a:solidFill>
                  <a:srgbClr val="666666"/>
                </a:solidFill>
                <a:latin typeface="Calibri"/>
              </a:rPr>
              <a:t>AI-enabled CTI enrichment + decision support</a:t>
            </a:r>
          </a:p>
        </p:txBody>
      </p:sp>
      <p:sp>
        <p:nvSpPr>
          <p:cNvPr id="5" name="TextBox 4"/>
          <p:cNvSpPr txBox="1"/>
          <p:nvPr/>
        </p:nvSpPr>
        <p:spPr>
          <a:xfrm>
            <a:off x="457200" y="5303520"/>
            <a:ext cx="11274552" cy="457200"/>
          </a:xfrm>
          <a:prstGeom prst="rect">
            <a:avLst/>
          </a:prstGeom>
          <a:noFill/>
        </p:spPr>
        <p:txBody>
          <a:bodyPr wrap="none">
            <a:spAutoFit/>
          </a:bodyPr>
          <a:lstStyle/>
          <a:p>
            <a:pPr algn="ctr"/>
            <a:r>
              <a:rPr sz="1400">
                <a:solidFill>
                  <a:srgbClr val="666666"/>
                </a:solidFill>
                <a:latin typeface="Calibri"/>
              </a:rPr>
              <a:t>[Presenter name]   ·   [Date]   ·   Audience: dev team + program sponsors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4552" cy="640080"/>
          </a:xfrm>
          <a:prstGeom prst="rect">
            <a:avLst/>
          </a:prstGeom>
          <a:noFill/>
        </p:spPr>
        <p:txBody>
          <a:bodyPr wrap="square">
            <a:spAutoFit/>
          </a:bodyPr>
          <a:lstStyle/>
          <a:p>
            <a:pPr algn="l"/>
            <a:r>
              <a:rPr sz="3000" b="1">
                <a:solidFill>
                  <a:srgbClr val="1F3A5F"/>
                </a:solidFill>
                <a:latin typeface="Calibri"/>
              </a:rPr>
              <a:t>The problem</a:t>
            </a:r>
          </a:p>
        </p:txBody>
      </p:sp>
      <p:sp>
        <p:nvSpPr>
          <p:cNvPr id="3" name="TextBox 2"/>
          <p:cNvSpPr txBox="1"/>
          <p:nvPr/>
        </p:nvSpPr>
        <p:spPr>
          <a:xfrm>
            <a:off x="457200" y="914400"/>
            <a:ext cx="11274552" cy="457200"/>
          </a:xfrm>
          <a:prstGeom prst="rect">
            <a:avLst/>
          </a:prstGeom>
          <a:noFill/>
        </p:spPr>
        <p:txBody>
          <a:bodyPr wrap="square">
            <a:spAutoFit/>
          </a:bodyPr>
          <a:lstStyle/>
          <a:p>
            <a:r>
              <a:rPr sz="1400" i="1">
                <a:solidFill>
                  <a:srgbClr val="666666"/>
                </a:solidFill>
                <a:latin typeface="Calibri"/>
              </a:rPr>
              <a:t>From the intake — verbatim distilled</a:t>
            </a:r>
          </a:p>
        </p:txBody>
      </p:sp>
      <p:sp>
        <p:nvSpPr>
          <p:cNvPr id="4" name="Rectangle 3"/>
          <p:cNvSpPr/>
          <p:nvPr/>
        </p:nvSpPr>
        <p:spPr>
          <a:xfrm>
            <a:off x="457200" y="1463040"/>
            <a:ext cx="11274552" cy="2468880"/>
          </a:xfrm>
          <a:prstGeom prst="rect">
            <a:avLst/>
          </a:prstGeom>
          <a:solidFill>
            <a:srgbClr val="F5F5F5"/>
          </a:solidFill>
          <a:ln w="19050">
            <a:solidFill>
              <a:srgbClr val="4A90E2"/>
            </a:solidFill>
          </a:ln>
        </p:spPr>
        <p:style>
          <a:lnRef idx="1">
            <a:schemeClr val="accent1"/>
          </a:lnRef>
          <a:fillRef idx="3">
            <a:schemeClr val="accent1"/>
          </a:fillRef>
          <a:effectRef idx="2">
            <a:schemeClr val="accent1"/>
          </a:effectRef>
          <a:fontRef idx="minor">
            <a:schemeClr val="lt1"/>
          </a:fontRef>
        </p:style>
        <p:txBody>
          <a:bodyPr rtlCol="0" anchor="ctr" tIns="182880" lIns="274320" rIns="274320" wrap="square"/>
          <a:lstStyle/>
          <a:p>
            <a:pPr algn="l"/>
            <a:r>
              <a:rPr sz="2000" i="1">
                <a:solidFill>
                  <a:srgbClr val="333333"/>
                </a:solidFill>
                <a:latin typeface="Calibri"/>
              </a:rPr>
              <a:t>“Threat intelligence analysts spend significant time manually reviewing and judging the trustworthiness and relevance of intelligence (especially from OpenCTI), then separately correlating it to our environment (assets in CMDB) and external risk context (e.g., Mandiant Advantage / GTI).”</a:t>
            </a:r>
          </a:p>
          <a:p>
            <a:pPr>
              <a:spcBef>
                <a:spcPts val="1400"/>
              </a:spcBef>
            </a:pPr>
            <a:r>
              <a:rPr sz="2000" i="1">
                <a:solidFill>
                  <a:srgbClr val="333333"/>
                </a:solidFill>
                <a:latin typeface="Calibri"/>
              </a:rPr>
              <a:t>“This manual work slows triage, creates inconsistent confidence scoring and prioritization across analysts, and delays response actions for high-impact vulnerabilities and threats.”</a:t>
            </a:r>
          </a:p>
        </p:txBody>
      </p:sp>
      <p:sp>
        <p:nvSpPr>
          <p:cNvPr id="5" name="Rounded Rectangle 4"/>
          <p:cNvSpPr/>
          <p:nvPr/>
        </p:nvSpPr>
        <p:spPr>
          <a:xfrm>
            <a:off x="457200" y="4389120"/>
            <a:ext cx="3657600" cy="1371600"/>
          </a:xfrm>
          <a:prstGeom prst="roundRect">
            <a:avLst/>
          </a:prstGeom>
          <a:solidFill>
            <a:srgbClr val="FFFFFF"/>
          </a:solidFill>
          <a:ln w="19050">
            <a:solidFill>
              <a:srgbClr val="1F3A5F"/>
            </a:solidFill>
          </a:ln>
        </p:spPr>
        <p:style>
          <a:lnRef idx="1">
            <a:schemeClr val="accent1"/>
          </a:lnRef>
          <a:fillRef idx="3">
            <a:schemeClr val="accent1"/>
          </a:fillRef>
          <a:effectRef idx="2">
            <a:schemeClr val="accent1"/>
          </a:effectRef>
          <a:fontRef idx="minor">
            <a:schemeClr val="lt1"/>
          </a:fontRef>
        </p:style>
        <p:txBody>
          <a:bodyPr rtlCol="0" anchor="ctr" tIns="182880" wrap="square"/>
          <a:lstStyle/>
          <a:p>
            <a:pPr algn="ctr"/>
            <a:r>
              <a:rPr sz="2400" b="1">
                <a:solidFill>
                  <a:srgbClr val="1F3A5F"/>
                </a:solidFill>
                <a:latin typeface="Calibri"/>
              </a:rPr>
              <a:t>Inconsistent</a:t>
            </a:r>
          </a:p>
          <a:p>
            <a:pPr algn="ctr"/>
            <a:r>
              <a:rPr sz="1200" i="1">
                <a:solidFill>
                  <a:srgbClr val="666666"/>
                </a:solidFill>
                <a:latin typeface="Calibri"/>
              </a:rPr>
              <a:t>scoring varies analyst-to-analyst</a:t>
            </a:r>
          </a:p>
        </p:txBody>
      </p:sp>
      <p:sp>
        <p:nvSpPr>
          <p:cNvPr id="6" name="Rounded Rectangle 5"/>
          <p:cNvSpPr/>
          <p:nvPr/>
        </p:nvSpPr>
        <p:spPr>
          <a:xfrm>
            <a:off x="4361688" y="4389120"/>
            <a:ext cx="3657600" cy="1371600"/>
          </a:xfrm>
          <a:prstGeom prst="roundRect">
            <a:avLst/>
          </a:prstGeom>
          <a:solidFill>
            <a:srgbClr val="FFFFFF"/>
          </a:solidFill>
          <a:ln w="19050">
            <a:solidFill>
              <a:srgbClr val="1F3A5F"/>
            </a:solidFill>
          </a:ln>
        </p:spPr>
        <p:style>
          <a:lnRef idx="1">
            <a:schemeClr val="accent1"/>
          </a:lnRef>
          <a:fillRef idx="3">
            <a:schemeClr val="accent1"/>
          </a:fillRef>
          <a:effectRef idx="2">
            <a:schemeClr val="accent1"/>
          </a:effectRef>
          <a:fontRef idx="minor">
            <a:schemeClr val="lt1"/>
          </a:fontRef>
        </p:style>
        <p:txBody>
          <a:bodyPr rtlCol="0" anchor="ctr" tIns="182880" wrap="square"/>
          <a:lstStyle/>
          <a:p>
            <a:pPr algn="ctr"/>
            <a:r>
              <a:rPr sz="2400" b="1">
                <a:solidFill>
                  <a:srgbClr val="1F3A5F"/>
                </a:solidFill>
                <a:latin typeface="Calibri"/>
              </a:rPr>
              <a:t>Slow</a:t>
            </a:r>
          </a:p>
          <a:p>
            <a:pPr algn="ctr"/>
            <a:r>
              <a:rPr sz="1200" i="1">
                <a:solidFill>
                  <a:srgbClr val="666666"/>
                </a:solidFill>
                <a:latin typeface="Calibri"/>
              </a:rPr>
              <a:t>manual correlation across OpenCTI + GTI + CMDB</a:t>
            </a:r>
          </a:p>
        </p:txBody>
      </p:sp>
      <p:sp>
        <p:nvSpPr>
          <p:cNvPr id="7" name="Rounded Rectangle 6"/>
          <p:cNvSpPr/>
          <p:nvPr/>
        </p:nvSpPr>
        <p:spPr>
          <a:xfrm>
            <a:off x="8266175" y="4389120"/>
            <a:ext cx="3657600" cy="1371600"/>
          </a:xfrm>
          <a:prstGeom prst="roundRect">
            <a:avLst/>
          </a:prstGeom>
          <a:solidFill>
            <a:srgbClr val="FFFFFF"/>
          </a:solidFill>
          <a:ln w="19050">
            <a:solidFill>
              <a:srgbClr val="1F3A5F"/>
            </a:solidFill>
          </a:ln>
        </p:spPr>
        <p:style>
          <a:lnRef idx="1">
            <a:schemeClr val="accent1"/>
          </a:lnRef>
          <a:fillRef idx="3">
            <a:schemeClr val="accent1"/>
          </a:fillRef>
          <a:effectRef idx="2">
            <a:schemeClr val="accent1"/>
          </a:effectRef>
          <a:fontRef idx="minor">
            <a:schemeClr val="lt1"/>
          </a:fontRef>
        </p:style>
        <p:txBody>
          <a:bodyPr rtlCol="0" anchor="ctr" tIns="182880" wrap="square"/>
          <a:lstStyle/>
          <a:p>
            <a:pPr algn="ctr"/>
            <a:r>
              <a:rPr sz="2400" b="1">
                <a:solidFill>
                  <a:srgbClr val="1F3A5F"/>
                </a:solidFill>
                <a:latin typeface="Calibri"/>
              </a:rPr>
              <a:t>Reactive</a:t>
            </a:r>
          </a:p>
          <a:p>
            <a:pPr algn="ctr"/>
            <a:r>
              <a:rPr sz="1200" i="1">
                <a:solidFill>
                  <a:srgbClr val="666666"/>
                </a:solidFill>
                <a:latin typeface="Calibri"/>
              </a:rPr>
              <a:t>high-impact threats wait on analyst capacity</a:t>
            </a:r>
          </a:p>
        </p:txBody>
      </p:sp>
      <p:sp>
        <p:nvSpPr>
          <p:cNvPr id="8" name="TextBox 7"/>
          <p:cNvSpPr txBox="1"/>
          <p:nvPr/>
        </p:nvSpPr>
        <p:spPr>
          <a:xfrm>
            <a:off x="457200" y="6400800"/>
            <a:ext cx="11274552" cy="274320"/>
          </a:xfrm>
          <a:prstGeom prst="rect">
            <a:avLst/>
          </a:prstGeom>
          <a:noFill/>
        </p:spPr>
        <p:txBody>
          <a:bodyPr wrap="none">
            <a:spAutoFit/>
          </a:bodyPr>
          <a:lstStyle/>
          <a:p>
            <a:pPr algn="l"/>
            <a:r>
              <a:rPr sz="900" i="1">
                <a:solidFill>
                  <a:srgbClr val="666666"/>
                </a:solidFill>
                <a:latin typeface="Calibri"/>
              </a:rPr>
              <a:t>Athena · Discovery Proposal · 2026</a:t>
            </a:r>
          </a:p>
        </p:txBody>
      </p:sp>
      <p:sp>
        <p:nvSpPr>
          <p:cNvPr id="9" name="TextBox 8"/>
          <p:cNvSpPr txBox="1"/>
          <p:nvPr/>
        </p:nvSpPr>
        <p:spPr>
          <a:xfrm>
            <a:off x="10515600" y="6400800"/>
            <a:ext cx="1188720" cy="274320"/>
          </a:xfrm>
          <a:prstGeom prst="rect">
            <a:avLst/>
          </a:prstGeom>
          <a:noFill/>
        </p:spPr>
        <p:txBody>
          <a:bodyPr wrap="none">
            <a:spAutoFit/>
          </a:bodyPr>
          <a:lstStyle/>
          <a:p>
            <a:pPr algn="r"/>
            <a:r>
              <a:rPr sz="900">
                <a:solidFill>
                  <a:srgbClr val="666666"/>
                </a:solidFill>
                <a:latin typeface="Calibri"/>
              </a:rPr>
              <a:t>2 / 19</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4552" cy="640080"/>
          </a:xfrm>
          <a:prstGeom prst="rect">
            <a:avLst/>
          </a:prstGeom>
          <a:noFill/>
        </p:spPr>
        <p:txBody>
          <a:bodyPr wrap="square">
            <a:spAutoFit/>
          </a:bodyPr>
          <a:lstStyle/>
          <a:p>
            <a:pPr algn="l"/>
            <a:r>
              <a:rPr sz="3000" b="1">
                <a:solidFill>
                  <a:srgbClr val="1F3A5F"/>
                </a:solidFill>
                <a:latin typeface="Calibri"/>
              </a:rPr>
              <a:t>The cost of status quo</a:t>
            </a:r>
          </a:p>
        </p:txBody>
      </p:sp>
      <p:sp>
        <p:nvSpPr>
          <p:cNvPr id="3" name="TextBox 2"/>
          <p:cNvSpPr txBox="1"/>
          <p:nvPr/>
        </p:nvSpPr>
        <p:spPr>
          <a:xfrm>
            <a:off x="457200" y="914400"/>
            <a:ext cx="11274552" cy="457200"/>
          </a:xfrm>
          <a:prstGeom prst="rect">
            <a:avLst/>
          </a:prstGeom>
          <a:noFill/>
        </p:spPr>
        <p:txBody>
          <a:bodyPr wrap="square">
            <a:spAutoFit/>
          </a:bodyPr>
          <a:lstStyle/>
          <a:p>
            <a:r>
              <a:rPr sz="1400" i="1">
                <a:solidFill>
                  <a:srgbClr val="666666"/>
                </a:solidFill>
                <a:latin typeface="Calibri"/>
              </a:rPr>
              <a:t>What the manual workflow costs today — placeholders for your numbers</a:t>
            </a:r>
          </a:p>
        </p:txBody>
      </p:sp>
      <p:sp>
        <p:nvSpPr>
          <p:cNvPr id="4" name="TextBox 3"/>
          <p:cNvSpPr txBox="1"/>
          <p:nvPr/>
        </p:nvSpPr>
        <p:spPr>
          <a:xfrm>
            <a:off x="457200" y="1554480"/>
            <a:ext cx="11274552" cy="4572000"/>
          </a:xfrm>
          <a:prstGeom prst="rect">
            <a:avLst/>
          </a:prstGeom>
          <a:noFill/>
        </p:spPr>
        <p:txBody>
          <a:bodyPr wrap="square">
            <a:spAutoFit/>
          </a:bodyPr>
          <a:lstStyle/>
          <a:p>
            <a:pPr algn="l">
              <a:lnSpc>
                <a:spcPct val="115000"/>
              </a:lnSpc>
            </a:pPr>
            <a:r>
              <a:rPr sz="1500" b="1">
                <a:solidFill>
                  <a:srgbClr val="333333"/>
                </a:solidFill>
                <a:latin typeface="Calibri"/>
              </a:rPr>
              <a:t>• Analyst-hours on triage, not analysis</a:t>
            </a:r>
          </a:p>
          <a:p>
            <a:pPr algn="l">
              <a:lnSpc>
                <a:spcPct val="115000"/>
              </a:lnSpc>
            </a:pPr>
            <a:r>
              <a:rPr sz="1200" i="1">
                <a:solidFill>
                  <a:srgbClr val="666666"/>
                </a:solidFill>
                <a:latin typeface="Calibri"/>
              </a:rPr>
              <a:t>   Most of an analyst's day is the rote 80% — re-reading what Mandiant + Unit 42 + MSTIC published, looking it up in OpenCTI, cross-checking CMDB by hand. The 20% only humans can do gets squeezed.</a:t>
            </a:r>
          </a:p>
          <a:p>
            <a:pPr algn="l">
              <a:lnSpc>
                <a:spcPct val="115000"/>
              </a:lnSpc>
              <a:spcBef>
                <a:spcPts val="800"/>
              </a:spcBef>
            </a:pPr>
            <a:r>
              <a:rPr sz="1500" b="1">
                <a:solidFill>
                  <a:srgbClr val="333333"/>
                </a:solidFill>
                <a:latin typeface="Calibri"/>
              </a:rPr>
              <a:t>• Inconsistent confidence across analysts</a:t>
            </a:r>
          </a:p>
          <a:p>
            <a:pPr algn="l">
              <a:lnSpc>
                <a:spcPct val="115000"/>
              </a:lnSpc>
            </a:pPr>
            <a:r>
              <a:rPr sz="1200" i="1">
                <a:solidFill>
                  <a:srgbClr val="666666"/>
                </a:solidFill>
                <a:latin typeface="Calibri"/>
              </a:rPr>
              <a:t>   Two analysts grading the same finding can land at 'likely' vs. 'almost certainly' depending on experience, day, mood. Leadership sees the inconsistency and discounts the output.</a:t>
            </a:r>
          </a:p>
          <a:p>
            <a:pPr algn="l">
              <a:lnSpc>
                <a:spcPct val="115000"/>
              </a:lnSpc>
              <a:spcBef>
                <a:spcPts val="800"/>
              </a:spcBef>
            </a:pPr>
            <a:r>
              <a:rPr sz="1500" b="1">
                <a:solidFill>
                  <a:srgbClr val="333333"/>
                </a:solidFill>
                <a:latin typeface="Calibri"/>
              </a:rPr>
              <a:t>• Delayed response on high-impact threats</a:t>
            </a:r>
          </a:p>
          <a:p>
            <a:pPr algn="l">
              <a:lnSpc>
                <a:spcPct val="115000"/>
              </a:lnSpc>
            </a:pPr>
            <a:r>
              <a:rPr sz="1200" i="1">
                <a:solidFill>
                  <a:srgbClr val="666666"/>
                </a:solidFill>
                <a:latin typeface="Calibri"/>
              </a:rPr>
              <a:t>   By the time a Mandiant FLASH gets correlated to your CMDB exposure + your GTI risk overlay, the patch window is often half gone. Time-to-action on a CVSS-10 should be hours, not days.</a:t>
            </a:r>
          </a:p>
          <a:p>
            <a:pPr algn="l">
              <a:lnSpc>
                <a:spcPct val="115000"/>
              </a:lnSpc>
              <a:spcBef>
                <a:spcPts val="800"/>
              </a:spcBef>
            </a:pPr>
            <a:r>
              <a:rPr sz="1500" b="1">
                <a:solidFill>
                  <a:srgbClr val="333333"/>
                </a:solidFill>
                <a:latin typeface="Calibri"/>
              </a:rPr>
              <a:t>• Prioritization drift across the org</a:t>
            </a:r>
          </a:p>
          <a:p>
            <a:pPr algn="l">
              <a:lnSpc>
                <a:spcPct val="115000"/>
              </a:lnSpc>
            </a:pPr>
            <a:r>
              <a:rPr sz="1200" i="1">
                <a:solidFill>
                  <a:srgbClr val="666666"/>
                </a:solidFill>
                <a:latin typeface="Calibri"/>
              </a:rPr>
              <a:t>   SOC, Vuln Mgmt, IR, and Leadership often have different lists of 'top threats this week' — because there's no shared, transparent prioritization model. Decisions don't align.</a:t>
            </a:r>
          </a:p>
          <a:p>
            <a:pPr algn="l">
              <a:lnSpc>
                <a:spcPct val="115000"/>
              </a:lnSpc>
              <a:spcBef>
                <a:spcPts val="800"/>
              </a:spcBef>
            </a:pPr>
            <a:r>
              <a:rPr sz="1500" b="1">
                <a:solidFill>
                  <a:srgbClr val="333333"/>
                </a:solidFill>
                <a:latin typeface="Calibri"/>
              </a:rPr>
              <a:t>• Stakeholder reporting is its own job</a:t>
            </a:r>
          </a:p>
          <a:p>
            <a:pPr algn="l">
              <a:lnSpc>
                <a:spcPct val="115000"/>
              </a:lnSpc>
            </a:pPr>
            <a:r>
              <a:rPr sz="1200" i="1">
                <a:solidFill>
                  <a:srgbClr val="666666"/>
                </a:solidFill>
                <a:latin typeface="Calibri"/>
              </a:rPr>
              <a:t>   Weekly summaries to each team are hand-written. Tailoring the same intel to four audiences costs hours that don't produce new analysis.</a:t>
            </a:r>
          </a:p>
        </p:txBody>
      </p:sp>
      <p:sp>
        <p:nvSpPr>
          <p:cNvPr id="5" name="TextBox 4"/>
          <p:cNvSpPr txBox="1"/>
          <p:nvPr/>
        </p:nvSpPr>
        <p:spPr>
          <a:xfrm>
            <a:off x="457200" y="6400800"/>
            <a:ext cx="11274552" cy="274320"/>
          </a:xfrm>
          <a:prstGeom prst="rect">
            <a:avLst/>
          </a:prstGeom>
          <a:noFill/>
        </p:spPr>
        <p:txBody>
          <a:bodyPr wrap="none">
            <a:spAutoFit/>
          </a:bodyPr>
          <a:lstStyle/>
          <a:p>
            <a:pPr algn="l"/>
            <a:r>
              <a:rPr sz="900" i="1">
                <a:solidFill>
                  <a:srgbClr val="666666"/>
                </a:solidFill>
                <a:latin typeface="Calibri"/>
              </a:rPr>
              <a:t>Athena · Discovery Proposal · 2026</a:t>
            </a:r>
          </a:p>
        </p:txBody>
      </p:sp>
      <p:sp>
        <p:nvSpPr>
          <p:cNvPr id="6" name="TextBox 5"/>
          <p:cNvSpPr txBox="1"/>
          <p:nvPr/>
        </p:nvSpPr>
        <p:spPr>
          <a:xfrm>
            <a:off x="10515600" y="6400800"/>
            <a:ext cx="1188720" cy="274320"/>
          </a:xfrm>
          <a:prstGeom prst="rect">
            <a:avLst/>
          </a:prstGeom>
          <a:noFill/>
        </p:spPr>
        <p:txBody>
          <a:bodyPr wrap="none">
            <a:spAutoFit/>
          </a:bodyPr>
          <a:lstStyle/>
          <a:p>
            <a:pPr algn="r"/>
            <a:r>
              <a:rPr sz="900">
                <a:solidFill>
                  <a:srgbClr val="666666"/>
                </a:solidFill>
                <a:latin typeface="Calibri"/>
              </a:rPr>
              <a:t>3 / 19</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4552" cy="640080"/>
          </a:xfrm>
          <a:prstGeom prst="rect">
            <a:avLst/>
          </a:prstGeom>
          <a:noFill/>
        </p:spPr>
        <p:txBody>
          <a:bodyPr wrap="square">
            <a:spAutoFit/>
          </a:bodyPr>
          <a:lstStyle/>
          <a:p>
            <a:pPr algn="l"/>
            <a:r>
              <a:rPr sz="3000" b="1">
                <a:solidFill>
                  <a:srgbClr val="1F3A5F"/>
                </a:solidFill>
                <a:latin typeface="Calibri"/>
              </a:rPr>
              <a:t>Why this is solvable now</a:t>
            </a:r>
          </a:p>
        </p:txBody>
      </p:sp>
      <p:sp>
        <p:nvSpPr>
          <p:cNvPr id="3" name="TextBox 2"/>
          <p:cNvSpPr txBox="1"/>
          <p:nvPr/>
        </p:nvSpPr>
        <p:spPr>
          <a:xfrm>
            <a:off x="457200" y="914400"/>
            <a:ext cx="11274552" cy="457200"/>
          </a:xfrm>
          <a:prstGeom prst="rect">
            <a:avLst/>
          </a:prstGeom>
          <a:noFill/>
        </p:spPr>
        <p:txBody>
          <a:bodyPr wrap="square">
            <a:spAutoFit/>
          </a:bodyPr>
          <a:lstStyle/>
          <a:p>
            <a:r>
              <a:rPr sz="1400" i="1">
                <a:solidFill>
                  <a:srgbClr val="666666"/>
                </a:solidFill>
                <a:latin typeface="Calibri"/>
              </a:rPr>
              <a:t>The pattern is proven; the substrate exists; the missing piece is the analyst layer.</a:t>
            </a:r>
          </a:p>
        </p:txBody>
      </p:sp>
      <p:sp>
        <p:nvSpPr>
          <p:cNvPr id="4" name="TextBox 3"/>
          <p:cNvSpPr txBox="1"/>
          <p:nvPr/>
        </p:nvSpPr>
        <p:spPr>
          <a:xfrm>
            <a:off x="457200" y="1554480"/>
            <a:ext cx="11274552" cy="4572000"/>
          </a:xfrm>
          <a:prstGeom prst="rect">
            <a:avLst/>
          </a:prstGeom>
          <a:noFill/>
        </p:spPr>
        <p:txBody>
          <a:bodyPr wrap="square">
            <a:spAutoFit/>
          </a:bodyPr>
          <a:lstStyle/>
          <a:p>
            <a:pPr algn="l">
              <a:lnSpc>
                <a:spcPct val="115000"/>
              </a:lnSpc>
            </a:pPr>
            <a:r>
              <a:rPr sz="1500" b="1">
                <a:solidFill>
                  <a:srgbClr val="333333"/>
                </a:solidFill>
                <a:latin typeface="Calibri"/>
              </a:rPr>
              <a:t>• The pattern is proven elsewhere</a:t>
            </a:r>
          </a:p>
          <a:p>
            <a:pPr algn="l">
              <a:lnSpc>
                <a:spcPct val="115000"/>
              </a:lnSpc>
            </a:pPr>
            <a:r>
              <a:rPr sz="1200" i="1">
                <a:solidFill>
                  <a:srgbClr val="666666"/>
                </a:solidFill>
                <a:latin typeface="Calibri"/>
              </a:rPr>
              <a:t>   Archimedes — internal CTI agent — has been running this shape autonomously for several months. Twice-daily graded briefs, FLASH alerts, threat-actor tracking, full audit trail. Same problem class, different stack.</a:t>
            </a:r>
          </a:p>
          <a:p>
            <a:pPr algn="l">
              <a:lnSpc>
                <a:spcPct val="115000"/>
              </a:lnSpc>
              <a:spcBef>
                <a:spcPts val="800"/>
              </a:spcBef>
            </a:pPr>
            <a:r>
              <a:rPr sz="1500" b="1">
                <a:solidFill>
                  <a:srgbClr val="333333"/>
                </a:solidFill>
                <a:latin typeface="Calibri"/>
              </a:rPr>
              <a:t>• Substrate already exists in your environment</a:t>
            </a:r>
          </a:p>
          <a:p>
            <a:pPr algn="l">
              <a:lnSpc>
                <a:spcPct val="115000"/>
              </a:lnSpc>
            </a:pPr>
            <a:r>
              <a:rPr sz="1200" i="1">
                <a:solidFill>
                  <a:srgbClr val="666666"/>
                </a:solidFill>
                <a:latin typeface="Calibri"/>
              </a:rPr>
              <a:t>   OpenCTI for the entity store. Mandiant Advantage / GTI for the external risk overlay. CMDB for the asset inventory. SOAR for the playbook engine. The pieces are in place — they don't talk to each other yet.</a:t>
            </a:r>
          </a:p>
          <a:p>
            <a:pPr algn="l">
              <a:lnSpc>
                <a:spcPct val="115000"/>
              </a:lnSpc>
              <a:spcBef>
                <a:spcPts val="800"/>
              </a:spcBef>
            </a:pPr>
            <a:r>
              <a:rPr sz="1500" b="1">
                <a:solidFill>
                  <a:srgbClr val="333333"/>
                </a:solidFill>
                <a:latin typeface="Calibri"/>
              </a:rPr>
              <a:t>• Claude is the missing analyst layer</a:t>
            </a:r>
          </a:p>
          <a:p>
            <a:pPr algn="l">
              <a:lnSpc>
                <a:spcPct val="115000"/>
              </a:lnSpc>
            </a:pPr>
            <a:r>
              <a:rPr sz="1200" i="1">
                <a:solidFill>
                  <a:srgbClr val="666666"/>
                </a:solidFill>
                <a:latin typeface="Calibri"/>
              </a:rPr>
              <a:t>   Long-context reads (200 articles → 4 graded findings). Consistent framework application (Admiralty, WEP, MITRE). Strict-format output. Tool use across all your existing systems. Context-isolated subagents — one per role — reduce error rate by construction.</a:t>
            </a:r>
          </a:p>
          <a:p>
            <a:pPr algn="l">
              <a:lnSpc>
                <a:spcPct val="115000"/>
              </a:lnSpc>
              <a:spcBef>
                <a:spcPts val="800"/>
              </a:spcBef>
            </a:pPr>
            <a:r>
              <a:rPr sz="1500" b="1">
                <a:solidFill>
                  <a:srgbClr val="333333"/>
                </a:solidFill>
                <a:latin typeface="Calibri"/>
              </a:rPr>
              <a:t>• Discovery proves it for YOUR environment</a:t>
            </a:r>
          </a:p>
          <a:p>
            <a:pPr algn="l">
              <a:lnSpc>
                <a:spcPct val="115000"/>
              </a:lnSpc>
            </a:pPr>
            <a:r>
              <a:rPr sz="1200" i="1">
                <a:solidFill>
                  <a:srgbClr val="666666"/>
                </a:solidFill>
                <a:latin typeface="Calibri"/>
              </a:rPr>
              <a:t>   A 2-3 week structured discovery phase validates the integration paths, locks the requirements, and produces a sized build plan with confidence intervals. Then you decide whether to fund the build.</a:t>
            </a:r>
          </a:p>
        </p:txBody>
      </p:sp>
      <p:sp>
        <p:nvSpPr>
          <p:cNvPr id="5" name="TextBox 4"/>
          <p:cNvSpPr txBox="1"/>
          <p:nvPr/>
        </p:nvSpPr>
        <p:spPr>
          <a:xfrm>
            <a:off x="457200" y="6400800"/>
            <a:ext cx="11274552" cy="274320"/>
          </a:xfrm>
          <a:prstGeom prst="rect">
            <a:avLst/>
          </a:prstGeom>
          <a:noFill/>
        </p:spPr>
        <p:txBody>
          <a:bodyPr wrap="none">
            <a:spAutoFit/>
          </a:bodyPr>
          <a:lstStyle/>
          <a:p>
            <a:pPr algn="l"/>
            <a:r>
              <a:rPr sz="900" i="1">
                <a:solidFill>
                  <a:srgbClr val="666666"/>
                </a:solidFill>
                <a:latin typeface="Calibri"/>
              </a:rPr>
              <a:t>Athena · Discovery Proposal · 2026</a:t>
            </a:r>
          </a:p>
        </p:txBody>
      </p:sp>
      <p:sp>
        <p:nvSpPr>
          <p:cNvPr id="6" name="TextBox 5"/>
          <p:cNvSpPr txBox="1"/>
          <p:nvPr/>
        </p:nvSpPr>
        <p:spPr>
          <a:xfrm>
            <a:off x="10515600" y="6400800"/>
            <a:ext cx="1188720" cy="274320"/>
          </a:xfrm>
          <a:prstGeom prst="rect">
            <a:avLst/>
          </a:prstGeom>
          <a:noFill/>
        </p:spPr>
        <p:txBody>
          <a:bodyPr wrap="none">
            <a:spAutoFit/>
          </a:bodyPr>
          <a:lstStyle/>
          <a:p>
            <a:pPr algn="r"/>
            <a:r>
              <a:rPr sz="900">
                <a:solidFill>
                  <a:srgbClr val="666666"/>
                </a:solidFill>
                <a:latin typeface="Calibri"/>
              </a:rPr>
              <a:t>4 / 19</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4552" cy="640080"/>
          </a:xfrm>
          <a:prstGeom prst="rect">
            <a:avLst/>
          </a:prstGeom>
          <a:noFill/>
        </p:spPr>
        <p:txBody>
          <a:bodyPr wrap="square">
            <a:spAutoFit/>
          </a:bodyPr>
          <a:lstStyle/>
          <a:p>
            <a:pPr algn="l"/>
            <a:r>
              <a:rPr sz="3000" b="1">
                <a:solidFill>
                  <a:srgbClr val="1F3A5F"/>
                </a:solidFill>
                <a:latin typeface="Calibri"/>
              </a:rPr>
              <a:t>Requirements → working hypotheses</a:t>
            </a:r>
          </a:p>
        </p:txBody>
      </p:sp>
      <p:sp>
        <p:nvSpPr>
          <p:cNvPr id="3" name="TextBox 2"/>
          <p:cNvSpPr txBox="1"/>
          <p:nvPr/>
        </p:nvSpPr>
        <p:spPr>
          <a:xfrm>
            <a:off x="457200" y="914400"/>
            <a:ext cx="11274552" cy="457200"/>
          </a:xfrm>
          <a:prstGeom prst="rect">
            <a:avLst/>
          </a:prstGeom>
          <a:noFill/>
        </p:spPr>
        <p:txBody>
          <a:bodyPr wrap="square">
            <a:spAutoFit/>
          </a:bodyPr>
          <a:lstStyle/>
          <a:p>
            <a:r>
              <a:rPr sz="1400" i="1">
                <a:solidFill>
                  <a:srgbClr val="666666"/>
                </a:solidFill>
                <a:latin typeface="Calibri"/>
              </a:rPr>
              <a:t>Your spec, mapped to a proposed feature, with explicit "we know / we need to validate" sub-line per row</a:t>
            </a:r>
          </a:p>
        </p:txBody>
      </p:sp>
      <p:sp>
        <p:nvSpPr>
          <p:cNvPr id="4" name="Rounded Rectangle 3"/>
          <p:cNvSpPr/>
          <p:nvPr/>
        </p:nvSpPr>
        <p:spPr>
          <a:xfrm>
            <a:off x="10058400" y="274320"/>
            <a:ext cx="1645920" cy="365760"/>
          </a:xfrm>
          <a:prstGeom prst="roundRect">
            <a:avLst/>
          </a:prstGeom>
          <a:solidFill>
            <a:srgbClr val="C87F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latin typeface="Calibri"/>
              </a:rPr>
              <a:t>DISCOVERY</a:t>
            </a:r>
          </a:p>
        </p:txBody>
      </p:sp>
      <p:sp>
        <p:nvSpPr>
          <p:cNvPr id="5" name="Rectangle 4"/>
          <p:cNvSpPr/>
          <p:nvPr/>
        </p:nvSpPr>
        <p:spPr>
          <a:xfrm>
            <a:off x="457200" y="1645920"/>
            <a:ext cx="2926080" cy="384048"/>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tIns="91440"/>
          <a:lstStyle/>
          <a:p>
            <a:pPr algn="ctr"/>
            <a:r>
              <a:rPr sz="1100" b="1">
                <a:solidFill>
                  <a:srgbClr val="FFFFFF"/>
                </a:solidFill>
                <a:latin typeface="Calibri"/>
              </a:rPr>
              <a:t>  Requirement</a:t>
            </a:r>
          </a:p>
        </p:txBody>
      </p:sp>
      <p:sp>
        <p:nvSpPr>
          <p:cNvPr id="6" name="Rectangle 5"/>
          <p:cNvSpPr/>
          <p:nvPr/>
        </p:nvSpPr>
        <p:spPr>
          <a:xfrm>
            <a:off x="3383280" y="1645920"/>
            <a:ext cx="4846320" cy="384048"/>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tIns="91440"/>
          <a:lstStyle/>
          <a:p>
            <a:pPr algn="ctr"/>
            <a:r>
              <a:rPr sz="1100" b="1">
                <a:solidFill>
                  <a:srgbClr val="FFFFFF"/>
                </a:solidFill>
                <a:latin typeface="Calibri"/>
              </a:rPr>
              <a:t>  Proposed feature</a:t>
            </a:r>
          </a:p>
        </p:txBody>
      </p:sp>
      <p:sp>
        <p:nvSpPr>
          <p:cNvPr id="7" name="Rectangle 6"/>
          <p:cNvSpPr/>
          <p:nvPr/>
        </p:nvSpPr>
        <p:spPr>
          <a:xfrm>
            <a:off x="8229600" y="1645920"/>
            <a:ext cx="3931920" cy="384048"/>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tIns="91440"/>
          <a:lstStyle/>
          <a:p>
            <a:pPr algn="ctr"/>
            <a:r>
              <a:rPr sz="1100" b="1">
                <a:solidFill>
                  <a:srgbClr val="FFFFFF"/>
                </a:solidFill>
                <a:latin typeface="Calibri"/>
              </a:rPr>
              <a:t>  We know / need to validate</a:t>
            </a:r>
          </a:p>
        </p:txBody>
      </p:sp>
      <p:sp>
        <p:nvSpPr>
          <p:cNvPr id="8" name="Rectangle 7"/>
          <p:cNvSpPr/>
          <p:nvPr/>
        </p:nvSpPr>
        <p:spPr>
          <a:xfrm>
            <a:off x="457200" y="2029968"/>
            <a:ext cx="2926080" cy="384048"/>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73152" wrap="square"/>
          <a:lstStyle/>
          <a:p>
            <a:pPr algn="ctr"/>
            <a:r>
              <a:rPr sz="900" b="1">
                <a:solidFill>
                  <a:srgbClr val="333333"/>
                </a:solidFill>
                <a:latin typeface="Calibri"/>
              </a:rPr>
              <a:t>  Confidence grading</a:t>
            </a:r>
          </a:p>
        </p:txBody>
      </p:sp>
      <p:sp>
        <p:nvSpPr>
          <p:cNvPr id="9" name="Rectangle 8"/>
          <p:cNvSpPr/>
          <p:nvPr/>
        </p:nvSpPr>
        <p:spPr>
          <a:xfrm>
            <a:off x="3383280" y="2029968"/>
            <a:ext cx="4846320" cy="384048"/>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73152" wrap="square"/>
          <a:lstStyle/>
          <a:p>
            <a:pPr algn="ctr"/>
            <a:r>
              <a:rPr sz="900">
                <a:solidFill>
                  <a:srgbClr val="333333"/>
                </a:solidFill>
                <a:latin typeface="Calibri"/>
              </a:rPr>
              <a:t>  Admiralty 6×6 + WEP, applied per source per finding</a:t>
            </a:r>
          </a:p>
        </p:txBody>
      </p:sp>
      <p:sp>
        <p:nvSpPr>
          <p:cNvPr id="10" name="Rectangle 9"/>
          <p:cNvSpPr/>
          <p:nvPr/>
        </p:nvSpPr>
        <p:spPr>
          <a:xfrm>
            <a:off x="8229600" y="2029968"/>
            <a:ext cx="3931920" cy="384048"/>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73152" wrap="square"/>
          <a:lstStyle/>
          <a:p>
            <a:pPr algn="ctr"/>
            <a:r>
              <a:rPr sz="900">
                <a:solidFill>
                  <a:srgbClr val="2E7D32"/>
                </a:solidFill>
                <a:latin typeface="Calibri"/>
              </a:rPr>
              <a:t>  We know — same methodology in Archimedes today</a:t>
            </a:r>
          </a:p>
        </p:txBody>
      </p:sp>
      <p:sp>
        <p:nvSpPr>
          <p:cNvPr id="11" name="Rectangle 10"/>
          <p:cNvSpPr/>
          <p:nvPr/>
        </p:nvSpPr>
        <p:spPr>
          <a:xfrm>
            <a:off x="457200" y="2414016"/>
            <a:ext cx="2926080" cy="384048"/>
          </a:xfrm>
          <a:prstGeom prst="rect">
            <a:avLst/>
          </a:prstGeom>
          <a:solidFill>
            <a:srgbClr val="F8F8F8"/>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73152" wrap="square"/>
          <a:lstStyle/>
          <a:p>
            <a:pPr algn="ctr"/>
            <a:r>
              <a:rPr sz="900" b="1">
                <a:solidFill>
                  <a:srgbClr val="333333"/>
                </a:solidFill>
                <a:latin typeface="Calibri"/>
              </a:rPr>
              <a:t>  Threat prioritization</a:t>
            </a:r>
          </a:p>
        </p:txBody>
      </p:sp>
      <p:sp>
        <p:nvSpPr>
          <p:cNvPr id="12" name="Rectangle 11"/>
          <p:cNvSpPr/>
          <p:nvPr/>
        </p:nvSpPr>
        <p:spPr>
          <a:xfrm>
            <a:off x="3383280" y="2414016"/>
            <a:ext cx="4846320" cy="384048"/>
          </a:xfrm>
          <a:prstGeom prst="rect">
            <a:avLst/>
          </a:prstGeom>
          <a:solidFill>
            <a:srgbClr val="F8F8F8"/>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73152" wrap="square"/>
          <a:lstStyle/>
          <a:p>
            <a:pPr algn="ctr"/>
            <a:r>
              <a:rPr sz="900">
                <a:solidFill>
                  <a:srgbClr val="333333"/>
                </a:solidFill>
                <a:latin typeface="Calibri"/>
              </a:rPr>
              <a:t>  Weighted threat-box scoring; per-category composites</a:t>
            </a:r>
          </a:p>
        </p:txBody>
      </p:sp>
      <p:sp>
        <p:nvSpPr>
          <p:cNvPr id="13" name="Rectangle 12"/>
          <p:cNvSpPr/>
          <p:nvPr/>
        </p:nvSpPr>
        <p:spPr>
          <a:xfrm>
            <a:off x="8229600" y="2414016"/>
            <a:ext cx="3931920" cy="384048"/>
          </a:xfrm>
          <a:prstGeom prst="rect">
            <a:avLst/>
          </a:prstGeom>
          <a:solidFill>
            <a:srgbClr val="F8F8F8"/>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73152" wrap="square"/>
          <a:lstStyle/>
          <a:p>
            <a:pPr algn="ctr"/>
            <a:r>
              <a:rPr sz="900">
                <a:solidFill>
                  <a:srgbClr val="C87F0A"/>
                </a:solidFill>
                <a:latin typeface="Calibri"/>
              </a:rPr>
              <a:t>  Validate — weights tuned to YOUR stakeholder priorities</a:t>
            </a:r>
          </a:p>
        </p:txBody>
      </p:sp>
      <p:sp>
        <p:nvSpPr>
          <p:cNvPr id="14" name="Rectangle 13"/>
          <p:cNvSpPr/>
          <p:nvPr/>
        </p:nvSpPr>
        <p:spPr>
          <a:xfrm>
            <a:off x="457200" y="2798064"/>
            <a:ext cx="2926080" cy="384048"/>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73152" wrap="square"/>
          <a:lstStyle/>
          <a:p>
            <a:pPr algn="ctr"/>
            <a:r>
              <a:rPr sz="900" b="1">
                <a:solidFill>
                  <a:srgbClr val="333333"/>
                </a:solidFill>
                <a:latin typeface="Calibri"/>
              </a:rPr>
              <a:t>  CMDB exposure scoring</a:t>
            </a:r>
          </a:p>
        </p:txBody>
      </p:sp>
      <p:sp>
        <p:nvSpPr>
          <p:cNvPr id="15" name="Rectangle 14"/>
          <p:cNvSpPr/>
          <p:nvPr/>
        </p:nvSpPr>
        <p:spPr>
          <a:xfrm>
            <a:off x="3383280" y="2798064"/>
            <a:ext cx="4846320" cy="384048"/>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73152" wrap="square"/>
          <a:lstStyle/>
          <a:p>
            <a:pPr algn="ctr"/>
            <a:r>
              <a:rPr sz="900">
                <a:solidFill>
                  <a:srgbClr val="333333"/>
                </a:solidFill>
                <a:latin typeface="Calibri"/>
              </a:rPr>
              <a:t>  Finding IOCs/CVEs → CMDB asset match → criticality overlay</a:t>
            </a:r>
          </a:p>
        </p:txBody>
      </p:sp>
      <p:sp>
        <p:nvSpPr>
          <p:cNvPr id="16" name="Rectangle 15"/>
          <p:cNvSpPr/>
          <p:nvPr/>
        </p:nvSpPr>
        <p:spPr>
          <a:xfrm>
            <a:off x="8229600" y="2798064"/>
            <a:ext cx="3931920" cy="384048"/>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73152" wrap="square"/>
          <a:lstStyle/>
          <a:p>
            <a:pPr algn="ctr"/>
            <a:r>
              <a:rPr sz="900">
                <a:solidFill>
                  <a:srgbClr val="C87F0A"/>
                </a:solidFill>
                <a:latin typeface="Calibri"/>
              </a:rPr>
              <a:t>  Validate — your CMDB tool + asset-criticality field</a:t>
            </a:r>
          </a:p>
        </p:txBody>
      </p:sp>
      <p:sp>
        <p:nvSpPr>
          <p:cNvPr id="17" name="Rectangle 16"/>
          <p:cNvSpPr/>
          <p:nvPr/>
        </p:nvSpPr>
        <p:spPr>
          <a:xfrm>
            <a:off x="457200" y="3182112"/>
            <a:ext cx="2926080" cy="384048"/>
          </a:xfrm>
          <a:prstGeom prst="rect">
            <a:avLst/>
          </a:prstGeom>
          <a:solidFill>
            <a:srgbClr val="F8F8F8"/>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73152" wrap="square"/>
          <a:lstStyle/>
          <a:p>
            <a:pPr algn="ctr"/>
            <a:r>
              <a:rPr sz="900" b="1">
                <a:solidFill>
                  <a:srgbClr val="333333"/>
                </a:solidFill>
                <a:latin typeface="Calibri"/>
              </a:rPr>
              <a:t>  GTI risk cross-reference</a:t>
            </a:r>
          </a:p>
        </p:txBody>
      </p:sp>
      <p:sp>
        <p:nvSpPr>
          <p:cNvPr id="18" name="Rectangle 17"/>
          <p:cNvSpPr/>
          <p:nvPr/>
        </p:nvSpPr>
        <p:spPr>
          <a:xfrm>
            <a:off x="3383280" y="3182112"/>
            <a:ext cx="4846320" cy="384048"/>
          </a:xfrm>
          <a:prstGeom prst="rect">
            <a:avLst/>
          </a:prstGeom>
          <a:solidFill>
            <a:srgbClr val="F8F8F8"/>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73152" wrap="square"/>
          <a:lstStyle/>
          <a:p>
            <a:pPr algn="ctr"/>
            <a:r>
              <a:rPr sz="900">
                <a:solidFill>
                  <a:srgbClr val="333333"/>
                </a:solidFill>
                <a:latin typeface="Calibri"/>
              </a:rPr>
              <a:t>  Mandiant Advantage risk score overlay on every graded finding</a:t>
            </a:r>
          </a:p>
        </p:txBody>
      </p:sp>
      <p:sp>
        <p:nvSpPr>
          <p:cNvPr id="19" name="Rectangle 18"/>
          <p:cNvSpPr/>
          <p:nvPr/>
        </p:nvSpPr>
        <p:spPr>
          <a:xfrm>
            <a:off x="8229600" y="3182112"/>
            <a:ext cx="3931920" cy="384048"/>
          </a:xfrm>
          <a:prstGeom prst="rect">
            <a:avLst/>
          </a:prstGeom>
          <a:solidFill>
            <a:srgbClr val="F8F8F8"/>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73152" wrap="square"/>
          <a:lstStyle/>
          <a:p>
            <a:pPr algn="ctr"/>
            <a:r>
              <a:rPr sz="900">
                <a:solidFill>
                  <a:srgbClr val="C87F0A"/>
                </a:solidFill>
                <a:latin typeface="Calibri"/>
              </a:rPr>
              <a:t>  Validate — your GTI license tier + API access</a:t>
            </a:r>
          </a:p>
        </p:txBody>
      </p:sp>
      <p:sp>
        <p:nvSpPr>
          <p:cNvPr id="20" name="Rectangle 19"/>
          <p:cNvSpPr/>
          <p:nvPr/>
        </p:nvSpPr>
        <p:spPr>
          <a:xfrm>
            <a:off x="457200" y="3566160"/>
            <a:ext cx="2926080" cy="384048"/>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73152" wrap="square"/>
          <a:lstStyle/>
          <a:p>
            <a:pPr algn="ctr"/>
            <a:r>
              <a:rPr sz="900" b="1">
                <a:solidFill>
                  <a:srgbClr val="333333"/>
                </a:solidFill>
                <a:latin typeface="Calibri"/>
              </a:rPr>
              <a:t>  Media attention signal</a:t>
            </a:r>
          </a:p>
        </p:txBody>
      </p:sp>
      <p:sp>
        <p:nvSpPr>
          <p:cNvPr id="21" name="Rectangle 20"/>
          <p:cNvSpPr/>
          <p:nvPr/>
        </p:nvSpPr>
        <p:spPr>
          <a:xfrm>
            <a:off x="3383280" y="3566160"/>
            <a:ext cx="4846320" cy="384048"/>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73152" wrap="square"/>
          <a:lstStyle/>
          <a:p>
            <a:pPr algn="ctr"/>
            <a:r>
              <a:rPr sz="900">
                <a:solidFill>
                  <a:srgbClr val="333333"/>
                </a:solidFill>
                <a:latin typeface="Calibri"/>
              </a:rPr>
              <a:t>  Tracked-news source set + signal-volume metric per topic</a:t>
            </a:r>
          </a:p>
        </p:txBody>
      </p:sp>
      <p:sp>
        <p:nvSpPr>
          <p:cNvPr id="22" name="Rectangle 21"/>
          <p:cNvSpPr/>
          <p:nvPr/>
        </p:nvSpPr>
        <p:spPr>
          <a:xfrm>
            <a:off x="8229600" y="3566160"/>
            <a:ext cx="3931920" cy="384048"/>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73152" wrap="square"/>
          <a:lstStyle/>
          <a:p>
            <a:pPr algn="ctr"/>
            <a:r>
              <a:rPr sz="900">
                <a:solidFill>
                  <a:srgbClr val="2E7D32"/>
                </a:solidFill>
                <a:latin typeface="Calibri"/>
              </a:rPr>
              <a:t>  We know — pattern exists; needs source weighting</a:t>
            </a:r>
          </a:p>
        </p:txBody>
      </p:sp>
      <p:sp>
        <p:nvSpPr>
          <p:cNvPr id="23" name="Rectangle 22"/>
          <p:cNvSpPr/>
          <p:nvPr/>
        </p:nvSpPr>
        <p:spPr>
          <a:xfrm>
            <a:off x="457200" y="3950208"/>
            <a:ext cx="2926080" cy="384048"/>
          </a:xfrm>
          <a:prstGeom prst="rect">
            <a:avLst/>
          </a:prstGeom>
          <a:solidFill>
            <a:srgbClr val="F8F8F8"/>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73152" wrap="square"/>
          <a:lstStyle/>
          <a:p>
            <a:pPr algn="ctr"/>
            <a:r>
              <a:rPr sz="900" b="1">
                <a:solidFill>
                  <a:srgbClr val="333333"/>
                </a:solidFill>
                <a:latin typeface="Calibri"/>
              </a:rPr>
              <a:t>  Interactive Q&amp;A</a:t>
            </a:r>
          </a:p>
        </p:txBody>
      </p:sp>
      <p:sp>
        <p:nvSpPr>
          <p:cNvPr id="24" name="Rectangle 23"/>
          <p:cNvSpPr/>
          <p:nvPr/>
        </p:nvSpPr>
        <p:spPr>
          <a:xfrm>
            <a:off x="3383280" y="3950208"/>
            <a:ext cx="4846320" cy="384048"/>
          </a:xfrm>
          <a:prstGeom prst="rect">
            <a:avLst/>
          </a:prstGeom>
          <a:solidFill>
            <a:srgbClr val="F8F8F8"/>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73152" wrap="square"/>
          <a:lstStyle/>
          <a:p>
            <a:pPr algn="ctr"/>
            <a:r>
              <a:rPr sz="900">
                <a:solidFill>
                  <a:srgbClr val="333333"/>
                </a:solidFill>
                <a:latin typeface="Calibri"/>
              </a:rPr>
              <a:t>  Slash commands in Teams: /cve /investigate /ioc-hunt</a:t>
            </a:r>
          </a:p>
        </p:txBody>
      </p:sp>
      <p:sp>
        <p:nvSpPr>
          <p:cNvPr id="25" name="Rectangle 24"/>
          <p:cNvSpPr/>
          <p:nvPr/>
        </p:nvSpPr>
        <p:spPr>
          <a:xfrm>
            <a:off x="8229600" y="3950208"/>
            <a:ext cx="3931920" cy="384048"/>
          </a:xfrm>
          <a:prstGeom prst="rect">
            <a:avLst/>
          </a:prstGeom>
          <a:solidFill>
            <a:srgbClr val="F8F8F8"/>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73152" wrap="square"/>
          <a:lstStyle/>
          <a:p>
            <a:pPr algn="ctr"/>
            <a:r>
              <a:rPr sz="900">
                <a:solidFill>
                  <a:srgbClr val="C87F0A"/>
                </a:solidFill>
                <a:latin typeface="Calibri"/>
              </a:rPr>
              <a:t>  Validate — Teams as delivery platform; webhook plumbing</a:t>
            </a:r>
          </a:p>
        </p:txBody>
      </p:sp>
      <p:sp>
        <p:nvSpPr>
          <p:cNvPr id="26" name="Rectangle 25"/>
          <p:cNvSpPr/>
          <p:nvPr/>
        </p:nvSpPr>
        <p:spPr>
          <a:xfrm>
            <a:off x="457200" y="4334256"/>
            <a:ext cx="2926080" cy="384048"/>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73152" wrap="square"/>
          <a:lstStyle/>
          <a:p>
            <a:pPr algn="ctr"/>
            <a:r>
              <a:rPr sz="900" b="1">
                <a:solidFill>
                  <a:srgbClr val="333333"/>
                </a:solidFill>
                <a:latin typeface="Calibri"/>
              </a:rPr>
              <a:t>  “What matters now” dashboard</a:t>
            </a:r>
          </a:p>
        </p:txBody>
      </p:sp>
      <p:sp>
        <p:nvSpPr>
          <p:cNvPr id="27" name="Rectangle 26"/>
          <p:cNvSpPr/>
          <p:nvPr/>
        </p:nvSpPr>
        <p:spPr>
          <a:xfrm>
            <a:off x="3383280" y="4334256"/>
            <a:ext cx="4846320" cy="384048"/>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73152" wrap="square"/>
          <a:lstStyle/>
          <a:p>
            <a:pPr algn="ctr"/>
            <a:r>
              <a:rPr sz="900">
                <a:solidFill>
                  <a:srgbClr val="333333"/>
                </a:solidFill>
                <a:latin typeface="Calibri"/>
              </a:rPr>
              <a:t>  Real-time view: top threats, exposure heatmap, FLASH queue, gates</a:t>
            </a:r>
          </a:p>
        </p:txBody>
      </p:sp>
      <p:sp>
        <p:nvSpPr>
          <p:cNvPr id="28" name="Rectangle 27"/>
          <p:cNvSpPr/>
          <p:nvPr/>
        </p:nvSpPr>
        <p:spPr>
          <a:xfrm>
            <a:off x="8229600" y="4334256"/>
            <a:ext cx="3931920" cy="384048"/>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73152" wrap="square"/>
          <a:lstStyle/>
          <a:p>
            <a:pPr algn="ctr"/>
            <a:r>
              <a:rPr sz="900">
                <a:solidFill>
                  <a:srgbClr val="C87F0A"/>
                </a:solidFill>
                <a:latin typeface="Calibri"/>
              </a:rPr>
              <a:t>  Validate — hosting model + auth/SSO + per-team filters</a:t>
            </a:r>
          </a:p>
        </p:txBody>
      </p:sp>
      <p:sp>
        <p:nvSpPr>
          <p:cNvPr id="29" name="Rectangle 28"/>
          <p:cNvSpPr/>
          <p:nvPr/>
        </p:nvSpPr>
        <p:spPr>
          <a:xfrm>
            <a:off x="457200" y="4718304"/>
            <a:ext cx="2926080" cy="384048"/>
          </a:xfrm>
          <a:prstGeom prst="rect">
            <a:avLst/>
          </a:prstGeom>
          <a:solidFill>
            <a:srgbClr val="F8F8F8"/>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73152" wrap="square"/>
          <a:lstStyle/>
          <a:p>
            <a:pPr algn="ctr"/>
            <a:r>
              <a:rPr sz="900" b="1">
                <a:solidFill>
                  <a:srgbClr val="333333"/>
                </a:solidFill>
                <a:latin typeface="Calibri"/>
              </a:rPr>
              <a:t>  Automated response playbooks</a:t>
            </a:r>
          </a:p>
        </p:txBody>
      </p:sp>
      <p:sp>
        <p:nvSpPr>
          <p:cNvPr id="30" name="Rectangle 29"/>
          <p:cNvSpPr/>
          <p:nvPr/>
        </p:nvSpPr>
        <p:spPr>
          <a:xfrm>
            <a:off x="3383280" y="4718304"/>
            <a:ext cx="4846320" cy="384048"/>
          </a:xfrm>
          <a:prstGeom prst="rect">
            <a:avLst/>
          </a:prstGeom>
          <a:solidFill>
            <a:srgbClr val="F8F8F8"/>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73152" wrap="square"/>
          <a:lstStyle/>
          <a:p>
            <a:pPr algn="ctr"/>
            <a:r>
              <a:rPr sz="900">
                <a:solidFill>
                  <a:srgbClr val="333333"/>
                </a:solidFill>
                <a:latin typeface="Calibri"/>
              </a:rPr>
              <a:t>  Agent → SOAR webhook → playbook fires → result back to corpus</a:t>
            </a:r>
          </a:p>
        </p:txBody>
      </p:sp>
      <p:sp>
        <p:nvSpPr>
          <p:cNvPr id="31" name="Rectangle 30"/>
          <p:cNvSpPr/>
          <p:nvPr/>
        </p:nvSpPr>
        <p:spPr>
          <a:xfrm>
            <a:off x="8229600" y="4718304"/>
            <a:ext cx="3931920" cy="384048"/>
          </a:xfrm>
          <a:prstGeom prst="rect">
            <a:avLst/>
          </a:prstGeom>
          <a:solidFill>
            <a:srgbClr val="F8F8F8"/>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73152" wrap="square"/>
          <a:lstStyle/>
          <a:p>
            <a:pPr algn="ctr"/>
            <a:r>
              <a:rPr sz="900">
                <a:solidFill>
                  <a:srgbClr val="C87F0A"/>
                </a:solidFill>
                <a:latin typeface="Calibri"/>
              </a:rPr>
              <a:t>  Validate — which SOAR (Tines / Torq / ServiceNow / other)</a:t>
            </a:r>
          </a:p>
        </p:txBody>
      </p:sp>
      <p:sp>
        <p:nvSpPr>
          <p:cNvPr id="32" name="Rectangle 31"/>
          <p:cNvSpPr/>
          <p:nvPr/>
        </p:nvSpPr>
        <p:spPr>
          <a:xfrm>
            <a:off x="457200" y="5102352"/>
            <a:ext cx="2926080" cy="384048"/>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73152" wrap="square"/>
          <a:lstStyle/>
          <a:p>
            <a:pPr algn="ctr"/>
            <a:r>
              <a:rPr sz="900" b="1">
                <a:solidFill>
                  <a:srgbClr val="333333"/>
                </a:solidFill>
                <a:latin typeface="Calibri"/>
              </a:rPr>
              <a:t>  Weekly trend summaries</a:t>
            </a:r>
          </a:p>
        </p:txBody>
      </p:sp>
      <p:sp>
        <p:nvSpPr>
          <p:cNvPr id="33" name="Rectangle 32"/>
          <p:cNvSpPr/>
          <p:nvPr/>
        </p:nvSpPr>
        <p:spPr>
          <a:xfrm>
            <a:off x="3383280" y="5102352"/>
            <a:ext cx="4846320" cy="384048"/>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73152" wrap="square"/>
          <a:lstStyle/>
          <a:p>
            <a:pPr algn="ctr"/>
            <a:r>
              <a:rPr sz="900">
                <a:solidFill>
                  <a:srgbClr val="333333"/>
                </a:solidFill>
                <a:latin typeface="Calibri"/>
              </a:rPr>
              <a:t>  Per-team renderings of the same canonical intel; “so what” framing</a:t>
            </a:r>
          </a:p>
        </p:txBody>
      </p:sp>
      <p:sp>
        <p:nvSpPr>
          <p:cNvPr id="34" name="Rectangle 33"/>
          <p:cNvSpPr/>
          <p:nvPr/>
        </p:nvSpPr>
        <p:spPr>
          <a:xfrm>
            <a:off x="8229600" y="5102352"/>
            <a:ext cx="3931920" cy="384048"/>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73152" wrap="square"/>
          <a:lstStyle/>
          <a:p>
            <a:pPr algn="ctr"/>
            <a:r>
              <a:rPr sz="900">
                <a:solidFill>
                  <a:srgbClr val="C87F0A"/>
                </a:solidFill>
                <a:latin typeface="Calibri"/>
              </a:rPr>
              <a:t>  Validate — stakeholder team list + contact owners</a:t>
            </a:r>
          </a:p>
        </p:txBody>
      </p:sp>
      <p:sp>
        <p:nvSpPr>
          <p:cNvPr id="35" name="Rectangle 34"/>
          <p:cNvSpPr/>
          <p:nvPr/>
        </p:nvSpPr>
        <p:spPr>
          <a:xfrm>
            <a:off x="457200" y="5486400"/>
            <a:ext cx="2926080" cy="384048"/>
          </a:xfrm>
          <a:prstGeom prst="rect">
            <a:avLst/>
          </a:prstGeom>
          <a:solidFill>
            <a:srgbClr val="F8F8F8"/>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73152" wrap="square"/>
          <a:lstStyle/>
          <a:p>
            <a:pPr algn="ctr"/>
            <a:r>
              <a:rPr sz="900" b="1">
                <a:solidFill>
                  <a:srgbClr val="333333"/>
                </a:solidFill>
                <a:latin typeface="Calibri"/>
              </a:rPr>
              <a:t>  On-demand threat reports</a:t>
            </a:r>
          </a:p>
        </p:txBody>
      </p:sp>
      <p:sp>
        <p:nvSpPr>
          <p:cNvPr id="36" name="Rectangle 35"/>
          <p:cNvSpPr/>
          <p:nvPr/>
        </p:nvSpPr>
        <p:spPr>
          <a:xfrm>
            <a:off x="3383280" y="5486400"/>
            <a:ext cx="4846320" cy="384048"/>
          </a:xfrm>
          <a:prstGeom prst="rect">
            <a:avLst/>
          </a:prstGeom>
          <a:solidFill>
            <a:srgbClr val="F8F8F8"/>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73152" wrap="square"/>
          <a:lstStyle/>
          <a:p>
            <a:pPr algn="ctr"/>
            <a:r>
              <a:rPr sz="900">
                <a:solidFill>
                  <a:srgbClr val="333333"/>
                </a:solidFill>
                <a:latin typeface="Calibri"/>
              </a:rPr>
              <a:t>  /report &lt;topic&gt; against OpenCTI + GTI corpus</a:t>
            </a:r>
          </a:p>
        </p:txBody>
      </p:sp>
      <p:sp>
        <p:nvSpPr>
          <p:cNvPr id="37" name="Rectangle 36"/>
          <p:cNvSpPr/>
          <p:nvPr/>
        </p:nvSpPr>
        <p:spPr>
          <a:xfrm>
            <a:off x="8229600" y="5486400"/>
            <a:ext cx="3931920" cy="384048"/>
          </a:xfrm>
          <a:prstGeom prst="rect">
            <a:avLst/>
          </a:prstGeom>
          <a:solidFill>
            <a:srgbClr val="F8F8F8"/>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73152" wrap="square"/>
          <a:lstStyle/>
          <a:p>
            <a:pPr algn="ctr"/>
            <a:r>
              <a:rPr sz="900">
                <a:solidFill>
                  <a:srgbClr val="2E7D32"/>
                </a:solidFill>
                <a:latin typeface="Calibri"/>
              </a:rPr>
              <a:t>  We know — Archimedes /investigate already does this shape</a:t>
            </a:r>
          </a:p>
        </p:txBody>
      </p:sp>
      <p:sp>
        <p:nvSpPr>
          <p:cNvPr id="38" name="TextBox 37"/>
          <p:cNvSpPr txBox="1"/>
          <p:nvPr/>
        </p:nvSpPr>
        <p:spPr>
          <a:xfrm>
            <a:off x="457200" y="6400800"/>
            <a:ext cx="11274552" cy="274320"/>
          </a:xfrm>
          <a:prstGeom prst="rect">
            <a:avLst/>
          </a:prstGeom>
          <a:noFill/>
        </p:spPr>
        <p:txBody>
          <a:bodyPr wrap="none">
            <a:spAutoFit/>
          </a:bodyPr>
          <a:lstStyle/>
          <a:p>
            <a:pPr algn="l"/>
            <a:r>
              <a:rPr sz="900" i="1">
                <a:solidFill>
                  <a:srgbClr val="666666"/>
                </a:solidFill>
                <a:latin typeface="Calibri"/>
              </a:rPr>
              <a:t>Athena · Discovery Proposal · 2026</a:t>
            </a:r>
          </a:p>
        </p:txBody>
      </p:sp>
      <p:sp>
        <p:nvSpPr>
          <p:cNvPr id="39" name="TextBox 38"/>
          <p:cNvSpPr txBox="1"/>
          <p:nvPr/>
        </p:nvSpPr>
        <p:spPr>
          <a:xfrm>
            <a:off x="10515600" y="6400800"/>
            <a:ext cx="1188720" cy="274320"/>
          </a:xfrm>
          <a:prstGeom prst="rect">
            <a:avLst/>
          </a:prstGeom>
          <a:noFill/>
        </p:spPr>
        <p:txBody>
          <a:bodyPr wrap="none">
            <a:spAutoFit/>
          </a:bodyPr>
          <a:lstStyle/>
          <a:p>
            <a:pPr algn="r"/>
            <a:r>
              <a:rPr sz="900">
                <a:solidFill>
                  <a:srgbClr val="666666"/>
                </a:solidFill>
                <a:latin typeface="Calibri"/>
              </a:rPr>
              <a:t>5 / 19</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4552" cy="640080"/>
          </a:xfrm>
          <a:prstGeom prst="rect">
            <a:avLst/>
          </a:prstGeom>
          <a:noFill/>
        </p:spPr>
        <p:txBody>
          <a:bodyPr wrap="square">
            <a:spAutoFit/>
          </a:bodyPr>
          <a:lstStyle/>
          <a:p>
            <a:pPr algn="l"/>
            <a:r>
              <a:rPr sz="3000" b="1">
                <a:solidFill>
                  <a:srgbClr val="1F3A5F"/>
                </a:solidFill>
                <a:latin typeface="Calibri"/>
              </a:rPr>
              <a:t>Confidence grading — proposed methodology</a:t>
            </a:r>
          </a:p>
        </p:txBody>
      </p:sp>
      <p:sp>
        <p:nvSpPr>
          <p:cNvPr id="3" name="TextBox 2"/>
          <p:cNvSpPr txBox="1"/>
          <p:nvPr/>
        </p:nvSpPr>
        <p:spPr>
          <a:xfrm>
            <a:off x="457200" y="914400"/>
            <a:ext cx="11274552" cy="457200"/>
          </a:xfrm>
          <a:prstGeom prst="rect">
            <a:avLst/>
          </a:prstGeom>
          <a:noFill/>
        </p:spPr>
        <p:txBody>
          <a:bodyPr wrap="square">
            <a:spAutoFit/>
          </a:bodyPr>
          <a:lstStyle/>
          <a:p>
            <a:r>
              <a:rPr sz="1400" i="1">
                <a:solidFill>
                  <a:srgbClr val="666666"/>
                </a:solidFill>
                <a:latin typeface="Calibri"/>
              </a:rPr>
              <a:t>Admiralty 6×6 + Words of Estimative Probability. Transparent, doctrine-versioned, applied uniformly.</a:t>
            </a:r>
          </a:p>
        </p:txBody>
      </p:sp>
      <p:sp>
        <p:nvSpPr>
          <p:cNvPr id="4" name="TextBox 3"/>
          <p:cNvSpPr txBox="1"/>
          <p:nvPr/>
        </p:nvSpPr>
        <p:spPr>
          <a:xfrm>
            <a:off x="457200" y="1554480"/>
            <a:ext cx="5486400" cy="2926080"/>
          </a:xfrm>
          <a:prstGeom prst="rect">
            <a:avLst/>
          </a:prstGeom>
          <a:noFill/>
        </p:spPr>
        <p:txBody>
          <a:bodyPr wrap="square">
            <a:spAutoFit/>
          </a:bodyPr>
          <a:lstStyle/>
          <a:p>
            <a:pPr algn="l">
              <a:lnSpc>
                <a:spcPct val="115000"/>
              </a:lnSpc>
            </a:pPr>
            <a:r>
              <a:rPr sz="1400" b="1">
                <a:solidFill>
                  <a:srgbClr val="333333"/>
                </a:solidFill>
                <a:latin typeface="Calibri"/>
              </a:rPr>
              <a:t>• A — Completely reliable</a:t>
            </a:r>
          </a:p>
          <a:p>
            <a:pPr algn="l">
              <a:lnSpc>
                <a:spcPct val="115000"/>
              </a:lnSpc>
            </a:pPr>
            <a:r>
              <a:rPr sz="1100" i="1">
                <a:solidFill>
                  <a:srgbClr val="666666"/>
                </a:solidFill>
                <a:latin typeface="Calibri"/>
              </a:rPr>
              <a:t>   Mandiant, Unit 42, MSTIC, CrowdStrike, MITRE, CISA</a:t>
            </a:r>
          </a:p>
          <a:p>
            <a:pPr algn="l">
              <a:lnSpc>
                <a:spcPct val="115000"/>
              </a:lnSpc>
              <a:spcBef>
                <a:spcPts val="800"/>
              </a:spcBef>
            </a:pPr>
            <a:r>
              <a:rPr sz="1400" b="1">
                <a:solidFill>
                  <a:srgbClr val="333333"/>
                </a:solidFill>
                <a:latin typeface="Calibri"/>
              </a:rPr>
              <a:t>• B — Usually reliable</a:t>
            </a:r>
          </a:p>
          <a:p>
            <a:pPr algn="l">
              <a:lnSpc>
                <a:spcPct val="115000"/>
              </a:lnSpc>
            </a:pPr>
            <a:r>
              <a:rPr sz="1100" i="1">
                <a:solidFill>
                  <a:srgbClr val="666666"/>
                </a:solidFill>
                <a:latin typeface="Calibri"/>
              </a:rPr>
              <a:t>   BleepingComputer, The Record, Krebs</a:t>
            </a:r>
          </a:p>
          <a:p>
            <a:pPr algn="l">
              <a:lnSpc>
                <a:spcPct val="115000"/>
              </a:lnSpc>
              <a:spcBef>
                <a:spcPts val="800"/>
              </a:spcBef>
            </a:pPr>
            <a:r>
              <a:rPr sz="1400" b="1">
                <a:solidFill>
                  <a:srgbClr val="333333"/>
                </a:solidFill>
                <a:latin typeface="Calibri"/>
              </a:rPr>
              <a:t>• C — Fairly reliable</a:t>
            </a:r>
          </a:p>
          <a:p>
            <a:pPr algn="l">
              <a:lnSpc>
                <a:spcPct val="115000"/>
              </a:lnSpc>
            </a:pPr>
            <a:r>
              <a:rPr sz="1100" i="1">
                <a:solidFill>
                  <a:srgbClr val="666666"/>
                </a:solidFill>
                <a:latin typeface="Calibri"/>
              </a:rPr>
              <a:t>   Vendor blogs with mixed history; first-citation entrants</a:t>
            </a:r>
          </a:p>
          <a:p>
            <a:pPr algn="l">
              <a:lnSpc>
                <a:spcPct val="115000"/>
              </a:lnSpc>
              <a:spcBef>
                <a:spcPts val="800"/>
              </a:spcBef>
            </a:pPr>
            <a:r>
              <a:rPr sz="1400" b="1">
                <a:solidFill>
                  <a:srgbClr val="333333"/>
                </a:solidFill>
                <a:latin typeface="Calibri"/>
              </a:rPr>
              <a:t>• D / E / F</a:t>
            </a:r>
          </a:p>
          <a:p>
            <a:pPr algn="l">
              <a:lnSpc>
                <a:spcPct val="115000"/>
              </a:lnSpc>
            </a:pPr>
            <a:r>
              <a:rPr sz="1100" i="1">
                <a:solidFill>
                  <a:srgbClr val="666666"/>
                </a:solidFill>
                <a:latin typeface="Calibri"/>
              </a:rPr>
              <a:t>   Unreliable / unknown / questionable — monitoring only</a:t>
            </a:r>
          </a:p>
        </p:txBody>
      </p:sp>
      <p:sp>
        <p:nvSpPr>
          <p:cNvPr id="5" name="TextBox 4"/>
          <p:cNvSpPr txBox="1"/>
          <p:nvPr/>
        </p:nvSpPr>
        <p:spPr>
          <a:xfrm>
            <a:off x="6217920" y="1554480"/>
            <a:ext cx="5486400" cy="2926080"/>
          </a:xfrm>
          <a:prstGeom prst="rect">
            <a:avLst/>
          </a:prstGeom>
          <a:noFill/>
        </p:spPr>
        <p:txBody>
          <a:bodyPr wrap="square">
            <a:spAutoFit/>
          </a:bodyPr>
          <a:lstStyle/>
          <a:p>
            <a:pPr algn="l">
              <a:lnSpc>
                <a:spcPct val="115000"/>
              </a:lnSpc>
            </a:pPr>
            <a:r>
              <a:rPr sz="1400" b="1">
                <a:solidFill>
                  <a:srgbClr val="333333"/>
                </a:solidFill>
                <a:latin typeface="Calibri"/>
              </a:rPr>
              <a:t>• 1 — Confirmed</a:t>
            </a:r>
          </a:p>
          <a:p>
            <a:pPr algn="l">
              <a:lnSpc>
                <a:spcPct val="115000"/>
              </a:lnSpc>
            </a:pPr>
            <a:r>
              <a:rPr sz="1100" i="1">
                <a:solidFill>
                  <a:srgbClr val="666666"/>
                </a:solidFill>
                <a:latin typeface="Calibri"/>
              </a:rPr>
              <a:t>   Multiple independent A/B-grade sources</a:t>
            </a:r>
          </a:p>
          <a:p>
            <a:pPr algn="l">
              <a:lnSpc>
                <a:spcPct val="115000"/>
              </a:lnSpc>
              <a:spcBef>
                <a:spcPts val="800"/>
              </a:spcBef>
            </a:pPr>
            <a:r>
              <a:rPr sz="1400" b="1">
                <a:solidFill>
                  <a:srgbClr val="333333"/>
                </a:solidFill>
                <a:latin typeface="Calibri"/>
              </a:rPr>
              <a:t>• 2 — Probably true</a:t>
            </a:r>
          </a:p>
          <a:p>
            <a:pPr algn="l">
              <a:lnSpc>
                <a:spcPct val="115000"/>
              </a:lnSpc>
            </a:pPr>
            <a:r>
              <a:rPr sz="1100" i="1">
                <a:solidFill>
                  <a:srgbClr val="666666"/>
                </a:solidFill>
                <a:latin typeface="Calibri"/>
              </a:rPr>
              <a:t>   One A-grade source + plausibility test passes</a:t>
            </a:r>
          </a:p>
          <a:p>
            <a:pPr algn="l">
              <a:lnSpc>
                <a:spcPct val="115000"/>
              </a:lnSpc>
              <a:spcBef>
                <a:spcPts val="800"/>
              </a:spcBef>
            </a:pPr>
            <a:r>
              <a:rPr sz="1400" b="1">
                <a:solidFill>
                  <a:srgbClr val="333333"/>
                </a:solidFill>
                <a:latin typeface="Calibri"/>
              </a:rPr>
              <a:t>• 3 — Possibly true</a:t>
            </a:r>
          </a:p>
          <a:p>
            <a:pPr algn="l">
              <a:lnSpc>
                <a:spcPct val="115000"/>
              </a:lnSpc>
            </a:pPr>
            <a:r>
              <a:rPr sz="1100" i="1">
                <a:solidFill>
                  <a:srgbClr val="666666"/>
                </a:solidFill>
                <a:latin typeface="Calibri"/>
              </a:rPr>
              <a:t>   Single source, cannot be confirmed or denied</a:t>
            </a:r>
          </a:p>
          <a:p>
            <a:pPr algn="l">
              <a:lnSpc>
                <a:spcPct val="115000"/>
              </a:lnSpc>
              <a:spcBef>
                <a:spcPts val="800"/>
              </a:spcBef>
            </a:pPr>
            <a:r>
              <a:rPr sz="1400" b="1">
                <a:solidFill>
                  <a:srgbClr val="333333"/>
                </a:solidFill>
                <a:latin typeface="Calibri"/>
              </a:rPr>
              <a:t>• 4 / 5 / 6</a:t>
            </a:r>
          </a:p>
          <a:p>
            <a:pPr algn="l">
              <a:lnSpc>
                <a:spcPct val="115000"/>
              </a:lnSpc>
            </a:pPr>
            <a:r>
              <a:rPr sz="1100" i="1">
                <a:solidFill>
                  <a:srgbClr val="666666"/>
                </a:solidFill>
                <a:latin typeface="Calibri"/>
              </a:rPr>
              <a:t>   Doubtful / improbable / cannot be judged</a:t>
            </a:r>
          </a:p>
        </p:txBody>
      </p:sp>
      <p:sp>
        <p:nvSpPr>
          <p:cNvPr id="6" name="Rectangle 5"/>
          <p:cNvSpPr/>
          <p:nvPr/>
        </p:nvSpPr>
        <p:spPr>
          <a:xfrm>
            <a:off x="457200" y="4572000"/>
            <a:ext cx="11274552" cy="1097280"/>
          </a:xfrm>
          <a:prstGeom prst="rect">
            <a:avLst/>
          </a:prstGeom>
          <a:solidFill>
            <a:srgbClr val="F1F7FD"/>
          </a:solidFill>
          <a:ln w="12700">
            <a:solidFill>
              <a:srgbClr val="1F3A5F"/>
            </a:solidFill>
          </a:ln>
        </p:spPr>
        <p:style>
          <a:lnRef idx="1">
            <a:schemeClr val="accent1"/>
          </a:lnRef>
          <a:fillRef idx="3">
            <a:schemeClr val="accent1"/>
          </a:fillRef>
          <a:effectRef idx="2">
            <a:schemeClr val="accent1"/>
          </a:effectRef>
          <a:fontRef idx="minor">
            <a:schemeClr val="lt1"/>
          </a:fontRef>
        </p:style>
        <p:txBody>
          <a:bodyPr rtlCol="0" anchor="ctr" tIns="137160" lIns="182880" wrap="square"/>
          <a:lstStyle/>
          <a:p>
            <a:pPr algn="ctr"/>
            <a:r>
              <a:rPr sz="1200">
                <a:solidFill>
                  <a:srgbClr val="333333"/>
                </a:solidFill>
                <a:latin typeface="Calibri"/>
              </a:rPr>
              <a:t>Words of Estimative Probability bound every forward claim:  almost certainly (≥95%)  ·  very likely (85–95%)  ·  likely (55–85%)  ·  roughly even chance (~50%)  ·  unlikely (15–45%)  ·  very unlikely (5–15%)  ·  remote (&lt;5%)</a:t>
            </a:r>
          </a:p>
          <a:p>
            <a:pPr>
              <a:spcBef>
                <a:spcPts val="400"/>
              </a:spcBef>
            </a:pPr>
            <a:r>
              <a:rPr sz="1100" i="1">
                <a:solidFill>
                  <a:srgbClr val="666666"/>
                </a:solidFill>
                <a:latin typeface="Calibri"/>
              </a:rPr>
              <a:t>Hedging language banned by doctrine. “May / might / could” → fails preflight, regenerated until WEP-compliant.</a:t>
            </a:r>
          </a:p>
        </p:txBody>
      </p:sp>
      <p:sp>
        <p:nvSpPr>
          <p:cNvPr id="7" name="TextBox 6"/>
          <p:cNvSpPr txBox="1"/>
          <p:nvPr/>
        </p:nvSpPr>
        <p:spPr>
          <a:xfrm>
            <a:off x="457200" y="5852160"/>
            <a:ext cx="11274552" cy="457200"/>
          </a:xfrm>
          <a:prstGeom prst="rect">
            <a:avLst/>
          </a:prstGeom>
          <a:noFill/>
        </p:spPr>
        <p:txBody>
          <a:bodyPr wrap="square">
            <a:spAutoFit/>
          </a:bodyPr>
          <a:lstStyle/>
          <a:p>
            <a:pPr algn="ctr"/>
            <a:r>
              <a:rPr sz="1200" i="1">
                <a:solidFill>
                  <a:srgbClr val="666666"/>
                </a:solidFill>
                <a:latin typeface="Calibri"/>
              </a:rPr>
              <a:t>Single-source-veto rule: even an A-grade source caps the forward claim at “likely” on its own. Solves the analyst-to-analyst inconsistency problem by construction.</a:t>
            </a:r>
          </a:p>
        </p:txBody>
      </p:sp>
      <p:sp>
        <p:nvSpPr>
          <p:cNvPr id="8" name="TextBox 7"/>
          <p:cNvSpPr txBox="1"/>
          <p:nvPr/>
        </p:nvSpPr>
        <p:spPr>
          <a:xfrm>
            <a:off x="457200" y="6400800"/>
            <a:ext cx="11274552" cy="274320"/>
          </a:xfrm>
          <a:prstGeom prst="rect">
            <a:avLst/>
          </a:prstGeom>
          <a:noFill/>
        </p:spPr>
        <p:txBody>
          <a:bodyPr wrap="none">
            <a:spAutoFit/>
          </a:bodyPr>
          <a:lstStyle/>
          <a:p>
            <a:pPr algn="l"/>
            <a:r>
              <a:rPr sz="900" i="1">
                <a:solidFill>
                  <a:srgbClr val="666666"/>
                </a:solidFill>
                <a:latin typeface="Calibri"/>
              </a:rPr>
              <a:t>Athena · Discovery Proposal · 2026</a:t>
            </a:r>
          </a:p>
        </p:txBody>
      </p:sp>
      <p:sp>
        <p:nvSpPr>
          <p:cNvPr id="9" name="TextBox 8"/>
          <p:cNvSpPr txBox="1"/>
          <p:nvPr/>
        </p:nvSpPr>
        <p:spPr>
          <a:xfrm>
            <a:off x="10515600" y="6400800"/>
            <a:ext cx="1188720" cy="274320"/>
          </a:xfrm>
          <a:prstGeom prst="rect">
            <a:avLst/>
          </a:prstGeom>
          <a:noFill/>
        </p:spPr>
        <p:txBody>
          <a:bodyPr wrap="none">
            <a:spAutoFit/>
          </a:bodyPr>
          <a:lstStyle/>
          <a:p>
            <a:pPr algn="r"/>
            <a:r>
              <a:rPr sz="900">
                <a:solidFill>
                  <a:srgbClr val="666666"/>
                </a:solidFill>
                <a:latin typeface="Calibri"/>
              </a:rPr>
              <a:t>6 / 19</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4552" cy="640080"/>
          </a:xfrm>
          <a:prstGeom prst="rect">
            <a:avLst/>
          </a:prstGeom>
          <a:noFill/>
        </p:spPr>
        <p:txBody>
          <a:bodyPr wrap="square">
            <a:spAutoFit/>
          </a:bodyPr>
          <a:lstStyle/>
          <a:p>
            <a:pPr algn="l"/>
            <a:r>
              <a:rPr sz="3000" b="1">
                <a:solidFill>
                  <a:srgbClr val="1F3A5F"/>
                </a:solidFill>
                <a:latin typeface="Calibri"/>
              </a:rPr>
              <a:t>Transparent threat prioritization — proposed</a:t>
            </a:r>
          </a:p>
        </p:txBody>
      </p:sp>
      <p:sp>
        <p:nvSpPr>
          <p:cNvPr id="3" name="TextBox 2"/>
          <p:cNvSpPr txBox="1"/>
          <p:nvPr/>
        </p:nvSpPr>
        <p:spPr>
          <a:xfrm>
            <a:off x="457200" y="914400"/>
            <a:ext cx="11274552" cy="457200"/>
          </a:xfrm>
          <a:prstGeom prst="rect">
            <a:avLst/>
          </a:prstGeom>
          <a:noFill/>
        </p:spPr>
        <p:txBody>
          <a:bodyPr wrap="square">
            <a:spAutoFit/>
          </a:bodyPr>
          <a:lstStyle/>
          <a:p>
            <a:r>
              <a:rPr sz="1400" i="1">
                <a:solidFill>
                  <a:srgbClr val="666666"/>
                </a:solidFill>
                <a:latin typeface="Calibri"/>
              </a:rPr>
              <a:t>Threat-box scoring: per-category composites, weighted to overall HIGH / MEDIUM / LOW. Auditable. Doctrine-versioned.</a:t>
            </a:r>
          </a:p>
        </p:txBody>
      </p:sp>
      <p:sp>
        <p:nvSpPr>
          <p:cNvPr id="4" name="Rounded Rectangle 3"/>
          <p:cNvSpPr/>
          <p:nvPr/>
        </p:nvSpPr>
        <p:spPr>
          <a:xfrm>
            <a:off x="10058400" y="274320"/>
            <a:ext cx="1645920" cy="365760"/>
          </a:xfrm>
          <a:prstGeom prst="roundRect">
            <a:avLst/>
          </a:prstGeom>
          <a:solidFill>
            <a:srgbClr val="C87F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latin typeface="Calibri"/>
              </a:rPr>
              <a:t>DISCOVERY</a:t>
            </a:r>
          </a:p>
        </p:txBody>
      </p:sp>
      <p:sp>
        <p:nvSpPr>
          <p:cNvPr id="5" name="TextBox 4"/>
          <p:cNvSpPr txBox="1"/>
          <p:nvPr/>
        </p:nvSpPr>
        <p:spPr>
          <a:xfrm>
            <a:off x="457200" y="1645920"/>
            <a:ext cx="5669280" cy="4114800"/>
          </a:xfrm>
          <a:prstGeom prst="rect">
            <a:avLst/>
          </a:prstGeom>
          <a:noFill/>
        </p:spPr>
        <p:txBody>
          <a:bodyPr wrap="square">
            <a:spAutoFit/>
          </a:bodyPr>
          <a:lstStyle/>
          <a:p>
            <a:pPr algn="l">
              <a:lnSpc>
                <a:spcPct val="115000"/>
              </a:lnSpc>
            </a:pPr>
            <a:r>
              <a:rPr sz="1400" b="1">
                <a:solidFill>
                  <a:srgbClr val="333333"/>
                </a:solidFill>
                <a:latin typeface="Calibri"/>
              </a:rPr>
              <a:t>• Per-category scoring</a:t>
            </a:r>
          </a:p>
          <a:p>
            <a:pPr algn="l">
              <a:lnSpc>
                <a:spcPct val="115000"/>
              </a:lnSpc>
            </a:pPr>
            <a:r>
              <a:rPr sz="1100" i="1">
                <a:solidFill>
                  <a:srgbClr val="666666"/>
                </a:solidFill>
                <a:latin typeface="Calibri"/>
              </a:rPr>
              <a:t>   Espionage · Supply Chain · Destructive · Disruptive · Cyber-Crime · Influence. Each scored 0-10 against your environment.</a:t>
            </a:r>
          </a:p>
          <a:p>
            <a:pPr algn="l">
              <a:lnSpc>
                <a:spcPct val="115000"/>
              </a:lnSpc>
              <a:spcBef>
                <a:spcPts val="800"/>
              </a:spcBef>
            </a:pPr>
            <a:r>
              <a:rPr sz="1400" b="1">
                <a:solidFill>
                  <a:srgbClr val="333333"/>
                </a:solidFill>
                <a:latin typeface="Calibri"/>
              </a:rPr>
              <a:t>• Evidence-minimum tables</a:t>
            </a:r>
          </a:p>
          <a:p>
            <a:pPr algn="l">
              <a:lnSpc>
                <a:spcPct val="115000"/>
              </a:lnSpc>
            </a:pPr>
            <a:r>
              <a:rPr sz="1100" i="1">
                <a:solidFill>
                  <a:srgbClr val="666666"/>
                </a:solidFill>
                <a:latin typeface="Calibri"/>
              </a:rPr>
              <a:t>   Hard rules per score band. Agent refuses to manufacture HIGH from thin evidence. “Intent=5” requires named victim — not extrapolation.</a:t>
            </a:r>
          </a:p>
          <a:p>
            <a:pPr algn="l">
              <a:lnSpc>
                <a:spcPct val="115000"/>
              </a:lnSpc>
              <a:spcBef>
                <a:spcPts val="800"/>
              </a:spcBef>
            </a:pPr>
            <a:r>
              <a:rPr sz="1400" b="1">
                <a:solidFill>
                  <a:srgbClr val="333333"/>
                </a:solidFill>
                <a:latin typeface="Calibri"/>
              </a:rPr>
              <a:t>• Weighted to overall</a:t>
            </a:r>
          </a:p>
          <a:p>
            <a:pPr algn="l">
              <a:lnSpc>
                <a:spcPct val="115000"/>
              </a:lnSpc>
            </a:pPr>
            <a:r>
              <a:rPr sz="1100" i="1">
                <a:solidFill>
                  <a:srgbClr val="666666"/>
                </a:solidFill>
                <a:latin typeface="Calibri"/>
              </a:rPr>
              <a:t>   Default weights tunable per your stakeholder priorities. Espionage 35% / Supply 20% / Destructive 15% / Disruptive 15% / Cyber-Crime 15% as a starting point.</a:t>
            </a:r>
          </a:p>
          <a:p>
            <a:pPr algn="l">
              <a:lnSpc>
                <a:spcPct val="115000"/>
              </a:lnSpc>
              <a:spcBef>
                <a:spcPts val="800"/>
              </a:spcBef>
            </a:pPr>
            <a:r>
              <a:rPr sz="1400" b="1">
                <a:solidFill>
                  <a:srgbClr val="333333"/>
                </a:solidFill>
                <a:latin typeface="Calibri"/>
              </a:rPr>
              <a:t>• Human approval on HIGH</a:t>
            </a:r>
          </a:p>
          <a:p>
            <a:pPr algn="l">
              <a:lnSpc>
                <a:spcPct val="115000"/>
              </a:lnSpc>
            </a:pPr>
            <a:r>
              <a:rPr sz="1100" i="1">
                <a:solidFill>
                  <a:srgbClr val="666666"/>
                </a:solidFill>
                <a:latin typeface="Calibri"/>
              </a:rPr>
              <a:t>   Doctrine gate. Agent never auto-commits a HIGH score. Posts to review channel; waits for sign-off.</a:t>
            </a:r>
          </a:p>
          <a:p>
            <a:pPr algn="l">
              <a:lnSpc>
                <a:spcPct val="115000"/>
              </a:lnSpc>
              <a:spcBef>
                <a:spcPts val="800"/>
              </a:spcBef>
            </a:pPr>
            <a:r>
              <a:rPr sz="1400" b="1">
                <a:solidFill>
                  <a:srgbClr val="333333"/>
                </a:solidFill>
                <a:latin typeface="Calibri"/>
              </a:rPr>
              <a:t>• Empirically tight gate</a:t>
            </a:r>
          </a:p>
          <a:p>
            <a:pPr algn="l">
              <a:lnSpc>
                <a:spcPct val="115000"/>
              </a:lnSpc>
            </a:pPr>
            <a:r>
              <a:rPr sz="1100" i="1">
                <a:solidFill>
                  <a:srgbClr val="666666"/>
                </a:solidFill>
                <a:latin typeface="Calibri"/>
              </a:rPr>
              <a:t>   Archimedes ran 5 scorings; zero auto-HIGH. Gate refused to invent confidence. Same discipline carries over.</a:t>
            </a:r>
          </a:p>
        </p:txBody>
      </p:sp>
      <p:sp>
        <p:nvSpPr>
          <p:cNvPr id="6" name="Rectangle 5"/>
          <p:cNvSpPr/>
          <p:nvPr/>
        </p:nvSpPr>
        <p:spPr>
          <a:xfrm>
            <a:off x="6400800" y="1645920"/>
            <a:ext cx="5303520" cy="4114800"/>
          </a:xfrm>
          <a:prstGeom prst="rect">
            <a:avLst/>
          </a:prstGeom>
          <a:solidFill>
            <a:srgbClr val="F5F5F5"/>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tIns="182880" lIns="182880" rIns="182880" wrap="square"/>
          <a:lstStyle/>
          <a:p>
            <a:pPr algn="l"/>
            <a:r>
              <a:rPr sz="1500" b="1">
                <a:solidFill>
                  <a:srgbClr val="1F3A5F"/>
                </a:solidFill>
                <a:latin typeface="Calibri"/>
              </a:rPr>
              <a:t>Example: APT37 threat-box scoring</a:t>
            </a:r>
          </a:p>
          <a:p>
            <a:pPr algn="l"/>
            <a:r>
              <a:rPr sz="1200" b="0">
                <a:solidFill>
                  <a:srgbClr val="333333"/>
                </a:solidFill>
                <a:latin typeface="Calibri"/>
              </a:rPr>
              <a:t/>
            </a:r>
          </a:p>
          <a:p>
            <a:pPr algn="l"/>
            <a:r>
              <a:rPr sz="1100" b="0">
                <a:solidFill>
                  <a:srgbClr val="333333"/>
                </a:solidFill>
                <a:latin typeface="Consolas"/>
              </a:rPr>
              <a:t>Espionage          composite 8/10  →  HIGH</a:t>
            </a:r>
          </a:p>
          <a:p>
            <a:pPr algn="l"/>
            <a:r>
              <a:rPr sz="1100" b="0">
                <a:solidFill>
                  <a:srgbClr val="333333"/>
                </a:solidFill>
                <a:latin typeface="Consolas"/>
              </a:rPr>
              <a:t>Supply Chain       composite 6/10  →  MEDIUM</a:t>
            </a:r>
          </a:p>
          <a:p>
            <a:pPr algn="l"/>
            <a:r>
              <a:rPr sz="1100" b="0">
                <a:solidFill>
                  <a:srgbClr val="333333"/>
                </a:solidFill>
                <a:latin typeface="Consolas"/>
              </a:rPr>
              <a:t>Destructive        composite 2/10  →  LOW</a:t>
            </a:r>
          </a:p>
          <a:p>
            <a:pPr algn="l"/>
            <a:r>
              <a:rPr sz="1100" b="0">
                <a:solidFill>
                  <a:srgbClr val="333333"/>
                </a:solidFill>
                <a:latin typeface="Consolas"/>
              </a:rPr>
              <a:t>Disruptive         composite 2/10  →  LOW</a:t>
            </a:r>
          </a:p>
          <a:p>
            <a:pPr algn="l"/>
            <a:r>
              <a:rPr sz="1100" b="0">
                <a:solidFill>
                  <a:srgbClr val="333333"/>
                </a:solidFill>
                <a:latin typeface="Consolas"/>
              </a:rPr>
              <a:t>Cyber-Crime        composite 2/10  →  LOW</a:t>
            </a:r>
          </a:p>
          <a:p>
            <a:pPr algn="l"/>
            <a:r>
              <a:rPr sz="1200" b="0">
                <a:solidFill>
                  <a:srgbClr val="333333"/>
                </a:solidFill>
                <a:latin typeface="Calibri"/>
              </a:rPr>
              <a:t/>
            </a:r>
          </a:p>
          <a:p>
            <a:pPr algn="l"/>
            <a:r>
              <a:rPr sz="1300" b="1">
                <a:solidFill>
                  <a:srgbClr val="1F3A5F"/>
                </a:solidFill>
                <a:latin typeface="Calibri"/>
              </a:rPr>
              <a:t>Weighted overall: 4.9  →  MEDIUM</a:t>
            </a:r>
          </a:p>
          <a:p>
            <a:pPr algn="l"/>
            <a:r>
              <a:rPr sz="1200" b="0">
                <a:solidFill>
                  <a:srgbClr val="333333"/>
                </a:solidFill>
                <a:latin typeface="Calibri"/>
              </a:rPr>
              <a:t/>
            </a:r>
          </a:p>
          <a:p>
            <a:pPr algn="l"/>
            <a:r>
              <a:rPr sz="1100" b="1">
                <a:solidFill>
                  <a:srgbClr val="333333"/>
                </a:solidFill>
                <a:latin typeface="Calibri"/>
              </a:rPr>
              <a:t>Rationale — why not HIGH:</a:t>
            </a:r>
          </a:p>
          <a:p>
            <a:pPr algn="l"/>
            <a:r>
              <a:rPr sz="1000" b="0">
                <a:solidFill>
                  <a:srgbClr val="666666"/>
                </a:solidFill>
                <a:latin typeface="Calibri"/>
              </a:rPr>
              <a:t>Intent capped at 3 (Sector Association) — public</a:t>
            </a:r>
          </a:p>
          <a:p>
            <a:pPr algn="l"/>
            <a:r>
              <a:rPr sz="1000" b="0">
                <a:solidFill>
                  <a:srgbClr val="666666"/>
                </a:solidFill>
                <a:latin typeface="Calibri"/>
              </a:rPr>
              <a:t>reporting names think tanks / journalists, no</a:t>
            </a:r>
          </a:p>
          <a:p>
            <a:pPr algn="l"/>
            <a:r>
              <a:rPr sz="1000" b="0">
                <a:solidFill>
                  <a:srgbClr val="666666"/>
                </a:solidFill>
                <a:latin typeface="Calibri"/>
              </a:rPr>
              <a:t>A&amp;D primes. Methodology refused to extrapolate.</a:t>
            </a:r>
          </a:p>
        </p:txBody>
      </p:sp>
      <p:sp>
        <p:nvSpPr>
          <p:cNvPr id="7" name="TextBox 6"/>
          <p:cNvSpPr txBox="1"/>
          <p:nvPr/>
        </p:nvSpPr>
        <p:spPr>
          <a:xfrm>
            <a:off x="457200" y="6400800"/>
            <a:ext cx="11274552" cy="274320"/>
          </a:xfrm>
          <a:prstGeom prst="rect">
            <a:avLst/>
          </a:prstGeom>
          <a:noFill/>
        </p:spPr>
        <p:txBody>
          <a:bodyPr wrap="none">
            <a:spAutoFit/>
          </a:bodyPr>
          <a:lstStyle/>
          <a:p>
            <a:pPr algn="l"/>
            <a:r>
              <a:rPr sz="900" i="1">
                <a:solidFill>
                  <a:srgbClr val="666666"/>
                </a:solidFill>
                <a:latin typeface="Calibri"/>
              </a:rPr>
              <a:t>Athena · Discovery Proposal · 2026</a:t>
            </a:r>
          </a:p>
        </p:txBody>
      </p:sp>
      <p:sp>
        <p:nvSpPr>
          <p:cNvPr id="8" name="TextBox 7"/>
          <p:cNvSpPr txBox="1"/>
          <p:nvPr/>
        </p:nvSpPr>
        <p:spPr>
          <a:xfrm>
            <a:off x="10515600" y="6400800"/>
            <a:ext cx="1188720" cy="274320"/>
          </a:xfrm>
          <a:prstGeom prst="rect">
            <a:avLst/>
          </a:prstGeom>
          <a:noFill/>
        </p:spPr>
        <p:txBody>
          <a:bodyPr wrap="none">
            <a:spAutoFit/>
          </a:bodyPr>
          <a:lstStyle/>
          <a:p>
            <a:pPr algn="r"/>
            <a:r>
              <a:rPr sz="900">
                <a:solidFill>
                  <a:srgbClr val="666666"/>
                </a:solidFill>
                <a:latin typeface="Calibri"/>
              </a:rPr>
              <a:t>7 / 19</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4552" cy="640080"/>
          </a:xfrm>
          <a:prstGeom prst="rect">
            <a:avLst/>
          </a:prstGeom>
          <a:noFill/>
        </p:spPr>
        <p:txBody>
          <a:bodyPr wrap="square">
            <a:spAutoFit/>
          </a:bodyPr>
          <a:lstStyle/>
          <a:p>
            <a:pPr algn="l"/>
            <a:r>
              <a:rPr sz="3000" b="1">
                <a:solidFill>
                  <a:srgbClr val="1F3A5F"/>
                </a:solidFill>
                <a:latin typeface="Calibri"/>
              </a:rPr>
              <a:t>CMDB exposure + GTI cross-reference — proposed shape</a:t>
            </a:r>
          </a:p>
        </p:txBody>
      </p:sp>
      <p:sp>
        <p:nvSpPr>
          <p:cNvPr id="3" name="TextBox 2"/>
          <p:cNvSpPr txBox="1"/>
          <p:nvPr/>
        </p:nvSpPr>
        <p:spPr>
          <a:xfrm>
            <a:off x="457200" y="914400"/>
            <a:ext cx="11274552" cy="457200"/>
          </a:xfrm>
          <a:prstGeom prst="rect">
            <a:avLst/>
          </a:prstGeom>
          <a:noFill/>
        </p:spPr>
        <p:txBody>
          <a:bodyPr wrap="square">
            <a:spAutoFit/>
          </a:bodyPr>
          <a:lstStyle/>
          <a:p>
            <a:r>
              <a:rPr sz="1400" i="1">
                <a:solidFill>
                  <a:srgbClr val="666666"/>
                </a:solidFill>
                <a:latin typeface="Calibri"/>
              </a:rPr>
              <a:t>The bridge between external intel and your environment. The piece OpenCTI alone doesn't give you.</a:t>
            </a:r>
          </a:p>
        </p:txBody>
      </p:sp>
      <p:sp>
        <p:nvSpPr>
          <p:cNvPr id="4" name="Rounded Rectangle 3"/>
          <p:cNvSpPr/>
          <p:nvPr/>
        </p:nvSpPr>
        <p:spPr>
          <a:xfrm>
            <a:off x="10058400" y="274320"/>
            <a:ext cx="1645920" cy="365760"/>
          </a:xfrm>
          <a:prstGeom prst="roundRect">
            <a:avLst/>
          </a:prstGeom>
          <a:solidFill>
            <a:srgbClr val="C87F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latin typeface="Calibri"/>
              </a:rPr>
              <a:t>DISCOVERY</a:t>
            </a:r>
          </a:p>
        </p:txBody>
      </p:sp>
      <p:sp>
        <p:nvSpPr>
          <p:cNvPr id="5" name="Rounded Rectangle 4"/>
          <p:cNvSpPr/>
          <p:nvPr/>
        </p:nvSpPr>
        <p:spPr>
          <a:xfrm>
            <a:off x="472287" y="2011680"/>
            <a:ext cx="2103120" cy="1463040"/>
          </a:xfrm>
          <a:prstGeom prst="roundRect">
            <a:avLst/>
          </a:prstGeom>
          <a:solidFill>
            <a:srgbClr val="E3EFFA"/>
          </a:solidFill>
          <a:ln w="19050">
            <a:solidFill>
              <a:srgbClr val="4A90E2"/>
            </a:solidFill>
          </a:ln>
        </p:spPr>
        <p:style>
          <a:lnRef idx="1">
            <a:schemeClr val="accent1"/>
          </a:lnRef>
          <a:fillRef idx="3">
            <a:schemeClr val="accent1"/>
          </a:fillRef>
          <a:effectRef idx="2">
            <a:schemeClr val="accent1"/>
          </a:effectRef>
          <a:fontRef idx="minor">
            <a:schemeClr val="lt1"/>
          </a:fontRef>
        </p:style>
        <p:txBody>
          <a:bodyPr rtlCol="0" anchor="ctr" tIns="137160" wrap="square"/>
          <a:lstStyle/>
          <a:p>
            <a:pPr algn="ctr"/>
            <a:r>
              <a:rPr sz="1200" b="1">
                <a:solidFill>
                  <a:srgbClr val="4A90E2"/>
                </a:solidFill>
                <a:latin typeface="Calibri"/>
              </a:rPr>
              <a:t>Graded finding</a:t>
            </a:r>
          </a:p>
          <a:p>
            <a:pPr algn="ctr">
              <a:spcBef>
                <a:spcPts val="400"/>
              </a:spcBef>
            </a:pPr>
            <a:r>
              <a:rPr sz="900">
                <a:solidFill>
                  <a:srgbClr val="333333"/>
                </a:solidFill>
                <a:latin typeface="Calibri"/>
              </a:rPr>
              <a:t>OpenCTI report
+ Admiralty digraph
+ WEP</a:t>
            </a:r>
          </a:p>
        </p:txBody>
      </p:sp>
      <p:cxnSp>
        <p:nvCxnSpPr>
          <p:cNvPr id="6" name="Connector 5"/>
          <p:cNvCxnSpPr/>
          <p:nvPr/>
        </p:nvCxnSpPr>
        <p:spPr>
          <a:xfrm>
            <a:off x="2575407.5" y="2743200.0"/>
            <a:ext cx="182880.0" cy="0.0"/>
          </a:xfrm>
          <a:prstGeom prst="line">
            <a:avLst/>
          </a:prstGeom>
          <a:ln w="19050">
            <a:solidFill>
              <a:srgbClr val="333333"/>
            </a:solidFill>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2758287" y="2011680"/>
            <a:ext cx="2103120" cy="1463040"/>
          </a:xfrm>
          <a:prstGeom prst="roundRect">
            <a:avLst/>
          </a:prstGeom>
          <a:solidFill>
            <a:srgbClr val="E8EFF5"/>
          </a:solidFill>
          <a:ln w="19050">
            <a:solidFill>
              <a:srgbClr val="1F3A5F"/>
            </a:solidFill>
          </a:ln>
        </p:spPr>
        <p:style>
          <a:lnRef idx="1">
            <a:schemeClr val="accent1"/>
          </a:lnRef>
          <a:fillRef idx="3">
            <a:schemeClr val="accent1"/>
          </a:fillRef>
          <a:effectRef idx="2">
            <a:schemeClr val="accent1"/>
          </a:effectRef>
          <a:fontRef idx="minor">
            <a:schemeClr val="lt1"/>
          </a:fontRef>
        </p:style>
        <p:txBody>
          <a:bodyPr rtlCol="0" anchor="ctr" tIns="137160" wrap="square"/>
          <a:lstStyle/>
          <a:p>
            <a:pPr algn="ctr"/>
            <a:r>
              <a:rPr sz="1200" b="1">
                <a:solidFill>
                  <a:srgbClr val="1F3A5F"/>
                </a:solidFill>
                <a:latin typeface="Calibri"/>
              </a:rPr>
              <a:t>IOC / CVE
extraction</a:t>
            </a:r>
          </a:p>
          <a:p>
            <a:pPr algn="ctr">
              <a:spcBef>
                <a:spcPts val="400"/>
              </a:spcBef>
            </a:pPr>
            <a:r>
              <a:rPr sz="900">
                <a:solidFill>
                  <a:srgbClr val="333333"/>
                </a:solidFill>
                <a:latin typeface="Calibri"/>
              </a:rPr>
              <a:t>Pull indicators
+ CVE refs from
the finding body</a:t>
            </a:r>
          </a:p>
        </p:txBody>
      </p:sp>
      <p:cxnSp>
        <p:nvCxnSpPr>
          <p:cNvPr id="8" name="Connector 7"/>
          <p:cNvCxnSpPr/>
          <p:nvPr/>
        </p:nvCxnSpPr>
        <p:spPr>
          <a:xfrm>
            <a:off x="4861407.5" y="2743200.0"/>
            <a:ext cx="182880.0" cy="0.0"/>
          </a:xfrm>
          <a:prstGeom prst="line">
            <a:avLst/>
          </a:prstGeom>
          <a:ln w="19050">
            <a:solidFill>
              <a:srgbClr val="333333"/>
            </a:solidFill>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5044287" y="2011680"/>
            <a:ext cx="2103120" cy="1463040"/>
          </a:xfrm>
          <a:prstGeom prst="roundRect">
            <a:avLst/>
          </a:prstGeom>
          <a:solidFill>
            <a:srgbClr val="E8EFF5"/>
          </a:solidFill>
          <a:ln w="19050">
            <a:solidFill>
              <a:srgbClr val="1F3A5F"/>
            </a:solidFill>
          </a:ln>
        </p:spPr>
        <p:style>
          <a:lnRef idx="1">
            <a:schemeClr val="accent1"/>
          </a:lnRef>
          <a:fillRef idx="3">
            <a:schemeClr val="accent1"/>
          </a:fillRef>
          <a:effectRef idx="2">
            <a:schemeClr val="accent1"/>
          </a:effectRef>
          <a:fontRef idx="minor">
            <a:schemeClr val="lt1"/>
          </a:fontRef>
        </p:style>
        <p:txBody>
          <a:bodyPr rtlCol="0" anchor="ctr" tIns="137160" wrap="square"/>
          <a:lstStyle/>
          <a:p>
            <a:pPr algn="ctr"/>
            <a:r>
              <a:rPr sz="1200" b="1">
                <a:solidFill>
                  <a:srgbClr val="1F3A5F"/>
                </a:solidFill>
                <a:latin typeface="Calibri"/>
              </a:rPr>
              <a:t>CMDB asset match</a:t>
            </a:r>
          </a:p>
          <a:p>
            <a:pPr algn="ctr">
              <a:spcBef>
                <a:spcPts val="400"/>
              </a:spcBef>
            </a:pPr>
            <a:r>
              <a:rPr sz="900">
                <a:solidFill>
                  <a:srgbClr val="333333"/>
                </a:solidFill>
                <a:latin typeface="Calibri"/>
              </a:rPr>
              <a:t>Match against
your asset inventory
+ criticality field</a:t>
            </a:r>
          </a:p>
        </p:txBody>
      </p:sp>
      <p:cxnSp>
        <p:nvCxnSpPr>
          <p:cNvPr id="10" name="Connector 9"/>
          <p:cNvCxnSpPr/>
          <p:nvPr/>
        </p:nvCxnSpPr>
        <p:spPr>
          <a:xfrm>
            <a:off x="7147407.5" y="2743200.0"/>
            <a:ext cx="182880.0" cy="0.0"/>
          </a:xfrm>
          <a:prstGeom prst="line">
            <a:avLst/>
          </a:prstGeom>
          <a:ln w="19050">
            <a:solidFill>
              <a:srgbClr val="333333"/>
            </a:solidFill>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7330287" y="2011680"/>
            <a:ext cx="2103120" cy="1463040"/>
          </a:xfrm>
          <a:prstGeom prst="roundRect">
            <a:avLst/>
          </a:prstGeom>
          <a:solidFill>
            <a:srgbClr val="E8EFF5"/>
          </a:solidFill>
          <a:ln w="19050">
            <a:solidFill>
              <a:srgbClr val="1F3A5F"/>
            </a:solidFill>
          </a:ln>
        </p:spPr>
        <p:style>
          <a:lnRef idx="1">
            <a:schemeClr val="accent1"/>
          </a:lnRef>
          <a:fillRef idx="3">
            <a:schemeClr val="accent1"/>
          </a:fillRef>
          <a:effectRef idx="2">
            <a:schemeClr val="accent1"/>
          </a:effectRef>
          <a:fontRef idx="minor">
            <a:schemeClr val="lt1"/>
          </a:fontRef>
        </p:style>
        <p:txBody>
          <a:bodyPr rtlCol="0" anchor="ctr" tIns="137160" wrap="square"/>
          <a:lstStyle/>
          <a:p>
            <a:pPr algn="ctr"/>
            <a:r>
              <a:rPr sz="1200" b="1">
                <a:solidFill>
                  <a:srgbClr val="1F3A5F"/>
                </a:solidFill>
                <a:latin typeface="Calibri"/>
              </a:rPr>
              <a:t>GTI risk overlay</a:t>
            </a:r>
          </a:p>
          <a:p>
            <a:pPr algn="ctr">
              <a:spcBef>
                <a:spcPts val="400"/>
              </a:spcBef>
            </a:pPr>
            <a:r>
              <a:rPr sz="900">
                <a:solidFill>
                  <a:srgbClr val="333333"/>
                </a:solidFill>
                <a:latin typeface="Calibri"/>
              </a:rPr>
              <a:t>Mandiant Advantage
risk score for the
CVE / actor / TTP</a:t>
            </a:r>
          </a:p>
        </p:txBody>
      </p:sp>
      <p:cxnSp>
        <p:nvCxnSpPr>
          <p:cNvPr id="12" name="Connector 11"/>
          <p:cNvCxnSpPr/>
          <p:nvPr/>
        </p:nvCxnSpPr>
        <p:spPr>
          <a:xfrm>
            <a:off x="9433407.5" y="2743200.0"/>
            <a:ext cx="182880.0" cy="0.0"/>
          </a:xfrm>
          <a:prstGeom prst="line">
            <a:avLst/>
          </a:prstGeom>
          <a:ln w="19050">
            <a:solidFill>
              <a:srgbClr val="333333"/>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9616287" y="2011680"/>
            <a:ext cx="2103120" cy="1463040"/>
          </a:xfrm>
          <a:prstGeom prst="roundRect">
            <a:avLst/>
          </a:prstGeom>
          <a:solidFill>
            <a:srgbClr val="E6F4EA"/>
          </a:solidFill>
          <a:ln w="19050">
            <a:solidFill>
              <a:srgbClr val="2E7D32"/>
            </a:solidFill>
          </a:ln>
        </p:spPr>
        <p:style>
          <a:lnRef idx="1">
            <a:schemeClr val="accent1"/>
          </a:lnRef>
          <a:fillRef idx="3">
            <a:schemeClr val="accent1"/>
          </a:fillRef>
          <a:effectRef idx="2">
            <a:schemeClr val="accent1"/>
          </a:effectRef>
          <a:fontRef idx="minor">
            <a:schemeClr val="lt1"/>
          </a:fontRef>
        </p:style>
        <p:txBody>
          <a:bodyPr rtlCol="0" anchor="ctr" tIns="137160" wrap="square"/>
          <a:lstStyle/>
          <a:p>
            <a:pPr algn="ctr"/>
            <a:r>
              <a:rPr sz="1200" b="1">
                <a:solidFill>
                  <a:srgbClr val="2E7D32"/>
                </a:solidFill>
                <a:latin typeface="Calibri"/>
              </a:rPr>
              <a:t>Prioritized output</a:t>
            </a:r>
          </a:p>
          <a:p>
            <a:pPr algn="ctr">
              <a:spcBef>
                <a:spcPts val="400"/>
              </a:spcBef>
            </a:pPr>
            <a:r>
              <a:rPr sz="900">
                <a:solidFill>
                  <a:srgbClr val="333333"/>
                </a:solidFill>
                <a:latin typeface="Calibri"/>
              </a:rPr>
              <a:t>Per-team brief
+ dashboard tile
+ playbook trigger</a:t>
            </a:r>
          </a:p>
        </p:txBody>
      </p:sp>
      <p:sp>
        <p:nvSpPr>
          <p:cNvPr id="14" name="Rounded Rectangle 13"/>
          <p:cNvSpPr/>
          <p:nvPr/>
        </p:nvSpPr>
        <p:spPr>
          <a:xfrm>
            <a:off x="472287" y="4206240"/>
            <a:ext cx="3657600" cy="914400"/>
          </a:xfrm>
          <a:prstGeom prst="roundRect">
            <a:avLst/>
          </a:prstGeom>
          <a:solidFill>
            <a:srgbClr val="FEF6E7"/>
          </a:solidFill>
          <a:ln w="19050">
            <a:solidFill>
              <a:srgbClr val="C87F0A"/>
            </a:solidFill>
          </a:ln>
        </p:spPr>
        <p:style>
          <a:lnRef idx="1">
            <a:schemeClr val="accent1"/>
          </a:lnRef>
          <a:fillRef idx="3">
            <a:schemeClr val="accent1"/>
          </a:fillRef>
          <a:effectRef idx="2">
            <a:schemeClr val="accent1"/>
          </a:effectRef>
          <a:fontRef idx="minor">
            <a:schemeClr val="lt1"/>
          </a:fontRef>
        </p:style>
        <p:txBody>
          <a:bodyPr rtlCol="0" anchor="ctr" tIns="109728" wrap="square"/>
          <a:lstStyle/>
          <a:p>
            <a:pPr algn="ctr"/>
            <a:r>
              <a:rPr sz="1000">
                <a:solidFill>
                  <a:srgbClr val="333333"/>
                </a:solidFill>
                <a:latin typeface="Calibri"/>
              </a:rPr>
              <a:t>Validate: CMDB tool + API access
(ServiceNow / Tanium / Axonius / other)</a:t>
            </a:r>
          </a:p>
        </p:txBody>
      </p:sp>
      <p:sp>
        <p:nvSpPr>
          <p:cNvPr id="15" name="Rounded Rectangle 14"/>
          <p:cNvSpPr/>
          <p:nvPr/>
        </p:nvSpPr>
        <p:spPr>
          <a:xfrm>
            <a:off x="4267047" y="4206240"/>
            <a:ext cx="3657600" cy="914400"/>
          </a:xfrm>
          <a:prstGeom prst="roundRect">
            <a:avLst/>
          </a:prstGeom>
          <a:solidFill>
            <a:srgbClr val="FEF6E7"/>
          </a:solidFill>
          <a:ln w="19050">
            <a:solidFill>
              <a:srgbClr val="C87F0A"/>
            </a:solidFill>
          </a:ln>
        </p:spPr>
        <p:style>
          <a:lnRef idx="1">
            <a:schemeClr val="accent1"/>
          </a:lnRef>
          <a:fillRef idx="3">
            <a:schemeClr val="accent1"/>
          </a:fillRef>
          <a:effectRef idx="2">
            <a:schemeClr val="accent1"/>
          </a:effectRef>
          <a:fontRef idx="minor">
            <a:schemeClr val="lt1"/>
          </a:fontRef>
        </p:style>
        <p:txBody>
          <a:bodyPr rtlCol="0" anchor="ctr" tIns="109728" wrap="square"/>
          <a:lstStyle/>
          <a:p>
            <a:pPr algn="ctr"/>
            <a:r>
              <a:rPr sz="1000">
                <a:solidFill>
                  <a:srgbClr val="333333"/>
                </a:solidFill>
                <a:latin typeface="Calibri"/>
              </a:rPr>
              <a:t>Validate: asset-criticality field schema
(score vs. tag vs. owner-tier)</a:t>
            </a:r>
          </a:p>
        </p:txBody>
      </p:sp>
      <p:sp>
        <p:nvSpPr>
          <p:cNvPr id="16" name="Rounded Rectangle 15"/>
          <p:cNvSpPr/>
          <p:nvPr/>
        </p:nvSpPr>
        <p:spPr>
          <a:xfrm>
            <a:off x="8061807" y="4206240"/>
            <a:ext cx="3657600" cy="914400"/>
          </a:xfrm>
          <a:prstGeom prst="roundRect">
            <a:avLst/>
          </a:prstGeom>
          <a:solidFill>
            <a:srgbClr val="FEF6E7"/>
          </a:solidFill>
          <a:ln w="19050">
            <a:solidFill>
              <a:srgbClr val="C87F0A"/>
            </a:solidFill>
          </a:ln>
        </p:spPr>
        <p:style>
          <a:lnRef idx="1">
            <a:schemeClr val="accent1"/>
          </a:lnRef>
          <a:fillRef idx="3">
            <a:schemeClr val="accent1"/>
          </a:fillRef>
          <a:effectRef idx="2">
            <a:schemeClr val="accent1"/>
          </a:effectRef>
          <a:fontRef idx="minor">
            <a:schemeClr val="lt1"/>
          </a:fontRef>
        </p:style>
        <p:txBody>
          <a:bodyPr rtlCol="0" anchor="ctr" tIns="109728" wrap="square"/>
          <a:lstStyle/>
          <a:p>
            <a:pPr algn="ctr"/>
            <a:r>
              <a:rPr sz="1000">
                <a:solidFill>
                  <a:srgbClr val="333333"/>
                </a:solidFill>
                <a:latin typeface="Calibri"/>
              </a:rPr>
              <a:t>Validate: GTI license tier — read API
for risk scores at finding-level granularity</a:t>
            </a:r>
          </a:p>
        </p:txBody>
      </p:sp>
      <p:sp>
        <p:nvSpPr>
          <p:cNvPr id="17" name="TextBox 16"/>
          <p:cNvSpPr txBox="1"/>
          <p:nvPr/>
        </p:nvSpPr>
        <p:spPr>
          <a:xfrm>
            <a:off x="457200" y="6400800"/>
            <a:ext cx="11274552" cy="274320"/>
          </a:xfrm>
          <a:prstGeom prst="rect">
            <a:avLst/>
          </a:prstGeom>
          <a:noFill/>
        </p:spPr>
        <p:txBody>
          <a:bodyPr wrap="none">
            <a:spAutoFit/>
          </a:bodyPr>
          <a:lstStyle/>
          <a:p>
            <a:pPr algn="l"/>
            <a:r>
              <a:rPr sz="900" i="1">
                <a:solidFill>
                  <a:srgbClr val="666666"/>
                </a:solidFill>
                <a:latin typeface="Calibri"/>
              </a:rPr>
              <a:t>Athena · Discovery Proposal · 2026</a:t>
            </a:r>
          </a:p>
        </p:txBody>
      </p:sp>
      <p:sp>
        <p:nvSpPr>
          <p:cNvPr id="18" name="TextBox 17"/>
          <p:cNvSpPr txBox="1"/>
          <p:nvPr/>
        </p:nvSpPr>
        <p:spPr>
          <a:xfrm>
            <a:off x="10515600" y="6400800"/>
            <a:ext cx="1188720" cy="274320"/>
          </a:xfrm>
          <a:prstGeom prst="rect">
            <a:avLst/>
          </a:prstGeom>
          <a:noFill/>
        </p:spPr>
        <p:txBody>
          <a:bodyPr wrap="none">
            <a:spAutoFit/>
          </a:bodyPr>
          <a:lstStyle/>
          <a:p>
            <a:pPr algn="r"/>
            <a:r>
              <a:rPr sz="900">
                <a:solidFill>
                  <a:srgbClr val="666666"/>
                </a:solidFill>
                <a:latin typeface="Calibri"/>
              </a:rPr>
              <a:t>8 / 19</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4552" cy="640080"/>
          </a:xfrm>
          <a:prstGeom prst="rect">
            <a:avLst/>
          </a:prstGeom>
          <a:noFill/>
        </p:spPr>
        <p:txBody>
          <a:bodyPr wrap="square">
            <a:spAutoFit/>
          </a:bodyPr>
          <a:lstStyle/>
          <a:p>
            <a:pPr algn="l"/>
            <a:r>
              <a:rPr sz="3000" b="1">
                <a:solidFill>
                  <a:srgbClr val="1F3A5F"/>
                </a:solidFill>
                <a:latin typeface="Calibri"/>
              </a:rPr>
              <a:t>Stakeholder-tailored output — proposed matrix</a:t>
            </a:r>
          </a:p>
        </p:txBody>
      </p:sp>
      <p:sp>
        <p:nvSpPr>
          <p:cNvPr id="3" name="TextBox 2"/>
          <p:cNvSpPr txBox="1"/>
          <p:nvPr/>
        </p:nvSpPr>
        <p:spPr>
          <a:xfrm>
            <a:off x="457200" y="914400"/>
            <a:ext cx="11274552" cy="457200"/>
          </a:xfrm>
          <a:prstGeom prst="rect">
            <a:avLst/>
          </a:prstGeom>
          <a:noFill/>
        </p:spPr>
        <p:txBody>
          <a:bodyPr wrap="square">
            <a:spAutoFit/>
          </a:bodyPr>
          <a:lstStyle/>
          <a:p>
            <a:r>
              <a:rPr sz="1400" i="1">
                <a:solidFill>
                  <a:srgbClr val="666666"/>
                </a:solidFill>
                <a:latin typeface="Calibri"/>
              </a:rPr>
              <a:t>One canonical record. Many renderings. Each team gets what they need, no more.</a:t>
            </a:r>
          </a:p>
        </p:txBody>
      </p:sp>
      <p:sp>
        <p:nvSpPr>
          <p:cNvPr id="4" name="Rounded Rectangle 3"/>
          <p:cNvSpPr/>
          <p:nvPr/>
        </p:nvSpPr>
        <p:spPr>
          <a:xfrm>
            <a:off x="10058400" y="274320"/>
            <a:ext cx="1645920" cy="365760"/>
          </a:xfrm>
          <a:prstGeom prst="roundRect">
            <a:avLst/>
          </a:prstGeom>
          <a:solidFill>
            <a:srgbClr val="C87F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latin typeface="Calibri"/>
              </a:rPr>
              <a:t>DISCOVERY</a:t>
            </a:r>
          </a:p>
        </p:txBody>
      </p:sp>
      <p:sp>
        <p:nvSpPr>
          <p:cNvPr id="5" name="Rectangle 4"/>
          <p:cNvSpPr/>
          <p:nvPr/>
        </p:nvSpPr>
        <p:spPr>
          <a:xfrm>
            <a:off x="457200" y="1645920"/>
            <a:ext cx="2286000" cy="59436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tIns="91440"/>
          <a:lstStyle/>
          <a:p>
            <a:pPr algn="ctr"/>
            <a:r>
              <a:rPr sz="1100" b="1">
                <a:solidFill>
                  <a:srgbClr val="FFFFFF"/>
                </a:solidFill>
                <a:latin typeface="Calibri"/>
              </a:rPr>
              <a:t>  Stakeholder team</a:t>
            </a:r>
          </a:p>
        </p:txBody>
      </p:sp>
      <p:sp>
        <p:nvSpPr>
          <p:cNvPr id="6" name="Rectangle 5"/>
          <p:cNvSpPr/>
          <p:nvPr/>
        </p:nvSpPr>
        <p:spPr>
          <a:xfrm>
            <a:off x="2743200" y="1645920"/>
            <a:ext cx="6858000" cy="59436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tIns="91440"/>
          <a:lstStyle/>
          <a:p>
            <a:pPr algn="ctr"/>
            <a:r>
              <a:rPr sz="1100" b="1">
                <a:solidFill>
                  <a:srgbClr val="FFFFFF"/>
                </a:solidFill>
                <a:latin typeface="Calibri"/>
              </a:rPr>
              <a:t>  What they get</a:t>
            </a:r>
          </a:p>
        </p:txBody>
      </p:sp>
      <p:sp>
        <p:nvSpPr>
          <p:cNvPr id="7" name="Rectangle 6"/>
          <p:cNvSpPr/>
          <p:nvPr/>
        </p:nvSpPr>
        <p:spPr>
          <a:xfrm>
            <a:off x="9601200" y="1645920"/>
            <a:ext cx="2560320" cy="59436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tIns="91440"/>
          <a:lstStyle/>
          <a:p>
            <a:pPr algn="ctr"/>
            <a:r>
              <a:rPr sz="1100" b="1">
                <a:solidFill>
                  <a:srgbClr val="FFFFFF"/>
                </a:solidFill>
                <a:latin typeface="Calibri"/>
              </a:rPr>
              <a:t>  Cadence</a:t>
            </a:r>
          </a:p>
        </p:txBody>
      </p:sp>
      <p:sp>
        <p:nvSpPr>
          <p:cNvPr id="8" name="Rectangle 7"/>
          <p:cNvSpPr/>
          <p:nvPr/>
        </p:nvSpPr>
        <p:spPr>
          <a:xfrm>
            <a:off x="457200" y="2240280"/>
            <a:ext cx="2286000" cy="59436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73152" wrap="square"/>
          <a:lstStyle/>
          <a:p>
            <a:pPr algn="ctr"/>
            <a:r>
              <a:rPr sz="900" b="1">
                <a:solidFill>
                  <a:srgbClr val="333333"/>
                </a:solidFill>
                <a:latin typeface="Calibri"/>
              </a:rPr>
              <a:t>  SOC</a:t>
            </a:r>
          </a:p>
        </p:txBody>
      </p:sp>
      <p:sp>
        <p:nvSpPr>
          <p:cNvPr id="9" name="Rectangle 8"/>
          <p:cNvSpPr/>
          <p:nvPr/>
        </p:nvSpPr>
        <p:spPr>
          <a:xfrm>
            <a:off x="2743200" y="2240280"/>
            <a:ext cx="6858000" cy="59436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73152" wrap="square"/>
          <a:lstStyle/>
          <a:p>
            <a:pPr algn="ctr"/>
            <a:r>
              <a:rPr sz="900">
                <a:solidFill>
                  <a:srgbClr val="333333"/>
                </a:solidFill>
                <a:latin typeface="Calibri"/>
              </a:rPr>
              <a:t>  IOCs, Splunk hunt queries, detection-tier signal</a:t>
            </a:r>
          </a:p>
        </p:txBody>
      </p:sp>
      <p:sp>
        <p:nvSpPr>
          <p:cNvPr id="10" name="Rectangle 9"/>
          <p:cNvSpPr/>
          <p:nvPr/>
        </p:nvSpPr>
        <p:spPr>
          <a:xfrm>
            <a:off x="9601200" y="2240280"/>
            <a:ext cx="2560320" cy="59436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73152" wrap="square"/>
          <a:lstStyle/>
          <a:p>
            <a:pPr algn="ctr"/>
            <a:r>
              <a:rPr sz="900">
                <a:solidFill>
                  <a:srgbClr val="333333"/>
                </a:solidFill>
                <a:latin typeface="Calibri"/>
              </a:rPr>
              <a:t>  Daily Layer-2 + ad-hoc FLASH</a:t>
            </a:r>
          </a:p>
        </p:txBody>
      </p:sp>
      <p:sp>
        <p:nvSpPr>
          <p:cNvPr id="11" name="Rectangle 10"/>
          <p:cNvSpPr/>
          <p:nvPr/>
        </p:nvSpPr>
        <p:spPr>
          <a:xfrm>
            <a:off x="457200" y="2834640"/>
            <a:ext cx="2286000" cy="594360"/>
          </a:xfrm>
          <a:prstGeom prst="rect">
            <a:avLst/>
          </a:prstGeom>
          <a:solidFill>
            <a:srgbClr val="F8F8F8"/>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73152" wrap="square"/>
          <a:lstStyle/>
          <a:p>
            <a:pPr algn="ctr"/>
            <a:r>
              <a:rPr sz="900" b="1">
                <a:solidFill>
                  <a:srgbClr val="333333"/>
                </a:solidFill>
                <a:latin typeface="Calibri"/>
              </a:rPr>
              <a:t>  Vuln Mgmt</a:t>
            </a:r>
          </a:p>
        </p:txBody>
      </p:sp>
      <p:sp>
        <p:nvSpPr>
          <p:cNvPr id="12" name="Rectangle 11"/>
          <p:cNvSpPr/>
          <p:nvPr/>
        </p:nvSpPr>
        <p:spPr>
          <a:xfrm>
            <a:off x="2743200" y="2834640"/>
            <a:ext cx="6858000" cy="594360"/>
          </a:xfrm>
          <a:prstGeom prst="rect">
            <a:avLst/>
          </a:prstGeom>
          <a:solidFill>
            <a:srgbClr val="F8F8F8"/>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73152" wrap="square"/>
          <a:lstStyle/>
          <a:p>
            <a:pPr algn="ctr"/>
            <a:r>
              <a:rPr sz="900">
                <a:solidFill>
                  <a:srgbClr val="333333"/>
                </a:solidFill>
                <a:latin typeface="Calibri"/>
              </a:rPr>
              <a:t>  CVE deadlines, KEV status, CMDB exposure list, patch posture</a:t>
            </a:r>
          </a:p>
        </p:txBody>
      </p:sp>
      <p:sp>
        <p:nvSpPr>
          <p:cNvPr id="13" name="Rectangle 12"/>
          <p:cNvSpPr/>
          <p:nvPr/>
        </p:nvSpPr>
        <p:spPr>
          <a:xfrm>
            <a:off x="9601200" y="2834640"/>
            <a:ext cx="2560320" cy="594360"/>
          </a:xfrm>
          <a:prstGeom prst="rect">
            <a:avLst/>
          </a:prstGeom>
          <a:solidFill>
            <a:srgbClr val="F8F8F8"/>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73152" wrap="square"/>
          <a:lstStyle/>
          <a:p>
            <a:pPr algn="ctr"/>
            <a:r>
              <a:rPr sz="900">
                <a:solidFill>
                  <a:srgbClr val="333333"/>
                </a:solidFill>
                <a:latin typeface="Calibri"/>
              </a:rPr>
              <a:t>  Weekly summary + FLASH on KEV adds</a:t>
            </a:r>
          </a:p>
        </p:txBody>
      </p:sp>
      <p:sp>
        <p:nvSpPr>
          <p:cNvPr id="14" name="Rectangle 13"/>
          <p:cNvSpPr/>
          <p:nvPr/>
        </p:nvSpPr>
        <p:spPr>
          <a:xfrm>
            <a:off x="457200" y="3429000"/>
            <a:ext cx="2286000" cy="59436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73152" wrap="square"/>
          <a:lstStyle/>
          <a:p>
            <a:pPr algn="ctr"/>
            <a:r>
              <a:rPr sz="900" b="1">
                <a:solidFill>
                  <a:srgbClr val="333333"/>
                </a:solidFill>
                <a:latin typeface="Calibri"/>
              </a:rPr>
              <a:t>  Incident Response</a:t>
            </a:r>
          </a:p>
        </p:txBody>
      </p:sp>
      <p:sp>
        <p:nvSpPr>
          <p:cNvPr id="15" name="Rectangle 14"/>
          <p:cNvSpPr/>
          <p:nvPr/>
        </p:nvSpPr>
        <p:spPr>
          <a:xfrm>
            <a:off x="2743200" y="3429000"/>
            <a:ext cx="6858000" cy="59436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73152" wrap="square"/>
          <a:lstStyle/>
          <a:p>
            <a:pPr algn="ctr"/>
            <a:r>
              <a:rPr sz="900">
                <a:solidFill>
                  <a:srgbClr val="333333"/>
                </a:solidFill>
                <a:latin typeface="Calibri"/>
              </a:rPr>
              <a:t>  Actor TTPs, MITRE mapping, playbook handoffs, lessons</a:t>
            </a:r>
          </a:p>
        </p:txBody>
      </p:sp>
      <p:sp>
        <p:nvSpPr>
          <p:cNvPr id="16" name="Rectangle 15"/>
          <p:cNvSpPr/>
          <p:nvPr/>
        </p:nvSpPr>
        <p:spPr>
          <a:xfrm>
            <a:off x="9601200" y="3429000"/>
            <a:ext cx="2560320" cy="59436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73152" wrap="square"/>
          <a:lstStyle/>
          <a:p>
            <a:pPr algn="ctr"/>
            <a:r>
              <a:rPr sz="900">
                <a:solidFill>
                  <a:srgbClr val="333333"/>
                </a:solidFill>
                <a:latin typeface="Calibri"/>
              </a:rPr>
              <a:t>  Weekly + on-demand /investigate</a:t>
            </a:r>
          </a:p>
        </p:txBody>
      </p:sp>
      <p:sp>
        <p:nvSpPr>
          <p:cNvPr id="17" name="Rectangle 16"/>
          <p:cNvSpPr/>
          <p:nvPr/>
        </p:nvSpPr>
        <p:spPr>
          <a:xfrm>
            <a:off x="457200" y="4023360"/>
            <a:ext cx="2286000" cy="594360"/>
          </a:xfrm>
          <a:prstGeom prst="rect">
            <a:avLst/>
          </a:prstGeom>
          <a:solidFill>
            <a:srgbClr val="F8F8F8"/>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73152" wrap="square"/>
          <a:lstStyle/>
          <a:p>
            <a:pPr algn="ctr"/>
            <a:r>
              <a:rPr sz="900" b="1">
                <a:solidFill>
                  <a:srgbClr val="333333"/>
                </a:solidFill>
                <a:latin typeface="Calibri"/>
              </a:rPr>
              <a:t>  Threat Intel team</a:t>
            </a:r>
          </a:p>
        </p:txBody>
      </p:sp>
      <p:sp>
        <p:nvSpPr>
          <p:cNvPr id="18" name="Rectangle 17"/>
          <p:cNvSpPr/>
          <p:nvPr/>
        </p:nvSpPr>
        <p:spPr>
          <a:xfrm>
            <a:off x="2743200" y="4023360"/>
            <a:ext cx="6858000" cy="594360"/>
          </a:xfrm>
          <a:prstGeom prst="rect">
            <a:avLst/>
          </a:prstGeom>
          <a:solidFill>
            <a:srgbClr val="F8F8F8"/>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73152" wrap="square"/>
          <a:lstStyle/>
          <a:p>
            <a:pPr algn="ctr"/>
            <a:r>
              <a:rPr sz="900">
                <a:solidFill>
                  <a:srgbClr val="333333"/>
                </a:solidFill>
                <a:latin typeface="Calibri"/>
              </a:rPr>
              <a:t>  Full analyst-grade markdown, source grading detail, doctrine audit</a:t>
            </a:r>
          </a:p>
        </p:txBody>
      </p:sp>
      <p:sp>
        <p:nvSpPr>
          <p:cNvPr id="19" name="Rectangle 18"/>
          <p:cNvSpPr/>
          <p:nvPr/>
        </p:nvSpPr>
        <p:spPr>
          <a:xfrm>
            <a:off x="9601200" y="4023360"/>
            <a:ext cx="2560320" cy="594360"/>
          </a:xfrm>
          <a:prstGeom prst="rect">
            <a:avLst/>
          </a:prstGeom>
          <a:solidFill>
            <a:srgbClr val="F8F8F8"/>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73152" wrap="square"/>
          <a:lstStyle/>
          <a:p>
            <a:pPr algn="ctr"/>
            <a:r>
              <a:rPr sz="900">
                <a:solidFill>
                  <a:srgbClr val="333333"/>
                </a:solidFill>
                <a:latin typeface="Calibri"/>
              </a:rPr>
              <a:t>  Daily Layer-1 + weekly synthesis</a:t>
            </a:r>
          </a:p>
        </p:txBody>
      </p:sp>
      <p:sp>
        <p:nvSpPr>
          <p:cNvPr id="20" name="Rectangle 19"/>
          <p:cNvSpPr/>
          <p:nvPr/>
        </p:nvSpPr>
        <p:spPr>
          <a:xfrm>
            <a:off x="457200" y="4617720"/>
            <a:ext cx="2286000" cy="59436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73152" wrap="square"/>
          <a:lstStyle/>
          <a:p>
            <a:pPr algn="ctr"/>
            <a:r>
              <a:rPr sz="900" b="1">
                <a:solidFill>
                  <a:srgbClr val="333333"/>
                </a:solidFill>
                <a:latin typeface="Calibri"/>
              </a:rPr>
              <a:t>  Leadership</a:t>
            </a:r>
          </a:p>
        </p:txBody>
      </p:sp>
      <p:sp>
        <p:nvSpPr>
          <p:cNvPr id="21" name="Rectangle 20"/>
          <p:cNvSpPr/>
          <p:nvPr/>
        </p:nvSpPr>
        <p:spPr>
          <a:xfrm>
            <a:off x="2743200" y="4617720"/>
            <a:ext cx="6858000" cy="59436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73152" wrap="square"/>
          <a:lstStyle/>
          <a:p>
            <a:pPr algn="ctr"/>
            <a:r>
              <a:rPr sz="900">
                <a:solidFill>
                  <a:srgbClr val="333333"/>
                </a:solidFill>
                <a:latin typeface="Calibri"/>
              </a:rPr>
              <a:t>  Executive Layer-2: top threats, exposure heatmap, posture summary</a:t>
            </a:r>
          </a:p>
        </p:txBody>
      </p:sp>
      <p:sp>
        <p:nvSpPr>
          <p:cNvPr id="22" name="Rectangle 21"/>
          <p:cNvSpPr/>
          <p:nvPr/>
        </p:nvSpPr>
        <p:spPr>
          <a:xfrm>
            <a:off x="9601200" y="4617720"/>
            <a:ext cx="2560320" cy="59436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73152" wrap="square"/>
          <a:lstStyle/>
          <a:p>
            <a:pPr algn="ctr"/>
            <a:r>
              <a:rPr sz="900">
                <a:solidFill>
                  <a:srgbClr val="333333"/>
                </a:solidFill>
                <a:latin typeface="Calibri"/>
              </a:rPr>
              <a:t>  Weekly executive brief</a:t>
            </a:r>
          </a:p>
        </p:txBody>
      </p:sp>
      <p:sp>
        <p:nvSpPr>
          <p:cNvPr id="23" name="TextBox 22"/>
          <p:cNvSpPr txBox="1"/>
          <p:nvPr/>
        </p:nvSpPr>
        <p:spPr>
          <a:xfrm>
            <a:off x="457200" y="5486400"/>
            <a:ext cx="11274552" cy="731520"/>
          </a:xfrm>
          <a:prstGeom prst="rect">
            <a:avLst/>
          </a:prstGeom>
          <a:noFill/>
        </p:spPr>
        <p:txBody>
          <a:bodyPr wrap="square">
            <a:spAutoFit/>
          </a:bodyPr>
          <a:lstStyle/>
          <a:p>
            <a:pPr algn="ctr"/>
            <a:r>
              <a:rPr sz="1200" i="1">
                <a:solidFill>
                  <a:srgbClr val="C87F0A"/>
                </a:solidFill>
                <a:latin typeface="Calibri"/>
              </a:rPr>
              <a:t>Validation needed: confirm the team list above matches your org. Confirm contact owner per team (who signs off on the per-team format). Confirm cadence expectations with each team lead before build.</a:t>
            </a:r>
          </a:p>
        </p:txBody>
      </p:sp>
      <p:sp>
        <p:nvSpPr>
          <p:cNvPr id="24" name="TextBox 23"/>
          <p:cNvSpPr txBox="1"/>
          <p:nvPr/>
        </p:nvSpPr>
        <p:spPr>
          <a:xfrm>
            <a:off x="457200" y="6400800"/>
            <a:ext cx="11274552" cy="274320"/>
          </a:xfrm>
          <a:prstGeom prst="rect">
            <a:avLst/>
          </a:prstGeom>
          <a:noFill/>
        </p:spPr>
        <p:txBody>
          <a:bodyPr wrap="none">
            <a:spAutoFit/>
          </a:bodyPr>
          <a:lstStyle/>
          <a:p>
            <a:pPr algn="l"/>
            <a:r>
              <a:rPr sz="900" i="1">
                <a:solidFill>
                  <a:srgbClr val="666666"/>
                </a:solidFill>
                <a:latin typeface="Calibri"/>
              </a:rPr>
              <a:t>Athena · Discovery Proposal · 2026</a:t>
            </a:r>
          </a:p>
        </p:txBody>
      </p:sp>
      <p:sp>
        <p:nvSpPr>
          <p:cNvPr id="25" name="TextBox 24"/>
          <p:cNvSpPr txBox="1"/>
          <p:nvPr/>
        </p:nvSpPr>
        <p:spPr>
          <a:xfrm>
            <a:off x="10515600" y="6400800"/>
            <a:ext cx="1188720" cy="274320"/>
          </a:xfrm>
          <a:prstGeom prst="rect">
            <a:avLst/>
          </a:prstGeom>
          <a:noFill/>
        </p:spPr>
        <p:txBody>
          <a:bodyPr wrap="none">
            <a:spAutoFit/>
          </a:bodyPr>
          <a:lstStyle/>
          <a:p>
            <a:pPr algn="r"/>
            <a:r>
              <a:rPr sz="900">
                <a:solidFill>
                  <a:srgbClr val="666666"/>
                </a:solidFill>
                <a:latin typeface="Calibri"/>
              </a:rPr>
              <a:t>9 / 19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4552" cy="640080"/>
          </a:xfrm>
          <a:prstGeom prst="rect">
            <a:avLst/>
          </a:prstGeom>
          <a:noFill/>
        </p:spPr>
        <p:txBody>
          <a:bodyPr wrap="square">
            <a:spAutoFit/>
          </a:bodyPr>
          <a:lstStyle/>
          <a:p>
            <a:pPr algn="l"/>
            <a:r>
              <a:rPr sz="3000" b="1">
                <a:solidFill>
                  <a:srgbClr val="1F3A5F"/>
                </a:solidFill>
                <a:latin typeface="Calibri"/>
              </a:rPr>
              <a:t>“What matters now” dashboard — wireframe sketch</a:t>
            </a:r>
          </a:p>
        </p:txBody>
      </p:sp>
      <p:sp>
        <p:nvSpPr>
          <p:cNvPr id="3" name="TextBox 2"/>
          <p:cNvSpPr txBox="1"/>
          <p:nvPr/>
        </p:nvSpPr>
        <p:spPr>
          <a:xfrm>
            <a:off x="457200" y="914400"/>
            <a:ext cx="11274552" cy="457200"/>
          </a:xfrm>
          <a:prstGeom prst="rect">
            <a:avLst/>
          </a:prstGeom>
          <a:noFill/>
        </p:spPr>
        <p:txBody>
          <a:bodyPr wrap="square">
            <a:spAutoFit/>
          </a:bodyPr>
          <a:lstStyle/>
          <a:p>
            <a:r>
              <a:rPr sz="1400" i="1">
                <a:solidFill>
                  <a:srgbClr val="666666"/>
                </a:solidFill>
                <a:latin typeface="Calibri"/>
              </a:rPr>
              <a:t>For discussion. The dashboard rendering surface; refined in Discovery.</a:t>
            </a:r>
          </a:p>
        </p:txBody>
      </p:sp>
      <p:sp>
        <p:nvSpPr>
          <p:cNvPr id="4" name="Rounded Rectangle 3"/>
          <p:cNvSpPr/>
          <p:nvPr/>
        </p:nvSpPr>
        <p:spPr>
          <a:xfrm>
            <a:off x="10058400" y="274320"/>
            <a:ext cx="1645920" cy="365760"/>
          </a:xfrm>
          <a:prstGeom prst="roundRect">
            <a:avLst/>
          </a:prstGeom>
          <a:solidFill>
            <a:srgbClr val="C87F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latin typeface="Calibri"/>
              </a:rPr>
              <a:t>DISCOVERY</a:t>
            </a:r>
          </a:p>
        </p:txBody>
      </p:sp>
      <p:sp>
        <p:nvSpPr>
          <p:cNvPr id="5" name="Rectangle 4"/>
          <p:cNvSpPr/>
          <p:nvPr/>
        </p:nvSpPr>
        <p:spPr>
          <a:xfrm>
            <a:off x="457200" y="1645920"/>
            <a:ext cx="11274552" cy="4114800"/>
          </a:xfrm>
          <a:prstGeom prst="rect">
            <a:avLst/>
          </a:prstGeom>
          <a:solidFill>
            <a:srgbClr val="FAFBFC"/>
          </a:solidFill>
          <a:ln w="25400">
            <a:solidFill>
              <a:srgbClr val="1F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645920"/>
            <a:ext cx="11274552" cy="36576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tIns="54864" lIns="274320"/>
          <a:lstStyle/>
          <a:p>
            <a:pPr algn="ctr"/>
            <a:r>
              <a:rPr sz="1100" b="1">
                <a:solidFill>
                  <a:srgbClr val="FFFFFF"/>
                </a:solidFill>
                <a:latin typeface="Calibri"/>
              </a:rPr>
              <a:t>Athena  ·  What matters now  ·  Monday, May 11 — 08:14 EDT</a:t>
            </a:r>
          </a:p>
        </p:txBody>
      </p:sp>
      <p:sp>
        <p:nvSpPr>
          <p:cNvPr id="7" name="Rectangle 6"/>
          <p:cNvSpPr/>
          <p:nvPr/>
        </p:nvSpPr>
        <p:spPr>
          <a:xfrm>
            <a:off x="594360" y="2103120"/>
            <a:ext cx="5486400" cy="1783080"/>
          </a:xfrm>
          <a:prstGeom prst="rect">
            <a:avLst/>
          </a:prstGeom>
          <a:solidFill>
            <a:srgbClr val="FFFFFF"/>
          </a:solidFill>
          <a:ln w="9525">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tIns="91440" lIns="137160" rIns="137160" wrap="square"/>
          <a:lstStyle/>
          <a:p>
            <a:pPr algn="ctr"/>
            <a:r>
              <a:rPr sz="1000" b="1">
                <a:solidFill>
                  <a:srgbClr val="1F3A5F"/>
                </a:solidFill>
                <a:latin typeface="Calibri"/>
              </a:rPr>
              <a:t>TOP THREATS TODAY</a:t>
            </a:r>
          </a:p>
          <a:p>
            <a:pPr>
              <a:spcBef>
                <a:spcPts val="400"/>
              </a:spcBef>
            </a:pPr>
            <a:r>
              <a:rPr sz="800">
                <a:solidFill>
                  <a:srgbClr val="333333"/>
                </a:solidFill>
                <a:latin typeface="Consolas"/>
              </a:rPr>
              <a:t>1.  CVE-2026-0300 (PAN-OS) · A1 · 23 exposed assets
2.  Checkmarx Jenkins AST · B2 · DIB CI/CD impact
3.  Ivanti EPMM CVE-2026-6973 · KEV expired
4.  SailPoint GitHub repos · B2 · IGA stack
5.  Operation HookedWing · C3 · monitoring</a:t>
            </a:r>
          </a:p>
        </p:txBody>
      </p:sp>
      <p:sp>
        <p:nvSpPr>
          <p:cNvPr id="8" name="Rectangle 7"/>
          <p:cNvSpPr/>
          <p:nvPr/>
        </p:nvSpPr>
        <p:spPr>
          <a:xfrm>
            <a:off x="6217920" y="2103120"/>
            <a:ext cx="5486400" cy="1783080"/>
          </a:xfrm>
          <a:prstGeom prst="rect">
            <a:avLst/>
          </a:prstGeom>
          <a:solidFill>
            <a:srgbClr val="FFFFFF"/>
          </a:solidFill>
          <a:ln w="9525">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tIns="91440" lIns="137160" rIns="137160" wrap="square"/>
          <a:lstStyle/>
          <a:p>
            <a:pPr algn="ctr"/>
            <a:r>
              <a:rPr sz="1000" b="1">
                <a:solidFill>
                  <a:srgbClr val="1F3A5F"/>
                </a:solidFill>
                <a:latin typeface="Calibri"/>
              </a:rPr>
              <a:t>YOUR EXPOSURE HEATMAP</a:t>
            </a:r>
          </a:p>
          <a:p>
            <a:pPr>
              <a:spcBef>
                <a:spcPts val="400"/>
              </a:spcBef>
            </a:pPr>
            <a:r>
              <a:rPr sz="800">
                <a:solidFill>
                  <a:srgbClr val="333333"/>
                </a:solidFill>
                <a:latin typeface="Consolas"/>
              </a:rPr>
              <a:t>Critical:    4 assets   ████ 
High:        18 assets  ████████ 
Medium:      37 assets  ██████ 
Low:         142 assets ███ 
[hover: drilldown to CMDB CI list]</a:t>
            </a:r>
          </a:p>
        </p:txBody>
      </p:sp>
      <p:sp>
        <p:nvSpPr>
          <p:cNvPr id="9" name="Rectangle 8"/>
          <p:cNvSpPr/>
          <p:nvPr/>
        </p:nvSpPr>
        <p:spPr>
          <a:xfrm>
            <a:off x="594360" y="3931920"/>
            <a:ext cx="5486400" cy="1783080"/>
          </a:xfrm>
          <a:prstGeom prst="rect">
            <a:avLst/>
          </a:prstGeom>
          <a:solidFill>
            <a:srgbClr val="FFFFFF"/>
          </a:solidFill>
          <a:ln w="9525">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tIns="91440" lIns="137160" rIns="137160" wrap="square"/>
          <a:lstStyle/>
          <a:p>
            <a:pPr algn="ctr"/>
            <a:r>
              <a:rPr sz="1000" b="1">
                <a:solidFill>
                  <a:srgbClr val="1F3A5F"/>
                </a:solidFill>
                <a:latin typeface="Calibri"/>
              </a:rPr>
              <a:t>FLASH QUEUE + PENDING GATES</a:t>
            </a:r>
          </a:p>
          <a:p>
            <a:pPr>
              <a:spcBef>
                <a:spcPts val="400"/>
              </a:spcBef>
            </a:pPr>
            <a:r>
              <a:rPr sz="800">
                <a:solidFill>
                  <a:srgbClr val="333333"/>
                </a:solidFill>
                <a:latin typeface="Consolas"/>
              </a:rPr>
              <a:t>FLASH queued:    2 (quiet-hours)
/approve-scoring waiting:  1 (UNC1549 → HIGH proposed)
Retraction proposed:  0
Source-grade ratify: 2 (Rapid7, SOCRadar)
→ click any item to action</a:t>
            </a:r>
          </a:p>
        </p:txBody>
      </p:sp>
      <p:sp>
        <p:nvSpPr>
          <p:cNvPr id="10" name="Rectangle 9"/>
          <p:cNvSpPr/>
          <p:nvPr/>
        </p:nvSpPr>
        <p:spPr>
          <a:xfrm>
            <a:off x="6217920" y="3931920"/>
            <a:ext cx="5486400" cy="1783080"/>
          </a:xfrm>
          <a:prstGeom prst="rect">
            <a:avLst/>
          </a:prstGeom>
          <a:solidFill>
            <a:srgbClr val="FFFFFF"/>
          </a:solidFill>
          <a:ln w="9525">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tIns="91440" lIns="137160" rIns="137160" wrap="square"/>
          <a:lstStyle/>
          <a:p>
            <a:pPr algn="ctr"/>
            <a:r>
              <a:rPr sz="1000" b="1">
                <a:solidFill>
                  <a:srgbClr val="1F3A5F"/>
                </a:solidFill>
                <a:latin typeface="Calibri"/>
              </a:rPr>
              <a:t>RECENT ACTIVITY</a:t>
            </a:r>
          </a:p>
          <a:p>
            <a:pPr>
              <a:spcBef>
                <a:spcPts val="400"/>
              </a:spcBef>
            </a:pPr>
            <a:r>
              <a:rPr sz="800">
                <a:solidFill>
                  <a:srgbClr val="333333"/>
                </a:solidFill>
                <a:latin typeface="Consolas"/>
              </a:rPr>
              <a:t>08:00  Morning brief published  ·  5 findings
07:30  Pre-brief collection  ·  47 raw items
06:00  FLASH sweep  ·  clean
00:00  FLASH sweep  ·  clean
Yesterday 16:00  Afternoon brief  ·  3 findings</a:t>
            </a:r>
          </a:p>
        </p:txBody>
      </p:sp>
      <p:sp>
        <p:nvSpPr>
          <p:cNvPr id="11" name="TextBox 10"/>
          <p:cNvSpPr txBox="1"/>
          <p:nvPr/>
        </p:nvSpPr>
        <p:spPr>
          <a:xfrm>
            <a:off x="457200" y="5943600"/>
            <a:ext cx="11274552" cy="457200"/>
          </a:xfrm>
          <a:prstGeom prst="rect">
            <a:avLst/>
          </a:prstGeom>
          <a:noFill/>
        </p:spPr>
        <p:txBody>
          <a:bodyPr wrap="square">
            <a:spAutoFit/>
          </a:bodyPr>
          <a:lstStyle/>
          <a:p>
            <a:pPr algn="ctr"/>
            <a:r>
              <a:rPr sz="1100" i="1">
                <a:solidFill>
                  <a:srgbClr val="C87F0A"/>
                </a:solidFill>
                <a:latin typeface="Calibri"/>
              </a:rPr>
              <a:t>Validation needed: hosting model (cloud / on-prem)  ·  auth/SSO integration  ·  per-team filters  ·  drilldown depth into CMDB</a:t>
            </a:r>
          </a:p>
        </p:txBody>
      </p:sp>
      <p:sp>
        <p:nvSpPr>
          <p:cNvPr id="12" name="TextBox 11"/>
          <p:cNvSpPr txBox="1"/>
          <p:nvPr/>
        </p:nvSpPr>
        <p:spPr>
          <a:xfrm>
            <a:off x="457200" y="6400800"/>
            <a:ext cx="11274552" cy="274320"/>
          </a:xfrm>
          <a:prstGeom prst="rect">
            <a:avLst/>
          </a:prstGeom>
          <a:noFill/>
        </p:spPr>
        <p:txBody>
          <a:bodyPr wrap="none">
            <a:spAutoFit/>
          </a:bodyPr>
          <a:lstStyle/>
          <a:p>
            <a:pPr algn="l"/>
            <a:r>
              <a:rPr sz="900" i="1">
                <a:solidFill>
                  <a:srgbClr val="666666"/>
                </a:solidFill>
                <a:latin typeface="Calibri"/>
              </a:rPr>
              <a:t>Athena · Discovery Proposal · 2026</a:t>
            </a:r>
          </a:p>
        </p:txBody>
      </p:sp>
      <p:sp>
        <p:nvSpPr>
          <p:cNvPr id="13" name="TextBox 12"/>
          <p:cNvSpPr txBox="1"/>
          <p:nvPr/>
        </p:nvSpPr>
        <p:spPr>
          <a:xfrm>
            <a:off x="10515600" y="6400800"/>
            <a:ext cx="1188720" cy="274320"/>
          </a:xfrm>
          <a:prstGeom prst="rect">
            <a:avLst/>
          </a:prstGeom>
          <a:noFill/>
        </p:spPr>
        <p:txBody>
          <a:bodyPr wrap="none">
            <a:spAutoFit/>
          </a:bodyPr>
          <a:lstStyle/>
          <a:p>
            <a:pPr algn="r"/>
            <a:r>
              <a:rPr sz="900">
                <a:solidFill>
                  <a:srgbClr val="666666"/>
                </a:solidFill>
                <a:latin typeface="Calibri"/>
              </a:rPr>
              <a:t>10 / 19</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4552" cy="640080"/>
          </a:xfrm>
          <a:prstGeom prst="rect">
            <a:avLst/>
          </a:prstGeom>
          <a:noFill/>
        </p:spPr>
        <p:txBody>
          <a:bodyPr wrap="square">
            <a:spAutoFit/>
          </a:bodyPr>
          <a:lstStyle/>
          <a:p>
            <a:pPr algn="l"/>
            <a:r>
              <a:rPr sz="3000" b="1">
                <a:solidFill>
                  <a:srgbClr val="1F3A5F"/>
                </a:solidFill>
                <a:latin typeface="Calibri"/>
              </a:rPr>
              <a:t>Interactive Q&amp;A — proposed slash commands</a:t>
            </a:r>
          </a:p>
        </p:txBody>
      </p:sp>
      <p:sp>
        <p:nvSpPr>
          <p:cNvPr id="3" name="TextBox 2"/>
          <p:cNvSpPr txBox="1"/>
          <p:nvPr/>
        </p:nvSpPr>
        <p:spPr>
          <a:xfrm>
            <a:off x="457200" y="914400"/>
            <a:ext cx="11274552" cy="457200"/>
          </a:xfrm>
          <a:prstGeom prst="rect">
            <a:avLst/>
          </a:prstGeom>
          <a:noFill/>
        </p:spPr>
        <p:txBody>
          <a:bodyPr wrap="square">
            <a:spAutoFit/>
          </a:bodyPr>
          <a:lstStyle/>
          <a:p>
            <a:r>
              <a:rPr sz="1400" i="1">
                <a:solidFill>
                  <a:srgbClr val="666666"/>
                </a:solidFill>
                <a:latin typeface="Calibri"/>
              </a:rPr>
              <a:t>Analyst asks a question in Teams; agent investigates against OpenCTI + GTI + the corpus; returns analyst-grade response.</a:t>
            </a:r>
          </a:p>
        </p:txBody>
      </p:sp>
      <p:sp>
        <p:nvSpPr>
          <p:cNvPr id="4" name="Rounded Rectangle 3"/>
          <p:cNvSpPr/>
          <p:nvPr/>
        </p:nvSpPr>
        <p:spPr>
          <a:xfrm>
            <a:off x="10058400" y="274320"/>
            <a:ext cx="1645920" cy="365760"/>
          </a:xfrm>
          <a:prstGeom prst="roundRect">
            <a:avLst/>
          </a:prstGeom>
          <a:solidFill>
            <a:srgbClr val="C87F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latin typeface="Calibri"/>
              </a:rPr>
              <a:t>DISCOVERY</a:t>
            </a:r>
          </a:p>
        </p:txBody>
      </p:sp>
      <p:sp>
        <p:nvSpPr>
          <p:cNvPr id="5" name="Rectangle 4"/>
          <p:cNvSpPr/>
          <p:nvPr/>
        </p:nvSpPr>
        <p:spPr>
          <a:xfrm>
            <a:off x="457200" y="1645920"/>
            <a:ext cx="11274552" cy="457200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1737360"/>
            <a:ext cx="11000232" cy="4389120"/>
          </a:xfrm>
          <a:prstGeom prst="rect">
            <a:avLst/>
          </a:prstGeom>
          <a:noFill/>
        </p:spPr>
        <p:txBody>
          <a:bodyPr wrap="square">
            <a:spAutoFit/>
          </a:bodyPr>
          <a:lstStyle/>
          <a:p>
            <a:pPr algn="l"/>
            <a:r>
              <a:rPr sz="1100">
                <a:solidFill>
                  <a:srgbClr val="333333"/>
                </a:solidFill>
                <a:latin typeface="Consolas"/>
              </a:rPr>
              <a:t>[Analyst]  /investigate UNC1549</a:t>
            </a:r>
          </a:p>
          <a:p>
            <a:pPr algn="l"/>
            <a:r>
              <a:rPr sz="1100">
                <a:solidFill>
                  <a:srgbClr val="333333"/>
                </a:solidFill>
                <a:latin typeface="Consolas"/>
              </a:rPr>
              <a:t> </a:t>
            </a:r>
          </a:p>
          <a:p>
            <a:pPr algn="l"/>
            <a:r>
              <a:rPr sz="1100">
                <a:solidFill>
                  <a:srgbClr val="333333"/>
                </a:solidFill>
                <a:latin typeface="Consolas"/>
              </a:rPr>
              <a:t>[Athena]</a:t>
            </a:r>
          </a:p>
          <a:p>
            <a:pPr algn="l"/>
            <a:r>
              <a:rPr sz="1100">
                <a:solidFill>
                  <a:srgbClr val="333333"/>
                </a:solidFill>
                <a:latin typeface="Consolas"/>
              </a:rPr>
              <a:t>UNC1549 — Iranian-cluster espionage actor (a.k.a. Smoke Sandstorm).</a:t>
            </a:r>
          </a:p>
          <a:p>
            <a:pPr algn="l"/>
            <a:r>
              <a:rPr sz="1100">
                <a:solidFill>
                  <a:srgbClr val="333333"/>
                </a:solidFill>
                <a:latin typeface="Consolas"/>
              </a:rPr>
              <a:t>Tracking since 2024. Last 90 days: 3 named A&amp;D victims (Mandiant</a:t>
            </a:r>
          </a:p>
          <a:p>
            <a:pPr algn="l"/>
            <a:r>
              <a:rPr sz="1100">
                <a:solidFill>
                  <a:srgbClr val="333333"/>
                </a:solidFill>
                <a:latin typeface="Consolas"/>
              </a:rPr>
              <a:t>2026-04-12, CrowdStrike 2026-04-28, MSTIC 2026-05-02).</a:t>
            </a:r>
          </a:p>
          <a:p>
            <a:pPr algn="l"/>
            <a:r>
              <a:rPr sz="1100">
                <a:solidFill>
                  <a:srgbClr val="333333"/>
                </a:solidFill>
                <a:latin typeface="Consolas"/>
              </a:rPr>
              <a:t> </a:t>
            </a:r>
          </a:p>
          <a:p>
            <a:pPr algn="l"/>
            <a:r>
              <a:rPr sz="1100">
                <a:solidFill>
                  <a:srgbClr val="333333"/>
                </a:solidFill>
                <a:latin typeface="Consolas"/>
              </a:rPr>
              <a:t>Threat-box scoring: HIGH (5.4 weighted) — Espionage HIGH (10),</a:t>
            </a:r>
          </a:p>
          <a:p>
            <a:pPr algn="l"/>
            <a:r>
              <a:rPr sz="1100">
                <a:solidFill>
                  <a:srgbClr val="333333"/>
                </a:solidFill>
                <a:latin typeface="Consolas"/>
              </a:rPr>
              <a:t>Supply Chain LOW, Destructive LOW, Disruptive LOW, Cyber-Crime LOW.</a:t>
            </a:r>
          </a:p>
          <a:p>
            <a:pPr algn="l"/>
            <a:r>
              <a:rPr sz="1100">
                <a:solidFill>
                  <a:srgbClr val="333333"/>
                </a:solidFill>
                <a:latin typeface="Consolas"/>
              </a:rPr>
              <a:t>Last /update-tracking: 2026-05-09.</a:t>
            </a:r>
          </a:p>
          <a:p>
            <a:pPr algn="l"/>
            <a:r>
              <a:rPr sz="1100">
                <a:solidFill>
                  <a:srgbClr val="333333"/>
                </a:solidFill>
                <a:latin typeface="Consolas"/>
              </a:rPr>
              <a:t> </a:t>
            </a:r>
          </a:p>
          <a:p>
            <a:pPr algn="l"/>
            <a:r>
              <a:rPr sz="1100">
                <a:solidFill>
                  <a:srgbClr val="333333"/>
                </a:solidFill>
                <a:latin typeface="Consolas"/>
              </a:rPr>
              <a:t>Current exposure in your environment:</a:t>
            </a:r>
          </a:p>
          <a:p>
            <a:pPr algn="l"/>
            <a:r>
              <a:rPr sz="1100">
                <a:solidFill>
                  <a:srgbClr val="333333"/>
                </a:solidFill>
                <a:latin typeface="Consolas"/>
              </a:rPr>
              <a:t>  • 0 confirmed IOC hits in Splunk -30d</a:t>
            </a:r>
          </a:p>
          <a:p>
            <a:pPr algn="l"/>
            <a:r>
              <a:rPr sz="1100">
                <a:solidFill>
                  <a:srgbClr val="333333"/>
                </a:solidFill>
                <a:latin typeface="Consolas"/>
              </a:rPr>
              <a:t>  • 4 CVEs tied to UNC1549 tradecraft; 2 unpatched on 11 assets</a:t>
            </a:r>
          </a:p>
          <a:p>
            <a:pPr algn="l"/>
            <a:r>
              <a:rPr sz="1100">
                <a:solidFill>
                  <a:srgbClr val="333333"/>
                </a:solidFill>
                <a:latin typeface="Consolas"/>
              </a:rPr>
              <a:t>  • GTI risk score: 84 (threat-actor entity)</a:t>
            </a:r>
          </a:p>
          <a:p>
            <a:pPr algn="l"/>
            <a:r>
              <a:rPr sz="1100">
                <a:solidFill>
                  <a:srgbClr val="333333"/>
                </a:solidFill>
                <a:latin typeface="Consolas"/>
              </a:rPr>
              <a:t> </a:t>
            </a:r>
          </a:p>
          <a:p>
            <a:pPr algn="l"/>
            <a:r>
              <a:rPr sz="1100">
                <a:solidFill>
                  <a:srgbClr val="333333"/>
                </a:solidFill>
                <a:latin typeface="Consolas"/>
              </a:rPr>
              <a:t>Action items proposed:</a:t>
            </a:r>
          </a:p>
          <a:p>
            <a:pPr algn="l"/>
            <a:r>
              <a:rPr sz="1100">
                <a:solidFill>
                  <a:srgbClr val="333333"/>
                </a:solidFill>
                <a:latin typeface="Consolas"/>
              </a:rPr>
              <a:t>  • Patch CVE-2026-XXXX on the 11 exposed assets (Vuln Mgmt)</a:t>
            </a:r>
          </a:p>
          <a:p>
            <a:pPr algn="l"/>
            <a:r>
              <a:rPr sz="1100">
                <a:solidFill>
                  <a:srgbClr val="333333"/>
                </a:solidFill>
                <a:latin typeface="Consolas"/>
              </a:rPr>
              <a:t>  • Confirm detection coverage for the named TTPs (SOC)</a:t>
            </a:r>
          </a:p>
          <a:p>
            <a:pPr algn="l"/>
            <a:r>
              <a:rPr sz="1100">
                <a:solidFill>
                  <a:srgbClr val="333333"/>
                </a:solidFill>
                <a:latin typeface="Consolas"/>
              </a:rPr>
              <a:t>  • Review UNC1549 dossier for any sector-specific update (Intel team)</a:t>
            </a:r>
          </a:p>
          <a:p>
            <a:pPr algn="l"/>
            <a:r>
              <a:rPr sz="1100">
                <a:solidFill>
                  <a:srgbClr val="333333"/>
                </a:solidFill>
                <a:latin typeface="Consolas"/>
              </a:rPr>
              <a:t> </a:t>
            </a:r>
          </a:p>
          <a:p>
            <a:pPr algn="l"/>
            <a:r>
              <a:rPr sz="1100">
                <a:solidFill>
                  <a:srgbClr val="333333"/>
                </a:solidFill>
                <a:latin typeface="Consolas"/>
              </a:rPr>
              <a:t>Sources cited: Mandiant 2026-04-12, CrowdStrike 2026-04-28, MSTIC</a:t>
            </a:r>
          </a:p>
          <a:p>
            <a:pPr algn="l"/>
            <a:r>
              <a:rPr sz="1100">
                <a:solidFill>
                  <a:srgbClr val="333333"/>
                </a:solidFill>
                <a:latin typeface="Consolas"/>
              </a:rPr>
              <a:t>2026-05-02, internal /update-tracking 2026-05-09.</a:t>
            </a:r>
          </a:p>
          <a:p>
            <a:pPr algn="l"/>
            <a:r>
              <a:rPr sz="1100">
                <a:solidFill>
                  <a:srgbClr val="333333"/>
                </a:solidFill>
                <a:latin typeface="Consolas"/>
              </a:rPr>
              <a:t> </a:t>
            </a:r>
          </a:p>
          <a:p>
            <a:pPr algn="l"/>
            <a:r>
              <a:rPr sz="1100">
                <a:solidFill>
                  <a:srgbClr val="333333"/>
                </a:solidFill>
                <a:latin typeface="Consolas"/>
              </a:rPr>
              <a:t>[Analyst]  /report UNC1549 last 30 days</a:t>
            </a:r>
          </a:p>
          <a:p>
            <a:pPr algn="l"/>
            <a:r>
              <a:rPr sz="1100">
                <a:solidFill>
                  <a:srgbClr val="333333"/>
                </a:solidFill>
                <a:latin typeface="Consolas"/>
              </a:rPr>
              <a:t> </a:t>
            </a:r>
          </a:p>
          <a:p>
            <a:pPr algn="l"/>
            <a:r>
              <a:rPr sz="1100">
                <a:solidFill>
                  <a:srgbClr val="333333"/>
                </a:solidFill>
                <a:latin typeface="Consolas"/>
              </a:rPr>
              <a:t>[Athena]</a:t>
            </a:r>
          </a:p>
          <a:p>
            <a:pPr algn="l"/>
            <a:r>
              <a:rPr sz="1100">
                <a:solidFill>
                  <a:srgbClr val="333333"/>
                </a:solidFill>
                <a:latin typeface="Consolas"/>
              </a:rPr>
              <a:t>Generating threat report from OpenCTI + GTI corpus...</a:t>
            </a:r>
          </a:p>
          <a:p>
            <a:pPr algn="l"/>
            <a:r>
              <a:rPr sz="1100">
                <a:solidFill>
                  <a:srgbClr val="333333"/>
                </a:solidFill>
                <a:latin typeface="Consolas"/>
              </a:rPr>
              <a:t>[returns Layer-1 markdown brief with full source citations]</a:t>
            </a:r>
          </a:p>
          <a:p>
            <a:pPr algn="l"/>
            <a:r>
              <a:rPr sz="1100">
                <a:solidFill>
                  <a:srgbClr val="333333"/>
                </a:solidFill>
                <a:latin typeface="Consolas"/>
              </a:rPr>
              <a:t> </a:t>
            </a:r>
          </a:p>
        </p:txBody>
      </p:sp>
      <p:sp>
        <p:nvSpPr>
          <p:cNvPr id="7" name="TextBox 6"/>
          <p:cNvSpPr txBox="1"/>
          <p:nvPr/>
        </p:nvSpPr>
        <p:spPr>
          <a:xfrm>
            <a:off x="457200" y="6400800"/>
            <a:ext cx="11274552" cy="274320"/>
          </a:xfrm>
          <a:prstGeom prst="rect">
            <a:avLst/>
          </a:prstGeom>
          <a:noFill/>
        </p:spPr>
        <p:txBody>
          <a:bodyPr wrap="none">
            <a:spAutoFit/>
          </a:bodyPr>
          <a:lstStyle/>
          <a:p>
            <a:pPr algn="l"/>
            <a:r>
              <a:rPr sz="900" i="1">
                <a:solidFill>
                  <a:srgbClr val="666666"/>
                </a:solidFill>
                <a:latin typeface="Calibri"/>
              </a:rPr>
              <a:t>Athena · Discovery Proposal · 2026</a:t>
            </a:r>
          </a:p>
        </p:txBody>
      </p:sp>
      <p:sp>
        <p:nvSpPr>
          <p:cNvPr id="8" name="TextBox 7"/>
          <p:cNvSpPr txBox="1"/>
          <p:nvPr/>
        </p:nvSpPr>
        <p:spPr>
          <a:xfrm>
            <a:off x="10515600" y="6400800"/>
            <a:ext cx="1188720" cy="274320"/>
          </a:xfrm>
          <a:prstGeom prst="rect">
            <a:avLst/>
          </a:prstGeom>
          <a:noFill/>
        </p:spPr>
        <p:txBody>
          <a:bodyPr wrap="none">
            <a:spAutoFit/>
          </a:bodyPr>
          <a:lstStyle/>
          <a:p>
            <a:pPr algn="r"/>
            <a:r>
              <a:rPr sz="900">
                <a:solidFill>
                  <a:srgbClr val="666666"/>
                </a:solidFill>
                <a:latin typeface="Calibri"/>
              </a:rPr>
              <a:t>11 / 19</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4552" cy="640080"/>
          </a:xfrm>
          <a:prstGeom prst="rect">
            <a:avLst/>
          </a:prstGeom>
          <a:noFill/>
        </p:spPr>
        <p:txBody>
          <a:bodyPr wrap="square">
            <a:spAutoFit/>
          </a:bodyPr>
          <a:lstStyle/>
          <a:p>
            <a:pPr algn="l"/>
            <a:r>
              <a:rPr sz="3000" b="1">
                <a:solidFill>
                  <a:srgbClr val="1F3A5F"/>
                </a:solidFill>
                <a:latin typeface="Calibri"/>
              </a:rPr>
              <a:t>Automated response playbooks — proposed integration shape</a:t>
            </a:r>
          </a:p>
        </p:txBody>
      </p:sp>
      <p:sp>
        <p:nvSpPr>
          <p:cNvPr id="3" name="TextBox 2"/>
          <p:cNvSpPr txBox="1"/>
          <p:nvPr/>
        </p:nvSpPr>
        <p:spPr>
          <a:xfrm>
            <a:off x="457200" y="914400"/>
            <a:ext cx="11274552" cy="457200"/>
          </a:xfrm>
          <a:prstGeom prst="rect">
            <a:avLst/>
          </a:prstGeom>
          <a:noFill/>
        </p:spPr>
        <p:txBody>
          <a:bodyPr wrap="square">
            <a:spAutoFit/>
          </a:bodyPr>
          <a:lstStyle/>
          <a:p>
            <a:r>
              <a:rPr sz="1400" i="1">
                <a:solidFill>
                  <a:srgbClr val="666666"/>
                </a:solidFill>
                <a:latin typeface="Calibri"/>
              </a:rPr>
              <a:t>Agent posts; your SOAR orchestrates; result feeds back. Two webhooks each direction.</a:t>
            </a:r>
          </a:p>
        </p:txBody>
      </p:sp>
      <p:sp>
        <p:nvSpPr>
          <p:cNvPr id="4" name="Rounded Rectangle 3"/>
          <p:cNvSpPr/>
          <p:nvPr/>
        </p:nvSpPr>
        <p:spPr>
          <a:xfrm>
            <a:off x="10058400" y="274320"/>
            <a:ext cx="1645920" cy="365760"/>
          </a:xfrm>
          <a:prstGeom prst="roundRect">
            <a:avLst/>
          </a:prstGeom>
          <a:solidFill>
            <a:srgbClr val="C87F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latin typeface="Calibri"/>
              </a:rPr>
              <a:t>DISCOVERY</a:t>
            </a:r>
          </a:p>
        </p:txBody>
      </p:sp>
      <p:sp>
        <p:nvSpPr>
          <p:cNvPr id="5" name="Rectangle 4"/>
          <p:cNvSpPr/>
          <p:nvPr/>
        </p:nvSpPr>
        <p:spPr>
          <a:xfrm>
            <a:off x="426567" y="1737360"/>
            <a:ext cx="2560320" cy="4572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tIns="91440"/>
          <a:lstStyle/>
          <a:p>
            <a:pPr algn="ctr"/>
            <a:r>
              <a:rPr sz="1200" b="1">
                <a:solidFill>
                  <a:srgbClr val="FFFFFF"/>
                </a:solidFill>
                <a:latin typeface="Calibri"/>
              </a:rPr>
              <a:t>Athena</a:t>
            </a:r>
          </a:p>
        </p:txBody>
      </p:sp>
      <p:sp>
        <p:nvSpPr>
          <p:cNvPr id="6" name="Rectangle 5"/>
          <p:cNvSpPr/>
          <p:nvPr/>
        </p:nvSpPr>
        <p:spPr>
          <a:xfrm>
            <a:off x="3352647" y="1737360"/>
            <a:ext cx="2560320" cy="457200"/>
          </a:xfrm>
          <a:prstGeom prst="rect">
            <a:avLst/>
          </a:prstGeom>
          <a:solidFill>
            <a:srgbClr val="4A90E2"/>
          </a:solidFill>
          <a:ln>
            <a:noFill/>
          </a:ln>
        </p:spPr>
        <p:style>
          <a:lnRef idx="1">
            <a:schemeClr val="accent1"/>
          </a:lnRef>
          <a:fillRef idx="3">
            <a:schemeClr val="accent1"/>
          </a:fillRef>
          <a:effectRef idx="2">
            <a:schemeClr val="accent1"/>
          </a:effectRef>
          <a:fontRef idx="minor">
            <a:schemeClr val="lt1"/>
          </a:fontRef>
        </p:style>
        <p:txBody>
          <a:bodyPr rtlCol="0" anchor="ctr" tIns="91440"/>
          <a:lstStyle/>
          <a:p>
            <a:pPr algn="ctr"/>
            <a:r>
              <a:rPr sz="1200" b="1">
                <a:solidFill>
                  <a:srgbClr val="FFFFFF"/>
                </a:solidFill>
                <a:latin typeface="Calibri"/>
              </a:rPr>
              <a:t>SOAR (your tool)</a:t>
            </a:r>
          </a:p>
        </p:txBody>
      </p:sp>
      <p:sp>
        <p:nvSpPr>
          <p:cNvPr id="7" name="Rectangle 6"/>
          <p:cNvSpPr/>
          <p:nvPr/>
        </p:nvSpPr>
        <p:spPr>
          <a:xfrm>
            <a:off x="6278727" y="1737360"/>
            <a:ext cx="2560320" cy="457200"/>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tIns="91440"/>
          <a:lstStyle/>
          <a:p>
            <a:pPr algn="ctr"/>
            <a:r>
              <a:rPr sz="1200" b="1">
                <a:solidFill>
                  <a:srgbClr val="FFFFFF"/>
                </a:solidFill>
                <a:latin typeface="Calibri"/>
              </a:rPr>
              <a:t>Splunk + CMDB</a:t>
            </a:r>
          </a:p>
        </p:txBody>
      </p:sp>
      <p:sp>
        <p:nvSpPr>
          <p:cNvPr id="8" name="Rectangle 7"/>
          <p:cNvSpPr/>
          <p:nvPr/>
        </p:nvSpPr>
        <p:spPr>
          <a:xfrm>
            <a:off x="9204807" y="1737360"/>
            <a:ext cx="2560320" cy="4572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tIns="91440"/>
          <a:lstStyle/>
          <a:p>
            <a:pPr algn="ctr"/>
            <a:r>
              <a:rPr sz="1200" b="1">
                <a:solidFill>
                  <a:srgbClr val="FFFFFF"/>
                </a:solidFill>
                <a:latin typeface="Calibri"/>
              </a:rPr>
              <a:t>Athena corpus</a:t>
            </a:r>
          </a:p>
        </p:txBody>
      </p:sp>
      <p:sp>
        <p:nvSpPr>
          <p:cNvPr id="9" name="TextBox 8"/>
          <p:cNvSpPr txBox="1"/>
          <p:nvPr/>
        </p:nvSpPr>
        <p:spPr>
          <a:xfrm>
            <a:off x="457200" y="2560320"/>
            <a:ext cx="11274552" cy="3200400"/>
          </a:xfrm>
          <a:prstGeom prst="rect">
            <a:avLst/>
          </a:prstGeom>
          <a:noFill/>
        </p:spPr>
        <p:txBody>
          <a:bodyPr wrap="square">
            <a:spAutoFit/>
          </a:bodyPr>
          <a:lstStyle/>
          <a:p>
            <a:pPr>
              <a:lnSpc>
                <a:spcPct val="130000"/>
              </a:lnSpc>
              <a:spcBef>
                <a:spcPts val="600"/>
              </a:spcBef>
            </a:pPr>
            <a:r>
              <a:rPr sz="1300">
                <a:solidFill>
                  <a:srgbClr val="333333"/>
                </a:solidFill>
                <a:latin typeface="Calibri"/>
              </a:rPr>
              <a:t>1. FLASH triggers — Athena graded CVE-2026-XXXX as A1 + active exploitation + 4 exposed assets</a:t>
            </a:r>
          </a:p>
          <a:p>
            <a:pPr>
              <a:lnSpc>
                <a:spcPct val="130000"/>
              </a:lnSpc>
              <a:spcBef>
                <a:spcPts val="600"/>
              </a:spcBef>
            </a:pPr>
            <a:r>
              <a:rPr sz="1300">
                <a:solidFill>
                  <a:srgbClr val="333333"/>
                </a:solidFill>
                <a:latin typeface="Calibri"/>
              </a:rPr>
              <a:t>2. Athena POSTs webhook to SOAR with finding-id, IOCs, CMDB asset list, suggested playbook</a:t>
            </a:r>
          </a:p>
          <a:p>
            <a:pPr>
              <a:lnSpc>
                <a:spcPct val="130000"/>
              </a:lnSpc>
              <a:spcBef>
                <a:spcPts val="600"/>
              </a:spcBef>
            </a:pPr>
            <a:r>
              <a:rPr sz="1300">
                <a:solidFill>
                  <a:srgbClr val="333333"/>
                </a:solidFill>
                <a:latin typeface="Calibri"/>
              </a:rPr>
              <a:t>3. SOAR runs playbook — quarantine VLAN, force patch, page on-call, open ServiceNow ticket</a:t>
            </a:r>
          </a:p>
          <a:p>
            <a:pPr>
              <a:lnSpc>
                <a:spcPct val="130000"/>
              </a:lnSpc>
              <a:spcBef>
                <a:spcPts val="600"/>
              </a:spcBef>
            </a:pPr>
            <a:r>
              <a:rPr sz="1300">
                <a:solidFill>
                  <a:srgbClr val="333333"/>
                </a:solidFill>
                <a:latin typeface="Calibri"/>
              </a:rPr>
              <a:t>4. SOAR POSTs result back to Athena — playbook id, action results, ticket ref</a:t>
            </a:r>
          </a:p>
          <a:p>
            <a:pPr>
              <a:lnSpc>
                <a:spcPct val="130000"/>
              </a:lnSpc>
              <a:spcBef>
                <a:spcPts val="600"/>
              </a:spcBef>
            </a:pPr>
            <a:r>
              <a:rPr sz="1300">
                <a:solidFill>
                  <a:srgbClr val="333333"/>
                </a:solidFill>
                <a:latin typeface="Calibri"/>
              </a:rPr>
              <a:t>5. Athena writes outcome to corpus — finding now carries response-action provenance</a:t>
            </a:r>
          </a:p>
          <a:p>
            <a:pPr>
              <a:lnSpc>
                <a:spcPct val="130000"/>
              </a:lnSpc>
              <a:spcBef>
                <a:spcPts val="600"/>
              </a:spcBef>
            </a:pPr>
            <a:r>
              <a:rPr sz="1300">
                <a:solidFill>
                  <a:srgbClr val="333333"/>
                </a:solidFill>
                <a:latin typeface="Calibri"/>
              </a:rPr>
              <a:t>6. Next brief surfaces the closed-loop event under 'Recent activity / closed actions'</a:t>
            </a:r>
          </a:p>
        </p:txBody>
      </p:sp>
      <p:sp>
        <p:nvSpPr>
          <p:cNvPr id="10" name="Rounded Rectangle 9"/>
          <p:cNvSpPr/>
          <p:nvPr/>
        </p:nvSpPr>
        <p:spPr>
          <a:xfrm>
            <a:off x="457200" y="5760720"/>
            <a:ext cx="11274552" cy="548640"/>
          </a:xfrm>
          <a:prstGeom prst="roundRect">
            <a:avLst/>
          </a:prstGeom>
          <a:solidFill>
            <a:srgbClr val="FEF6E7"/>
          </a:solidFill>
          <a:ln w="19050">
            <a:solidFill>
              <a:srgbClr val="C87F0A"/>
            </a:solidFill>
          </a:ln>
        </p:spPr>
        <p:style>
          <a:lnRef idx="1">
            <a:schemeClr val="accent1"/>
          </a:lnRef>
          <a:fillRef idx="3">
            <a:schemeClr val="accent1"/>
          </a:fillRef>
          <a:effectRef idx="2">
            <a:schemeClr val="accent1"/>
          </a:effectRef>
          <a:fontRef idx="minor">
            <a:schemeClr val="lt1"/>
          </a:fontRef>
        </p:style>
        <p:txBody>
          <a:bodyPr rtlCol="0" anchor="ctr" tIns="109728"/>
          <a:lstStyle/>
          <a:p>
            <a:pPr algn="ctr"/>
            <a:r>
              <a:rPr sz="1100" i="1">
                <a:solidFill>
                  <a:srgbClr val="333333"/>
                </a:solidFill>
                <a:latin typeface="Calibri"/>
              </a:rPr>
              <a:t>Validation needed: which SOAR (Tines / Torq / ServiceNow SecOps / Splunk SOAR / other), playbook catalog, auth/auth model for the webhooks, change-management approval path for automated actions.</a:t>
            </a:r>
          </a:p>
        </p:txBody>
      </p:sp>
      <p:sp>
        <p:nvSpPr>
          <p:cNvPr id="11" name="TextBox 10"/>
          <p:cNvSpPr txBox="1"/>
          <p:nvPr/>
        </p:nvSpPr>
        <p:spPr>
          <a:xfrm>
            <a:off x="457200" y="6400800"/>
            <a:ext cx="11274552" cy="274320"/>
          </a:xfrm>
          <a:prstGeom prst="rect">
            <a:avLst/>
          </a:prstGeom>
          <a:noFill/>
        </p:spPr>
        <p:txBody>
          <a:bodyPr wrap="none">
            <a:spAutoFit/>
          </a:bodyPr>
          <a:lstStyle/>
          <a:p>
            <a:pPr algn="l"/>
            <a:r>
              <a:rPr sz="900" i="1">
                <a:solidFill>
                  <a:srgbClr val="666666"/>
                </a:solidFill>
                <a:latin typeface="Calibri"/>
              </a:rPr>
              <a:t>Athena · Discovery Proposal · 2026</a:t>
            </a:r>
          </a:p>
        </p:txBody>
      </p:sp>
      <p:sp>
        <p:nvSpPr>
          <p:cNvPr id="12" name="TextBox 11"/>
          <p:cNvSpPr txBox="1"/>
          <p:nvPr/>
        </p:nvSpPr>
        <p:spPr>
          <a:xfrm>
            <a:off x="10515600" y="6400800"/>
            <a:ext cx="1188720" cy="274320"/>
          </a:xfrm>
          <a:prstGeom prst="rect">
            <a:avLst/>
          </a:prstGeom>
          <a:noFill/>
        </p:spPr>
        <p:txBody>
          <a:bodyPr wrap="none">
            <a:spAutoFit/>
          </a:bodyPr>
          <a:lstStyle/>
          <a:p>
            <a:pPr algn="r"/>
            <a:r>
              <a:rPr sz="900">
                <a:solidFill>
                  <a:srgbClr val="666666"/>
                </a:solidFill>
                <a:latin typeface="Calibri"/>
              </a:rPr>
              <a:t>12 / 19</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4552" cy="640080"/>
          </a:xfrm>
          <a:prstGeom prst="rect">
            <a:avLst/>
          </a:prstGeom>
          <a:noFill/>
        </p:spPr>
        <p:txBody>
          <a:bodyPr wrap="square">
            <a:spAutoFit/>
          </a:bodyPr>
          <a:lstStyle/>
          <a:p>
            <a:pPr algn="l"/>
            <a:r>
              <a:rPr sz="3000" b="1">
                <a:solidFill>
                  <a:srgbClr val="1F3A5F"/>
                </a:solidFill>
                <a:latin typeface="Calibri"/>
              </a:rPr>
              <a:t>Architecture sketch — proposed</a:t>
            </a:r>
          </a:p>
        </p:txBody>
      </p:sp>
      <p:sp>
        <p:nvSpPr>
          <p:cNvPr id="3" name="TextBox 2"/>
          <p:cNvSpPr txBox="1"/>
          <p:nvPr/>
        </p:nvSpPr>
        <p:spPr>
          <a:xfrm>
            <a:off x="457200" y="914400"/>
            <a:ext cx="11274552" cy="457200"/>
          </a:xfrm>
          <a:prstGeom prst="rect">
            <a:avLst/>
          </a:prstGeom>
          <a:noFill/>
        </p:spPr>
        <p:txBody>
          <a:bodyPr wrap="square">
            <a:spAutoFit/>
          </a:bodyPr>
          <a:lstStyle/>
          <a:p>
            <a:r>
              <a:rPr sz="1400" i="1">
                <a:solidFill>
                  <a:srgbClr val="666666"/>
                </a:solidFill>
                <a:latin typeface="Calibri"/>
              </a:rPr>
              <a:t>Starting point. Component layout. Discovery validates the integration paths.</a:t>
            </a:r>
          </a:p>
        </p:txBody>
      </p:sp>
      <p:sp>
        <p:nvSpPr>
          <p:cNvPr id="4" name="Rounded Rectangle 3"/>
          <p:cNvSpPr/>
          <p:nvPr/>
        </p:nvSpPr>
        <p:spPr>
          <a:xfrm>
            <a:off x="10058400" y="274320"/>
            <a:ext cx="1645920" cy="365760"/>
          </a:xfrm>
          <a:prstGeom prst="roundRect">
            <a:avLst/>
          </a:prstGeom>
          <a:solidFill>
            <a:srgbClr val="C87F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latin typeface="Calibri"/>
              </a:rPr>
              <a:t>DISCOVERY</a:t>
            </a:r>
          </a:p>
        </p:txBody>
      </p:sp>
      <p:sp>
        <p:nvSpPr>
          <p:cNvPr id="5" name="Rounded Rectangle 4"/>
          <p:cNvSpPr/>
          <p:nvPr/>
        </p:nvSpPr>
        <p:spPr>
          <a:xfrm>
            <a:off x="5212080" y="1554480"/>
            <a:ext cx="1828800" cy="548640"/>
          </a:xfrm>
          <a:prstGeom prst="roundRect">
            <a:avLst/>
          </a:prstGeom>
          <a:solidFill>
            <a:srgbClr val="1F3A5F"/>
          </a:solidFill>
          <a:ln w="25400">
            <a:solidFill>
              <a:srgbClr val="1F3A5F"/>
            </a:solidFill>
          </a:ln>
        </p:spPr>
        <p:style>
          <a:lnRef idx="1">
            <a:schemeClr val="accent1"/>
          </a:lnRef>
          <a:fillRef idx="3">
            <a:schemeClr val="accent1"/>
          </a:fillRef>
          <a:effectRef idx="2">
            <a:schemeClr val="accent1"/>
          </a:effectRef>
          <a:fontRef idx="minor">
            <a:schemeClr val="lt1"/>
          </a:fontRef>
        </p:style>
        <p:txBody>
          <a:bodyPr rtlCol="0" anchor="ctr" tIns="73152"/>
          <a:lstStyle/>
          <a:p>
            <a:pPr algn="ctr"/>
            <a:r>
              <a:rPr sz="1300" b="1">
                <a:solidFill>
                  <a:srgbClr val="FFFFFF"/>
                </a:solidFill>
                <a:latin typeface="Calibri"/>
              </a:rPr>
              <a:t>Claude (Athena)</a:t>
            </a:r>
          </a:p>
        </p:txBody>
      </p:sp>
      <p:sp>
        <p:nvSpPr>
          <p:cNvPr id="6" name="Rectangle 5"/>
          <p:cNvSpPr/>
          <p:nvPr/>
        </p:nvSpPr>
        <p:spPr>
          <a:xfrm>
            <a:off x="457200" y="1554480"/>
            <a:ext cx="2377440" cy="548640"/>
          </a:xfrm>
          <a:prstGeom prst="rect">
            <a:avLst/>
          </a:prstGeom>
          <a:solidFill>
            <a:srgbClr val="F5F5F5"/>
          </a:solidFill>
          <a:ln w="19050">
            <a:solidFill>
              <a:srgbClr val="4A90E2"/>
            </a:solidFill>
          </a:ln>
        </p:spPr>
        <p:style>
          <a:lnRef idx="1">
            <a:schemeClr val="accent1"/>
          </a:lnRef>
          <a:fillRef idx="3">
            <a:schemeClr val="accent1"/>
          </a:fillRef>
          <a:effectRef idx="2">
            <a:schemeClr val="accent1"/>
          </a:effectRef>
          <a:fontRef idx="minor">
            <a:schemeClr val="lt1"/>
          </a:fontRef>
        </p:style>
        <p:txBody>
          <a:bodyPr rtlCol="0" anchor="ctr" tIns="73152"/>
          <a:lstStyle/>
          <a:p>
            <a:pPr algn="ctr"/>
            <a:r>
              <a:rPr sz="1200" b="1">
                <a:solidFill>
                  <a:srgbClr val="4A90E2"/>
                </a:solidFill>
                <a:latin typeface="Calibri"/>
              </a:rPr>
              <a:t>Intel inputs</a:t>
            </a:r>
          </a:p>
        </p:txBody>
      </p:sp>
      <p:sp>
        <p:nvSpPr>
          <p:cNvPr id="7" name="TextBox 6"/>
          <p:cNvSpPr txBox="1"/>
          <p:nvPr/>
        </p:nvSpPr>
        <p:spPr>
          <a:xfrm>
            <a:off x="457200" y="2148840"/>
            <a:ext cx="2377440" cy="457200"/>
          </a:xfrm>
          <a:prstGeom prst="rect">
            <a:avLst/>
          </a:prstGeom>
          <a:noFill/>
        </p:spPr>
        <p:txBody>
          <a:bodyPr wrap="square">
            <a:spAutoFit/>
          </a:bodyPr>
          <a:lstStyle/>
          <a:p>
            <a:pPr algn="ctr"/>
            <a:r>
              <a:rPr sz="900">
                <a:solidFill>
                  <a:srgbClr val="666666"/>
                </a:solidFill>
                <a:latin typeface="Calibri"/>
              </a:rPr>
              <a:t>OpenCTI · Mandiant GTI
RSS · vendor blogs · Splunk</a:t>
            </a:r>
          </a:p>
        </p:txBody>
      </p:sp>
      <p:sp>
        <p:nvSpPr>
          <p:cNvPr id="8" name="Rectangle 7"/>
          <p:cNvSpPr/>
          <p:nvPr/>
        </p:nvSpPr>
        <p:spPr>
          <a:xfrm>
            <a:off x="9326880" y="1554480"/>
            <a:ext cx="2377440" cy="548640"/>
          </a:xfrm>
          <a:prstGeom prst="rect">
            <a:avLst/>
          </a:prstGeom>
          <a:solidFill>
            <a:srgbClr val="F5F5F5"/>
          </a:solidFill>
          <a:ln w="19050">
            <a:solidFill>
              <a:srgbClr val="2E7D32"/>
            </a:solidFill>
          </a:ln>
        </p:spPr>
        <p:style>
          <a:lnRef idx="1">
            <a:schemeClr val="accent1"/>
          </a:lnRef>
          <a:fillRef idx="3">
            <a:schemeClr val="accent1"/>
          </a:fillRef>
          <a:effectRef idx="2">
            <a:schemeClr val="accent1"/>
          </a:effectRef>
          <a:fontRef idx="minor">
            <a:schemeClr val="lt1"/>
          </a:fontRef>
        </p:style>
        <p:txBody>
          <a:bodyPr rtlCol="0" anchor="ctr" tIns="73152"/>
          <a:lstStyle/>
          <a:p>
            <a:pPr algn="ctr"/>
            <a:r>
              <a:rPr sz="1200" b="1">
                <a:solidFill>
                  <a:srgbClr val="2E7D32"/>
                </a:solidFill>
                <a:latin typeface="Calibri"/>
              </a:rPr>
              <a:t>Outputs</a:t>
            </a:r>
          </a:p>
        </p:txBody>
      </p:sp>
      <p:sp>
        <p:nvSpPr>
          <p:cNvPr id="9" name="TextBox 8"/>
          <p:cNvSpPr txBox="1"/>
          <p:nvPr/>
        </p:nvSpPr>
        <p:spPr>
          <a:xfrm>
            <a:off x="9326880" y="2148840"/>
            <a:ext cx="2377440" cy="457200"/>
          </a:xfrm>
          <a:prstGeom prst="rect">
            <a:avLst/>
          </a:prstGeom>
          <a:noFill/>
        </p:spPr>
        <p:txBody>
          <a:bodyPr wrap="square">
            <a:spAutoFit/>
          </a:bodyPr>
          <a:lstStyle/>
          <a:p>
            <a:pPr algn="ctr"/>
            <a:r>
              <a:rPr sz="900">
                <a:solidFill>
                  <a:srgbClr val="666666"/>
                </a:solidFill>
                <a:latin typeface="Calibri"/>
              </a:rPr>
              <a:t>Teams · Dashboard
SOAR webhooks · audit log</a:t>
            </a:r>
          </a:p>
        </p:txBody>
      </p:sp>
      <p:cxnSp>
        <p:nvCxnSpPr>
          <p:cNvPr id="10" name="Connector 9"/>
          <p:cNvCxnSpPr/>
          <p:nvPr/>
        </p:nvCxnSpPr>
        <p:spPr>
          <a:xfrm>
            <a:off x="2834640" y="1828800"/>
            <a:ext cx="2377440" cy="0"/>
          </a:xfrm>
          <a:prstGeom prst="line">
            <a:avLst/>
          </a:prstGeom>
          <a:ln w="19050">
            <a:solidFill>
              <a:srgbClr val="333333"/>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040880" y="1828800"/>
            <a:ext cx="2286000" cy="0"/>
          </a:xfrm>
          <a:prstGeom prst="line">
            <a:avLst/>
          </a:prstGeom>
          <a:ln w="19050">
            <a:solidFill>
              <a:srgbClr val="333333"/>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472287" y="3200400"/>
            <a:ext cx="1325880" cy="868680"/>
          </a:xfrm>
          <a:prstGeom prst="roundRect">
            <a:avLst/>
          </a:prstGeom>
          <a:solidFill>
            <a:srgbClr val="FFFFFF"/>
          </a:solidFill>
          <a:ln w="15240">
            <a:solidFill>
              <a:srgbClr val="4A90E2"/>
            </a:solidFill>
          </a:ln>
        </p:spPr>
        <p:style>
          <a:lnRef idx="1">
            <a:schemeClr val="accent1"/>
          </a:lnRef>
          <a:fillRef idx="3">
            <a:schemeClr val="accent1"/>
          </a:fillRef>
          <a:effectRef idx="2">
            <a:schemeClr val="accent1"/>
          </a:effectRef>
          <a:fontRef idx="minor">
            <a:schemeClr val="lt1"/>
          </a:fontRef>
        </p:style>
        <p:txBody>
          <a:bodyPr rtlCol="0" anchor="ctr" tIns="73152" wrap="square"/>
          <a:lstStyle/>
          <a:p>
            <a:pPr algn="ctr"/>
            <a:r>
              <a:rPr sz="1100" b="1">
                <a:solidFill>
                  <a:srgbClr val="1F3A5F"/>
                </a:solidFill>
                <a:latin typeface="Calibri"/>
              </a:rPr>
              <a:t>collector</a:t>
            </a:r>
          </a:p>
          <a:p>
            <a:pPr algn="ctr"/>
            <a:r>
              <a:rPr sz="800" i="1">
                <a:solidFill>
                  <a:srgbClr val="666666"/>
                </a:solidFill>
                <a:latin typeface="Calibri"/>
              </a:rPr>
              <a:t>ingest + filter</a:t>
            </a:r>
          </a:p>
        </p:txBody>
      </p:sp>
      <p:sp>
        <p:nvSpPr>
          <p:cNvPr id="13" name="Rounded Rectangle 12"/>
          <p:cNvSpPr/>
          <p:nvPr/>
        </p:nvSpPr>
        <p:spPr>
          <a:xfrm>
            <a:off x="1889607" y="3200400"/>
            <a:ext cx="1325880" cy="868680"/>
          </a:xfrm>
          <a:prstGeom prst="roundRect">
            <a:avLst/>
          </a:prstGeom>
          <a:solidFill>
            <a:srgbClr val="FFFFFF"/>
          </a:solidFill>
          <a:ln w="15240">
            <a:solidFill>
              <a:srgbClr val="4A90E2"/>
            </a:solidFill>
          </a:ln>
        </p:spPr>
        <p:style>
          <a:lnRef idx="1">
            <a:schemeClr val="accent1"/>
          </a:lnRef>
          <a:fillRef idx="3">
            <a:schemeClr val="accent1"/>
          </a:fillRef>
          <a:effectRef idx="2">
            <a:schemeClr val="accent1"/>
          </a:effectRef>
          <a:fontRef idx="minor">
            <a:schemeClr val="lt1"/>
          </a:fontRef>
        </p:style>
        <p:txBody>
          <a:bodyPr rtlCol="0" anchor="ctr" tIns="73152" wrap="square"/>
          <a:lstStyle/>
          <a:p>
            <a:pPr algn="ctr"/>
            <a:r>
              <a:rPr sz="1100" b="1">
                <a:solidFill>
                  <a:srgbClr val="1F3A5F"/>
                </a:solidFill>
                <a:latin typeface="Calibri"/>
              </a:rPr>
              <a:t>grader</a:t>
            </a:r>
          </a:p>
          <a:p>
            <a:pPr algn="ctr"/>
            <a:r>
              <a:rPr sz="800" i="1">
                <a:solidFill>
                  <a:srgbClr val="666666"/>
                </a:solidFill>
                <a:latin typeface="Calibri"/>
              </a:rPr>
              <a:t>Admiralty + WEP</a:t>
            </a:r>
          </a:p>
        </p:txBody>
      </p:sp>
      <p:sp>
        <p:nvSpPr>
          <p:cNvPr id="14" name="Rounded Rectangle 13"/>
          <p:cNvSpPr/>
          <p:nvPr/>
        </p:nvSpPr>
        <p:spPr>
          <a:xfrm>
            <a:off x="3306927" y="3200400"/>
            <a:ext cx="1325880" cy="868680"/>
          </a:xfrm>
          <a:prstGeom prst="roundRect">
            <a:avLst/>
          </a:prstGeom>
          <a:solidFill>
            <a:srgbClr val="FFFFFF"/>
          </a:solidFill>
          <a:ln w="15240">
            <a:solidFill>
              <a:srgbClr val="4A90E2"/>
            </a:solidFill>
          </a:ln>
        </p:spPr>
        <p:style>
          <a:lnRef idx="1">
            <a:schemeClr val="accent1"/>
          </a:lnRef>
          <a:fillRef idx="3">
            <a:schemeClr val="accent1"/>
          </a:fillRef>
          <a:effectRef idx="2">
            <a:schemeClr val="accent1"/>
          </a:effectRef>
          <a:fontRef idx="minor">
            <a:schemeClr val="lt1"/>
          </a:fontRef>
        </p:style>
        <p:txBody>
          <a:bodyPr rtlCol="0" anchor="ctr" tIns="73152" wrap="square"/>
          <a:lstStyle/>
          <a:p>
            <a:pPr algn="ctr"/>
            <a:r>
              <a:rPr sz="1100" b="1">
                <a:solidFill>
                  <a:srgbClr val="1F3A5F"/>
                </a:solidFill>
                <a:latin typeface="Calibri"/>
              </a:rPr>
              <a:t>analyst</a:t>
            </a:r>
          </a:p>
          <a:p>
            <a:pPr algn="ctr"/>
            <a:r>
              <a:rPr sz="800" i="1">
                <a:solidFill>
                  <a:srgbClr val="666666"/>
                </a:solidFill>
                <a:latin typeface="Calibri"/>
              </a:rPr>
              <a:t>SAT / ACH / KAC</a:t>
            </a:r>
          </a:p>
        </p:txBody>
      </p:sp>
      <p:sp>
        <p:nvSpPr>
          <p:cNvPr id="15" name="Rounded Rectangle 14"/>
          <p:cNvSpPr/>
          <p:nvPr/>
        </p:nvSpPr>
        <p:spPr>
          <a:xfrm>
            <a:off x="4724247" y="3200400"/>
            <a:ext cx="1325880" cy="868680"/>
          </a:xfrm>
          <a:prstGeom prst="roundRect">
            <a:avLst/>
          </a:prstGeom>
          <a:solidFill>
            <a:srgbClr val="FFFFFF"/>
          </a:solidFill>
          <a:ln w="15240">
            <a:solidFill>
              <a:srgbClr val="4A90E2"/>
            </a:solidFill>
          </a:ln>
        </p:spPr>
        <p:style>
          <a:lnRef idx="1">
            <a:schemeClr val="accent1"/>
          </a:lnRef>
          <a:fillRef idx="3">
            <a:schemeClr val="accent1"/>
          </a:fillRef>
          <a:effectRef idx="2">
            <a:schemeClr val="accent1"/>
          </a:effectRef>
          <a:fontRef idx="minor">
            <a:schemeClr val="lt1"/>
          </a:fontRef>
        </p:style>
        <p:txBody>
          <a:bodyPr rtlCol="0" anchor="ctr" tIns="73152" wrap="square"/>
          <a:lstStyle/>
          <a:p>
            <a:pPr algn="ctr"/>
            <a:r>
              <a:rPr sz="1100" b="1">
                <a:solidFill>
                  <a:srgbClr val="1F3A5F"/>
                </a:solidFill>
                <a:latin typeface="Calibri"/>
              </a:rPr>
              <a:t>red-team</a:t>
            </a:r>
          </a:p>
          <a:p>
            <a:pPr algn="ctr"/>
            <a:r>
              <a:rPr sz="800" i="1">
                <a:solidFill>
                  <a:srgbClr val="666666"/>
                </a:solidFill>
                <a:latin typeface="Calibri"/>
              </a:rPr>
              <a:t>challenge HIGH</a:t>
            </a:r>
          </a:p>
        </p:txBody>
      </p:sp>
      <p:sp>
        <p:nvSpPr>
          <p:cNvPr id="16" name="Rounded Rectangle 15"/>
          <p:cNvSpPr/>
          <p:nvPr/>
        </p:nvSpPr>
        <p:spPr>
          <a:xfrm>
            <a:off x="6141567" y="3200400"/>
            <a:ext cx="1325880" cy="868680"/>
          </a:xfrm>
          <a:prstGeom prst="roundRect">
            <a:avLst/>
          </a:prstGeom>
          <a:solidFill>
            <a:srgbClr val="FFFFFF"/>
          </a:solidFill>
          <a:ln w="15240">
            <a:solidFill>
              <a:srgbClr val="4A90E2"/>
            </a:solidFill>
          </a:ln>
        </p:spPr>
        <p:style>
          <a:lnRef idx="1">
            <a:schemeClr val="accent1"/>
          </a:lnRef>
          <a:fillRef idx="3">
            <a:schemeClr val="accent1"/>
          </a:fillRef>
          <a:effectRef idx="2">
            <a:schemeClr val="accent1"/>
          </a:effectRef>
          <a:fontRef idx="minor">
            <a:schemeClr val="lt1"/>
          </a:fontRef>
        </p:style>
        <p:txBody>
          <a:bodyPr rtlCol="0" anchor="ctr" tIns="73152" wrap="square"/>
          <a:lstStyle/>
          <a:p>
            <a:pPr algn="ctr"/>
            <a:r>
              <a:rPr sz="1100" b="1">
                <a:solidFill>
                  <a:srgbClr val="1F3A5F"/>
                </a:solidFill>
                <a:latin typeface="Calibri"/>
              </a:rPr>
              <a:t>actor-profiler</a:t>
            </a:r>
          </a:p>
          <a:p>
            <a:pPr algn="ctr"/>
            <a:r>
              <a:rPr sz="800" i="1">
                <a:solidFill>
                  <a:srgbClr val="666666"/>
                </a:solidFill>
                <a:latin typeface="Calibri"/>
              </a:rPr>
              <a:t>dossiers + scoring</a:t>
            </a:r>
          </a:p>
        </p:txBody>
      </p:sp>
      <p:sp>
        <p:nvSpPr>
          <p:cNvPr id="17" name="Rounded Rectangle 16"/>
          <p:cNvSpPr/>
          <p:nvPr/>
        </p:nvSpPr>
        <p:spPr>
          <a:xfrm>
            <a:off x="7558887" y="3200400"/>
            <a:ext cx="1325880" cy="868680"/>
          </a:xfrm>
          <a:prstGeom prst="roundRect">
            <a:avLst/>
          </a:prstGeom>
          <a:solidFill>
            <a:srgbClr val="FFFFFF"/>
          </a:solidFill>
          <a:ln w="15240">
            <a:solidFill>
              <a:srgbClr val="4A90E2"/>
            </a:solidFill>
          </a:ln>
        </p:spPr>
        <p:style>
          <a:lnRef idx="1">
            <a:schemeClr val="accent1"/>
          </a:lnRef>
          <a:fillRef idx="3">
            <a:schemeClr val="accent1"/>
          </a:fillRef>
          <a:effectRef idx="2">
            <a:schemeClr val="accent1"/>
          </a:effectRef>
          <a:fontRef idx="minor">
            <a:schemeClr val="lt1"/>
          </a:fontRef>
        </p:style>
        <p:txBody>
          <a:bodyPr rtlCol="0" anchor="ctr" tIns="73152" wrap="square"/>
          <a:lstStyle/>
          <a:p>
            <a:pPr algn="ctr"/>
            <a:r>
              <a:rPr sz="1100" b="1">
                <a:solidFill>
                  <a:srgbClr val="1F3A5F"/>
                </a:solidFill>
                <a:latin typeface="Calibri"/>
              </a:rPr>
              <a:t>vuln-tracker</a:t>
            </a:r>
          </a:p>
          <a:p>
            <a:pPr algn="ctr"/>
            <a:r>
              <a:rPr sz="800" i="1">
                <a:solidFill>
                  <a:srgbClr val="666666"/>
                </a:solidFill>
                <a:latin typeface="Calibri"/>
              </a:rPr>
              <a:t>CVE corpus + KEV</a:t>
            </a:r>
          </a:p>
        </p:txBody>
      </p:sp>
      <p:sp>
        <p:nvSpPr>
          <p:cNvPr id="18" name="Rounded Rectangle 17"/>
          <p:cNvSpPr/>
          <p:nvPr/>
        </p:nvSpPr>
        <p:spPr>
          <a:xfrm>
            <a:off x="8976207" y="3200400"/>
            <a:ext cx="1325880" cy="868680"/>
          </a:xfrm>
          <a:prstGeom prst="roundRect">
            <a:avLst/>
          </a:prstGeom>
          <a:solidFill>
            <a:srgbClr val="FFFFFF"/>
          </a:solidFill>
          <a:ln w="15240">
            <a:solidFill>
              <a:srgbClr val="4A90E2"/>
            </a:solidFill>
          </a:ln>
        </p:spPr>
        <p:style>
          <a:lnRef idx="1">
            <a:schemeClr val="accent1"/>
          </a:lnRef>
          <a:fillRef idx="3">
            <a:schemeClr val="accent1"/>
          </a:fillRef>
          <a:effectRef idx="2">
            <a:schemeClr val="accent1"/>
          </a:effectRef>
          <a:fontRef idx="minor">
            <a:schemeClr val="lt1"/>
          </a:fontRef>
        </p:style>
        <p:txBody>
          <a:bodyPr rtlCol="0" anchor="ctr" tIns="73152" wrap="square"/>
          <a:lstStyle/>
          <a:p>
            <a:pPr algn="ctr"/>
            <a:r>
              <a:rPr sz="1100" b="1">
                <a:solidFill>
                  <a:srgbClr val="1F3A5F"/>
                </a:solidFill>
                <a:latin typeface="Calibri"/>
              </a:rPr>
              <a:t>briefer</a:t>
            </a:r>
          </a:p>
          <a:p>
            <a:pPr algn="ctr"/>
            <a:r>
              <a:rPr sz="800" i="1">
                <a:solidFill>
                  <a:srgbClr val="666666"/>
                </a:solidFill>
                <a:latin typeface="Calibri"/>
              </a:rPr>
              <a:t>per-team rendering</a:t>
            </a:r>
          </a:p>
        </p:txBody>
      </p:sp>
      <p:sp>
        <p:nvSpPr>
          <p:cNvPr id="19" name="Rounded Rectangle 18"/>
          <p:cNvSpPr/>
          <p:nvPr/>
        </p:nvSpPr>
        <p:spPr>
          <a:xfrm>
            <a:off x="10393527" y="3200400"/>
            <a:ext cx="1325880" cy="868680"/>
          </a:xfrm>
          <a:prstGeom prst="roundRect">
            <a:avLst/>
          </a:prstGeom>
          <a:solidFill>
            <a:srgbClr val="FFFFFF"/>
          </a:solidFill>
          <a:ln w="15240">
            <a:solidFill>
              <a:srgbClr val="4A90E2"/>
            </a:solidFill>
          </a:ln>
        </p:spPr>
        <p:style>
          <a:lnRef idx="1">
            <a:schemeClr val="accent1"/>
          </a:lnRef>
          <a:fillRef idx="3">
            <a:schemeClr val="accent1"/>
          </a:fillRef>
          <a:effectRef idx="2">
            <a:schemeClr val="accent1"/>
          </a:effectRef>
          <a:fontRef idx="minor">
            <a:schemeClr val="lt1"/>
          </a:fontRef>
        </p:style>
        <p:txBody>
          <a:bodyPr rtlCol="0" anchor="ctr" tIns="73152" wrap="square"/>
          <a:lstStyle/>
          <a:p>
            <a:pPr algn="ctr"/>
            <a:r>
              <a:rPr sz="1100" b="1">
                <a:solidFill>
                  <a:srgbClr val="1F3A5F"/>
                </a:solidFill>
                <a:latin typeface="Calibri"/>
              </a:rPr>
              <a:t>librarian</a:t>
            </a:r>
          </a:p>
          <a:p>
            <a:pPr algn="ctr"/>
            <a:r>
              <a:rPr sz="800" i="1">
                <a:solidFill>
                  <a:srgbClr val="666666"/>
                </a:solidFill>
                <a:latin typeface="Calibri"/>
              </a:rPr>
              <a:t>ship + audit + log</a:t>
            </a:r>
          </a:p>
        </p:txBody>
      </p:sp>
      <p:sp>
        <p:nvSpPr>
          <p:cNvPr id="20" name="Rectangle 19"/>
          <p:cNvSpPr/>
          <p:nvPr/>
        </p:nvSpPr>
        <p:spPr>
          <a:xfrm>
            <a:off x="457200" y="4572000"/>
            <a:ext cx="11274552" cy="457200"/>
          </a:xfrm>
          <a:prstGeom prst="rect">
            <a:avLst/>
          </a:prstGeom>
          <a:solidFill>
            <a:srgbClr val="FEF6E7"/>
          </a:solidFill>
          <a:ln w="12700">
            <a:solidFill>
              <a:srgbClr val="C87F0A"/>
            </a:solidFill>
          </a:ln>
        </p:spPr>
        <p:style>
          <a:lnRef idx="1">
            <a:schemeClr val="accent1"/>
          </a:lnRef>
          <a:fillRef idx="3">
            <a:schemeClr val="accent1"/>
          </a:fillRef>
          <a:effectRef idx="2">
            <a:schemeClr val="accent1"/>
          </a:effectRef>
          <a:fontRef idx="minor">
            <a:schemeClr val="lt1"/>
          </a:fontRef>
        </p:style>
        <p:txBody>
          <a:bodyPr rtlCol="0" anchor="ctr" tIns="73152"/>
          <a:lstStyle/>
          <a:p>
            <a:pPr algn="ctr"/>
            <a:r>
              <a:rPr sz="1100" b="1">
                <a:solidFill>
                  <a:srgbClr val="333333"/>
                </a:solidFill>
                <a:latin typeface="Calibri"/>
              </a:rPr>
              <a:t>Validation needed:  OpenCTI deployment status  ·  CMDB API path  ·  GTI license tier  ·  SOAR webhook capability  ·  Teams app/channel access</a:t>
            </a:r>
          </a:p>
        </p:txBody>
      </p:sp>
      <p:sp>
        <p:nvSpPr>
          <p:cNvPr id="21" name="Rectangle 20"/>
          <p:cNvSpPr/>
          <p:nvPr/>
        </p:nvSpPr>
        <p:spPr>
          <a:xfrm>
            <a:off x="457200" y="5212080"/>
            <a:ext cx="11274552" cy="457200"/>
          </a:xfrm>
          <a:prstGeom prst="rect">
            <a:avLst/>
          </a:prstGeom>
          <a:solidFill>
            <a:srgbClr val="F5F5F5"/>
          </a:solidFill>
          <a:ln w="12700">
            <a:solidFill>
              <a:srgbClr val="666666"/>
            </a:solidFill>
          </a:ln>
        </p:spPr>
        <p:style>
          <a:lnRef idx="1">
            <a:schemeClr val="accent1"/>
          </a:lnRef>
          <a:fillRef idx="3">
            <a:schemeClr val="accent1"/>
          </a:fillRef>
          <a:effectRef idx="2">
            <a:schemeClr val="accent1"/>
          </a:effectRef>
          <a:fontRef idx="minor">
            <a:schemeClr val="lt1"/>
          </a:fontRef>
        </p:style>
        <p:txBody>
          <a:bodyPr rtlCol="0" anchor="ctr" tIns="73152"/>
          <a:lstStyle/>
          <a:p>
            <a:pPr algn="ctr"/>
            <a:r>
              <a:rPr sz="1100" b="1">
                <a:solidFill>
                  <a:srgbClr val="333333"/>
                </a:solidFill>
                <a:latin typeface="Calibri"/>
              </a:rPr>
              <a:t>Doctrine (versioned in git):  LEGAL-POLICY  ·  INTEL-GRADING  ·  INTEL-BRIEF-STANDARDS  ·  THREAT-BOX-METHODOLOGY  ·  RETRACTION-POLICY  ·  FLASH-POLICY</a:t>
            </a:r>
          </a:p>
        </p:txBody>
      </p:sp>
      <p:sp>
        <p:nvSpPr>
          <p:cNvPr id="22" name="TextBox 21"/>
          <p:cNvSpPr txBox="1"/>
          <p:nvPr/>
        </p:nvSpPr>
        <p:spPr>
          <a:xfrm>
            <a:off x="457200" y="5852160"/>
            <a:ext cx="11274552" cy="457200"/>
          </a:xfrm>
          <a:prstGeom prst="rect">
            <a:avLst/>
          </a:prstGeom>
          <a:noFill/>
        </p:spPr>
        <p:txBody>
          <a:bodyPr wrap="square">
            <a:spAutoFit/>
          </a:bodyPr>
          <a:lstStyle/>
          <a:p>
            <a:pPr algn="ctr"/>
            <a:r>
              <a:rPr sz="1100" i="1">
                <a:solidFill>
                  <a:srgbClr val="666666"/>
                </a:solidFill>
                <a:latin typeface="Calibri"/>
              </a:rPr>
              <a:t>Each subagent: own context, own write scope, own doctrine subset. Orchestrator never reads raw articles. Librarian is the only writer to side effects (corpus, Teams, SOAR, audit log).</a:t>
            </a:r>
          </a:p>
        </p:txBody>
      </p:sp>
      <p:sp>
        <p:nvSpPr>
          <p:cNvPr id="23" name="TextBox 22"/>
          <p:cNvSpPr txBox="1"/>
          <p:nvPr/>
        </p:nvSpPr>
        <p:spPr>
          <a:xfrm>
            <a:off x="457200" y="6400800"/>
            <a:ext cx="11274552" cy="274320"/>
          </a:xfrm>
          <a:prstGeom prst="rect">
            <a:avLst/>
          </a:prstGeom>
          <a:noFill/>
        </p:spPr>
        <p:txBody>
          <a:bodyPr wrap="none">
            <a:spAutoFit/>
          </a:bodyPr>
          <a:lstStyle/>
          <a:p>
            <a:pPr algn="l"/>
            <a:r>
              <a:rPr sz="900" i="1">
                <a:solidFill>
                  <a:srgbClr val="666666"/>
                </a:solidFill>
                <a:latin typeface="Calibri"/>
              </a:rPr>
              <a:t>Athena · Discovery Proposal · 2026</a:t>
            </a:r>
          </a:p>
        </p:txBody>
      </p:sp>
      <p:sp>
        <p:nvSpPr>
          <p:cNvPr id="24" name="TextBox 23"/>
          <p:cNvSpPr txBox="1"/>
          <p:nvPr/>
        </p:nvSpPr>
        <p:spPr>
          <a:xfrm>
            <a:off x="10515600" y="6400800"/>
            <a:ext cx="1188720" cy="274320"/>
          </a:xfrm>
          <a:prstGeom prst="rect">
            <a:avLst/>
          </a:prstGeom>
          <a:noFill/>
        </p:spPr>
        <p:txBody>
          <a:bodyPr wrap="none">
            <a:spAutoFit/>
          </a:bodyPr>
          <a:lstStyle/>
          <a:p>
            <a:pPr algn="r"/>
            <a:r>
              <a:rPr sz="900">
                <a:solidFill>
                  <a:srgbClr val="666666"/>
                </a:solidFill>
                <a:latin typeface="Calibri"/>
              </a:rPr>
              <a:t>13 / 19</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4552" cy="640080"/>
          </a:xfrm>
          <a:prstGeom prst="rect">
            <a:avLst/>
          </a:prstGeom>
          <a:noFill/>
        </p:spPr>
        <p:txBody>
          <a:bodyPr wrap="square">
            <a:spAutoFit/>
          </a:bodyPr>
          <a:lstStyle/>
          <a:p>
            <a:pPr algn="l"/>
            <a:r>
              <a:rPr sz="3000" b="1">
                <a:solidFill>
                  <a:srgbClr val="1F3A5F"/>
                </a:solidFill>
                <a:latin typeface="Calibri"/>
              </a:rPr>
              <a:t>Doctrine as code — the working memory layer</a:t>
            </a:r>
          </a:p>
        </p:txBody>
      </p:sp>
      <p:sp>
        <p:nvSpPr>
          <p:cNvPr id="3" name="TextBox 2"/>
          <p:cNvSpPr txBox="1"/>
          <p:nvPr/>
        </p:nvSpPr>
        <p:spPr>
          <a:xfrm>
            <a:off x="457200" y="914400"/>
            <a:ext cx="11274552" cy="457200"/>
          </a:xfrm>
          <a:prstGeom prst="rect">
            <a:avLst/>
          </a:prstGeom>
          <a:noFill/>
        </p:spPr>
        <p:txBody>
          <a:bodyPr wrap="square">
            <a:spAutoFit/>
          </a:bodyPr>
          <a:lstStyle/>
          <a:p>
            <a:r>
              <a:rPr sz="1400" i="1">
                <a:solidFill>
                  <a:srgbClr val="666666"/>
                </a:solidFill>
                <a:latin typeface="Calibri"/>
              </a:rPr>
              <a:t>Versioned in git. Reviewable by analysts AND engineers. The agent's job description.</a:t>
            </a:r>
          </a:p>
        </p:txBody>
      </p:sp>
      <p:sp>
        <p:nvSpPr>
          <p:cNvPr id="4" name="TextBox 3"/>
          <p:cNvSpPr txBox="1"/>
          <p:nvPr/>
        </p:nvSpPr>
        <p:spPr>
          <a:xfrm>
            <a:off x="457200" y="1554480"/>
            <a:ext cx="11274552" cy="4572000"/>
          </a:xfrm>
          <a:prstGeom prst="rect">
            <a:avLst/>
          </a:prstGeom>
          <a:noFill/>
        </p:spPr>
        <p:txBody>
          <a:bodyPr wrap="square">
            <a:spAutoFit/>
          </a:bodyPr>
          <a:lstStyle/>
          <a:p>
            <a:pPr algn="l">
              <a:lnSpc>
                <a:spcPct val="115000"/>
              </a:lnSpc>
            </a:pPr>
            <a:r>
              <a:rPr sz="1400" b="1">
                <a:solidFill>
                  <a:srgbClr val="333333"/>
                </a:solidFill>
                <a:latin typeface="Calibri"/>
              </a:rPr>
              <a:t>• LEGAL-POLICY.md</a:t>
            </a:r>
          </a:p>
          <a:p>
            <a:pPr algn="l">
              <a:lnSpc>
                <a:spcPct val="115000"/>
              </a:lnSpc>
            </a:pPr>
            <a:r>
              <a:rPr sz="1100" i="1">
                <a:solidFill>
                  <a:srgbClr val="666666"/>
                </a:solidFill>
                <a:latin typeface="Calibri"/>
              </a:rPr>
              <a:t>   Prohibited queries, authorized targets, ITAR boundary, copyright. Read before every tool call.</a:t>
            </a:r>
          </a:p>
          <a:p>
            <a:pPr algn="l">
              <a:lnSpc>
                <a:spcPct val="115000"/>
              </a:lnSpc>
              <a:spcBef>
                <a:spcPts val="800"/>
              </a:spcBef>
            </a:pPr>
            <a:r>
              <a:rPr sz="1400" b="1">
                <a:solidFill>
                  <a:srgbClr val="333333"/>
                </a:solidFill>
                <a:latin typeface="Calibri"/>
              </a:rPr>
              <a:t>• INTEL-GRADING.md</a:t>
            </a:r>
          </a:p>
          <a:p>
            <a:pPr algn="l">
              <a:lnSpc>
                <a:spcPct val="115000"/>
              </a:lnSpc>
            </a:pPr>
            <a:r>
              <a:rPr sz="1100" i="1">
                <a:solidFill>
                  <a:srgbClr val="666666"/>
                </a:solidFill>
                <a:latin typeface="Calibri"/>
              </a:rPr>
              <a:t>   Admiralty 6×6 + WEP + single-source-veto + corroboration rules. Read by grader.</a:t>
            </a:r>
          </a:p>
          <a:p>
            <a:pPr algn="l">
              <a:lnSpc>
                <a:spcPct val="115000"/>
              </a:lnSpc>
              <a:spcBef>
                <a:spcPts val="800"/>
              </a:spcBef>
            </a:pPr>
            <a:r>
              <a:rPr sz="1400" b="1">
                <a:solidFill>
                  <a:srgbClr val="333333"/>
                </a:solidFill>
                <a:latin typeface="Calibri"/>
              </a:rPr>
              <a:t>• INTEL-BRIEF-STANDARDS.md</a:t>
            </a:r>
          </a:p>
          <a:p>
            <a:pPr algn="l">
              <a:lnSpc>
                <a:spcPct val="115000"/>
              </a:lnSpc>
            </a:pPr>
            <a:r>
              <a:rPr sz="1100" i="1">
                <a:solidFill>
                  <a:srgbClr val="666666"/>
                </a:solidFill>
                <a:latin typeface="Calibri"/>
              </a:rPr>
              <a:t>   Per-stakeholder rendering rules, word/char budgets, Smart Brevity, preflight checklist. Read by briefer.</a:t>
            </a:r>
          </a:p>
          <a:p>
            <a:pPr algn="l">
              <a:lnSpc>
                <a:spcPct val="115000"/>
              </a:lnSpc>
              <a:spcBef>
                <a:spcPts val="800"/>
              </a:spcBef>
            </a:pPr>
            <a:r>
              <a:rPr sz="1400" b="1">
                <a:solidFill>
                  <a:srgbClr val="333333"/>
                </a:solidFill>
                <a:latin typeface="Calibri"/>
              </a:rPr>
              <a:t>• THREAT-BOX-METHODOLOGY.md</a:t>
            </a:r>
          </a:p>
          <a:p>
            <a:pPr algn="l">
              <a:lnSpc>
                <a:spcPct val="115000"/>
              </a:lnSpc>
            </a:pPr>
            <a:r>
              <a:rPr sz="1100" i="1">
                <a:solidFill>
                  <a:srgbClr val="666666"/>
                </a:solidFill>
                <a:latin typeface="Calibri"/>
              </a:rPr>
              <a:t>   Per-category composite scoring + evidence-minimum tables. Read by actor-profiler on every scoring run.</a:t>
            </a:r>
          </a:p>
          <a:p>
            <a:pPr algn="l">
              <a:lnSpc>
                <a:spcPct val="115000"/>
              </a:lnSpc>
              <a:spcBef>
                <a:spcPts val="800"/>
              </a:spcBef>
            </a:pPr>
            <a:r>
              <a:rPr sz="1400" b="1">
                <a:solidFill>
                  <a:srgbClr val="333333"/>
                </a:solidFill>
                <a:latin typeface="Calibri"/>
              </a:rPr>
              <a:t>• RETRACTION-POLICY.md</a:t>
            </a:r>
          </a:p>
          <a:p>
            <a:pPr algn="l">
              <a:lnSpc>
                <a:spcPct val="115000"/>
              </a:lnSpc>
            </a:pPr>
            <a:r>
              <a:rPr sz="1100" i="1">
                <a:solidFill>
                  <a:srgbClr val="666666"/>
                </a:solidFill>
                <a:latin typeface="Calibri"/>
              </a:rPr>
              <a:t>   When to retract vs. correct, additive (never silent), 72h auto-downgrade clock.</a:t>
            </a:r>
          </a:p>
          <a:p>
            <a:pPr algn="l">
              <a:lnSpc>
                <a:spcPct val="115000"/>
              </a:lnSpc>
              <a:spcBef>
                <a:spcPts val="800"/>
              </a:spcBef>
            </a:pPr>
            <a:r>
              <a:rPr sz="1400" b="1">
                <a:solidFill>
                  <a:srgbClr val="333333"/>
                </a:solidFill>
                <a:latin typeface="Calibri"/>
              </a:rPr>
              <a:t>• FLASH-POLICY.md</a:t>
            </a:r>
          </a:p>
          <a:p>
            <a:pPr algn="l">
              <a:lnSpc>
                <a:spcPct val="115000"/>
              </a:lnSpc>
            </a:pPr>
            <a:r>
              <a:rPr sz="1100" i="1">
                <a:solidFill>
                  <a:srgbClr val="666666"/>
                </a:solidFill>
                <a:latin typeface="Calibri"/>
              </a:rPr>
              <a:t>   Trigger conditions, quiet hours, critical-override threshold.</a:t>
            </a:r>
          </a:p>
        </p:txBody>
      </p:sp>
      <p:sp>
        <p:nvSpPr>
          <p:cNvPr id="5" name="Rounded Rectangle 4"/>
          <p:cNvSpPr/>
          <p:nvPr/>
        </p:nvSpPr>
        <p:spPr>
          <a:xfrm>
            <a:off x="457200" y="5486400"/>
            <a:ext cx="11274552" cy="822960"/>
          </a:xfrm>
          <a:prstGeom prst="roundRect">
            <a:avLst/>
          </a:prstGeom>
          <a:solidFill>
            <a:srgbClr val="E6F4EA"/>
          </a:solidFill>
          <a:ln w="19050">
            <a:solidFill>
              <a:srgbClr val="2E7D32"/>
            </a:solidFill>
          </a:ln>
        </p:spPr>
        <p:style>
          <a:lnRef idx="1">
            <a:schemeClr val="accent1"/>
          </a:lnRef>
          <a:fillRef idx="3">
            <a:schemeClr val="accent1"/>
          </a:fillRef>
          <a:effectRef idx="2">
            <a:schemeClr val="accent1"/>
          </a:effectRef>
          <a:fontRef idx="minor">
            <a:schemeClr val="lt1"/>
          </a:fontRef>
        </p:style>
        <p:txBody>
          <a:bodyPr rtlCol="0" anchor="ctr" tIns="137160" lIns="182880" rIns="182880" wrap="square"/>
          <a:lstStyle/>
          <a:p>
            <a:pPr algn="ctr"/>
            <a:r>
              <a:rPr sz="1200">
                <a:solidFill>
                  <a:srgbClr val="333333"/>
                </a:solidFill>
                <a:latin typeface="Calibri"/>
              </a:rPr>
              <a:t>Why this matters: doctrine is what the agent's job description used to be locked inside a single prompt. Splitting it into versioned files means analysts, engineers, and compliance can review and iterate it like code. It also makes “why did the agent do that” answerable — every behavior traces back to a doctrine line.</a:t>
            </a:r>
          </a:p>
        </p:txBody>
      </p:sp>
      <p:sp>
        <p:nvSpPr>
          <p:cNvPr id="6" name="TextBox 5"/>
          <p:cNvSpPr txBox="1"/>
          <p:nvPr/>
        </p:nvSpPr>
        <p:spPr>
          <a:xfrm>
            <a:off x="457200" y="6400800"/>
            <a:ext cx="11274552" cy="274320"/>
          </a:xfrm>
          <a:prstGeom prst="rect">
            <a:avLst/>
          </a:prstGeom>
          <a:noFill/>
        </p:spPr>
        <p:txBody>
          <a:bodyPr wrap="none">
            <a:spAutoFit/>
          </a:bodyPr>
          <a:lstStyle/>
          <a:p>
            <a:pPr algn="l"/>
            <a:r>
              <a:rPr sz="900" i="1">
                <a:solidFill>
                  <a:srgbClr val="666666"/>
                </a:solidFill>
                <a:latin typeface="Calibri"/>
              </a:rPr>
              <a:t>Athena · Discovery Proposal · 2026</a:t>
            </a:r>
          </a:p>
        </p:txBody>
      </p:sp>
      <p:sp>
        <p:nvSpPr>
          <p:cNvPr id="7" name="TextBox 6"/>
          <p:cNvSpPr txBox="1"/>
          <p:nvPr/>
        </p:nvSpPr>
        <p:spPr>
          <a:xfrm>
            <a:off x="10515600" y="6400800"/>
            <a:ext cx="1188720" cy="274320"/>
          </a:xfrm>
          <a:prstGeom prst="rect">
            <a:avLst/>
          </a:prstGeom>
          <a:noFill/>
        </p:spPr>
        <p:txBody>
          <a:bodyPr wrap="none">
            <a:spAutoFit/>
          </a:bodyPr>
          <a:lstStyle/>
          <a:p>
            <a:pPr algn="r"/>
            <a:r>
              <a:rPr sz="900">
                <a:solidFill>
                  <a:srgbClr val="666666"/>
                </a:solidFill>
                <a:latin typeface="Calibri"/>
              </a:rPr>
              <a:t>14 / 19</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4552" cy="640080"/>
          </a:xfrm>
          <a:prstGeom prst="rect">
            <a:avLst/>
          </a:prstGeom>
          <a:noFill/>
        </p:spPr>
        <p:txBody>
          <a:bodyPr wrap="square">
            <a:spAutoFit/>
          </a:bodyPr>
          <a:lstStyle/>
          <a:p>
            <a:pPr algn="l"/>
            <a:r>
              <a:rPr sz="3000" b="1">
                <a:solidFill>
                  <a:srgbClr val="1F3A5F"/>
                </a:solidFill>
                <a:latin typeface="Calibri"/>
              </a:rPr>
              <a:t>Discovery Phase — proposed scope</a:t>
            </a:r>
          </a:p>
        </p:txBody>
      </p:sp>
      <p:sp>
        <p:nvSpPr>
          <p:cNvPr id="3" name="TextBox 2"/>
          <p:cNvSpPr txBox="1"/>
          <p:nvPr/>
        </p:nvSpPr>
        <p:spPr>
          <a:xfrm>
            <a:off x="457200" y="914400"/>
            <a:ext cx="11274552" cy="457200"/>
          </a:xfrm>
          <a:prstGeom prst="rect">
            <a:avLst/>
          </a:prstGeom>
          <a:noFill/>
        </p:spPr>
        <p:txBody>
          <a:bodyPr wrap="square">
            <a:spAutoFit/>
          </a:bodyPr>
          <a:lstStyle/>
          <a:p>
            <a:r>
              <a:rPr sz="1400" i="1">
                <a:solidFill>
                  <a:srgbClr val="666666"/>
                </a:solidFill>
                <a:latin typeface="Calibri"/>
              </a:rPr>
              <a:t>2-3 weeks of structured work. Validated requirements doc, target architecture, sized build plan.</a:t>
            </a:r>
          </a:p>
        </p:txBody>
      </p:sp>
      <p:sp>
        <p:nvSpPr>
          <p:cNvPr id="4" name="Rounded Rectangle 3"/>
          <p:cNvSpPr/>
          <p:nvPr/>
        </p:nvSpPr>
        <p:spPr>
          <a:xfrm>
            <a:off x="10058400" y="274320"/>
            <a:ext cx="1645920" cy="365760"/>
          </a:xfrm>
          <a:prstGeom prst="roundRect">
            <a:avLst/>
          </a:prstGeom>
          <a:solidFill>
            <a:srgbClr val="C87F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latin typeface="Calibri"/>
              </a:rPr>
              <a:t>DISCOVERY</a:t>
            </a:r>
          </a:p>
        </p:txBody>
      </p:sp>
      <p:sp>
        <p:nvSpPr>
          <p:cNvPr id="5" name="Rectangle 4"/>
          <p:cNvSpPr/>
          <p:nvPr/>
        </p:nvSpPr>
        <p:spPr>
          <a:xfrm>
            <a:off x="457200" y="1645920"/>
            <a:ext cx="1371600" cy="128016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tIns="91440"/>
          <a:lstStyle/>
          <a:p>
            <a:pPr algn="ctr"/>
            <a:r>
              <a:rPr sz="1100" b="1">
                <a:solidFill>
                  <a:srgbClr val="FFFFFF"/>
                </a:solidFill>
                <a:latin typeface="Calibri"/>
              </a:rPr>
              <a:t>  When</a:t>
            </a:r>
          </a:p>
        </p:txBody>
      </p:sp>
      <p:sp>
        <p:nvSpPr>
          <p:cNvPr id="6" name="Rectangle 5"/>
          <p:cNvSpPr/>
          <p:nvPr/>
        </p:nvSpPr>
        <p:spPr>
          <a:xfrm>
            <a:off x="1828800" y="1645920"/>
            <a:ext cx="3657600" cy="128016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tIns="91440"/>
          <a:lstStyle/>
          <a:p>
            <a:pPr algn="ctr"/>
            <a:r>
              <a:rPr sz="1100" b="1">
                <a:solidFill>
                  <a:srgbClr val="FFFFFF"/>
                </a:solidFill>
                <a:latin typeface="Calibri"/>
              </a:rPr>
              <a:t>  Focus</a:t>
            </a:r>
          </a:p>
        </p:txBody>
      </p:sp>
      <p:sp>
        <p:nvSpPr>
          <p:cNvPr id="7" name="Rectangle 6"/>
          <p:cNvSpPr/>
          <p:nvPr/>
        </p:nvSpPr>
        <p:spPr>
          <a:xfrm>
            <a:off x="5486400" y="1645920"/>
            <a:ext cx="7132320" cy="128016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tIns="91440"/>
          <a:lstStyle/>
          <a:p>
            <a:pPr algn="ctr"/>
            <a:r>
              <a:rPr sz="1100" b="1">
                <a:solidFill>
                  <a:srgbClr val="FFFFFF"/>
                </a:solidFill>
                <a:latin typeface="Calibri"/>
              </a:rPr>
              <a:t>  Activities + outcomes</a:t>
            </a:r>
          </a:p>
        </p:txBody>
      </p:sp>
      <p:sp>
        <p:nvSpPr>
          <p:cNvPr id="8" name="Rectangle 7"/>
          <p:cNvSpPr/>
          <p:nvPr/>
        </p:nvSpPr>
        <p:spPr>
          <a:xfrm>
            <a:off x="457200" y="2926080"/>
            <a:ext cx="1371600" cy="128016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73152" wrap="square"/>
          <a:lstStyle/>
          <a:p>
            <a:pPr algn="ctr"/>
            <a:r>
              <a:rPr sz="900" b="1">
                <a:solidFill>
                  <a:srgbClr val="333333"/>
                </a:solidFill>
                <a:latin typeface="Calibri"/>
              </a:rPr>
              <a:t>  Week 1</a:t>
            </a:r>
          </a:p>
        </p:txBody>
      </p:sp>
      <p:sp>
        <p:nvSpPr>
          <p:cNvPr id="9" name="Rectangle 8"/>
          <p:cNvSpPr/>
          <p:nvPr/>
        </p:nvSpPr>
        <p:spPr>
          <a:xfrm>
            <a:off x="1828800" y="2926080"/>
            <a:ext cx="3657600" cy="128016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73152" wrap="square"/>
          <a:lstStyle/>
          <a:p>
            <a:pPr algn="ctr"/>
            <a:r>
              <a:rPr sz="900">
                <a:solidFill>
                  <a:srgbClr val="333333"/>
                </a:solidFill>
                <a:latin typeface="Calibri"/>
              </a:rPr>
              <a:t>  Requirement validation + stakeholder interviews</a:t>
            </a:r>
          </a:p>
        </p:txBody>
      </p:sp>
      <p:sp>
        <p:nvSpPr>
          <p:cNvPr id="10" name="Rectangle 9"/>
          <p:cNvSpPr/>
          <p:nvPr/>
        </p:nvSpPr>
        <p:spPr>
          <a:xfrm>
            <a:off x="5486400" y="2926080"/>
            <a:ext cx="7132320" cy="128016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73152" wrap="square"/>
          <a:lstStyle/>
          <a:p>
            <a:pPr algn="ctr"/>
            <a:r>
              <a:rPr sz="900">
                <a:solidFill>
                  <a:srgbClr val="333333"/>
                </a:solidFill>
                <a:latin typeface="Calibri"/>
              </a:rPr>
              <a:t>  Working sessions with each stakeholder team (SOC, IR, Vuln Mgmt, Intel, Leadership). Confirm requirements, weight priorities, lock the per-team rendering format. Capture analyst-day shadow observations to ground the 'cost of status quo' numbers.</a:t>
            </a:r>
          </a:p>
        </p:txBody>
      </p:sp>
      <p:sp>
        <p:nvSpPr>
          <p:cNvPr id="11" name="Rectangle 10"/>
          <p:cNvSpPr/>
          <p:nvPr/>
        </p:nvSpPr>
        <p:spPr>
          <a:xfrm>
            <a:off x="457200" y="4206240"/>
            <a:ext cx="1371600" cy="1280160"/>
          </a:xfrm>
          <a:prstGeom prst="rect">
            <a:avLst/>
          </a:prstGeom>
          <a:solidFill>
            <a:srgbClr val="F8F8F8"/>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73152" wrap="square"/>
          <a:lstStyle/>
          <a:p>
            <a:pPr algn="ctr"/>
            <a:r>
              <a:rPr sz="900" b="1">
                <a:solidFill>
                  <a:srgbClr val="333333"/>
                </a:solidFill>
                <a:latin typeface="Calibri"/>
              </a:rPr>
              <a:t>  Week 2</a:t>
            </a:r>
          </a:p>
        </p:txBody>
      </p:sp>
      <p:sp>
        <p:nvSpPr>
          <p:cNvPr id="12" name="Rectangle 11"/>
          <p:cNvSpPr/>
          <p:nvPr/>
        </p:nvSpPr>
        <p:spPr>
          <a:xfrm>
            <a:off x="1828800" y="4206240"/>
            <a:ext cx="3657600" cy="1280160"/>
          </a:xfrm>
          <a:prstGeom prst="rect">
            <a:avLst/>
          </a:prstGeom>
          <a:solidFill>
            <a:srgbClr val="F8F8F8"/>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73152" wrap="square"/>
          <a:lstStyle/>
          <a:p>
            <a:pPr algn="ctr"/>
            <a:r>
              <a:rPr sz="900">
                <a:solidFill>
                  <a:srgbClr val="333333"/>
                </a:solidFill>
                <a:latin typeface="Calibri"/>
              </a:rPr>
              <a:t>  Integration POCs + doctrine review</a:t>
            </a:r>
          </a:p>
        </p:txBody>
      </p:sp>
      <p:sp>
        <p:nvSpPr>
          <p:cNvPr id="13" name="Rectangle 12"/>
          <p:cNvSpPr/>
          <p:nvPr/>
        </p:nvSpPr>
        <p:spPr>
          <a:xfrm>
            <a:off x="5486400" y="4206240"/>
            <a:ext cx="7132320" cy="1280160"/>
          </a:xfrm>
          <a:prstGeom prst="rect">
            <a:avLst/>
          </a:prstGeom>
          <a:solidFill>
            <a:srgbClr val="F8F8F8"/>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73152" wrap="square"/>
          <a:lstStyle/>
          <a:p>
            <a:pPr algn="ctr"/>
            <a:r>
              <a:rPr sz="900">
                <a:solidFill>
                  <a:srgbClr val="333333"/>
                </a:solidFill>
                <a:latin typeface="Calibri"/>
              </a:rPr>
              <a:t>  Hands-on POCs for OpenCTI read, GTI API call, CMDB asset lookup, SOAR webhook. Each is a 1-day spike. Doctrine review with intel team lead — adopt-as-is, modify, or reject. Identify any deal-breakers early.</a:t>
            </a:r>
          </a:p>
        </p:txBody>
      </p:sp>
      <p:sp>
        <p:nvSpPr>
          <p:cNvPr id="14" name="Rectangle 13"/>
          <p:cNvSpPr/>
          <p:nvPr/>
        </p:nvSpPr>
        <p:spPr>
          <a:xfrm>
            <a:off x="457200" y="5486400"/>
            <a:ext cx="1371600" cy="128016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73152" wrap="square"/>
          <a:lstStyle/>
          <a:p>
            <a:pPr algn="ctr"/>
            <a:r>
              <a:rPr sz="900" b="1">
                <a:solidFill>
                  <a:srgbClr val="333333"/>
                </a:solidFill>
                <a:latin typeface="Calibri"/>
              </a:rPr>
              <a:t>  Week 3</a:t>
            </a:r>
          </a:p>
        </p:txBody>
      </p:sp>
      <p:sp>
        <p:nvSpPr>
          <p:cNvPr id="15" name="Rectangle 14"/>
          <p:cNvSpPr/>
          <p:nvPr/>
        </p:nvSpPr>
        <p:spPr>
          <a:xfrm>
            <a:off x="1828800" y="5486400"/>
            <a:ext cx="3657600" cy="128016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73152" wrap="square"/>
          <a:lstStyle/>
          <a:p>
            <a:pPr algn="ctr"/>
            <a:r>
              <a:rPr sz="900">
                <a:solidFill>
                  <a:srgbClr val="333333"/>
                </a:solidFill>
                <a:latin typeface="Calibri"/>
              </a:rPr>
              <a:t>  Synthesis + sized build plan</a:t>
            </a:r>
          </a:p>
        </p:txBody>
      </p:sp>
      <p:sp>
        <p:nvSpPr>
          <p:cNvPr id="16" name="Rectangle 15"/>
          <p:cNvSpPr/>
          <p:nvPr/>
        </p:nvSpPr>
        <p:spPr>
          <a:xfrm>
            <a:off x="5486400" y="5486400"/>
            <a:ext cx="7132320" cy="128016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tIns="73152" wrap="square"/>
          <a:lstStyle/>
          <a:p>
            <a:pPr algn="ctr"/>
            <a:r>
              <a:rPr sz="900">
                <a:solidFill>
                  <a:srgbClr val="C87F0A"/>
                </a:solidFill>
                <a:latin typeface="Calibri"/>
              </a:rPr>
              <a:t>  Produce validated requirements doc, target architecture (no longer 'proposed'), build plan with phases + confidence intervals, integration spec for each external system. Decision gate: green-light build, request additional scoping, or stop.</a:t>
            </a:r>
          </a:p>
        </p:txBody>
      </p:sp>
      <p:sp>
        <p:nvSpPr>
          <p:cNvPr id="17" name="Rounded Rectangle 16"/>
          <p:cNvSpPr/>
          <p:nvPr/>
        </p:nvSpPr>
        <p:spPr>
          <a:xfrm>
            <a:off x="457200" y="5852160"/>
            <a:ext cx="11274552" cy="457200"/>
          </a:xfrm>
          <a:prstGeom prst="roundRect">
            <a:avLst/>
          </a:prstGeom>
          <a:solidFill>
            <a:srgbClr val="E6F4EA"/>
          </a:solidFill>
          <a:ln w="19050">
            <a:solidFill>
              <a:srgbClr val="2E7D32"/>
            </a:solidFill>
          </a:ln>
        </p:spPr>
        <p:style>
          <a:lnRef idx="1">
            <a:schemeClr val="accent1"/>
          </a:lnRef>
          <a:fillRef idx="3">
            <a:schemeClr val="accent1"/>
          </a:fillRef>
          <a:effectRef idx="2">
            <a:schemeClr val="accent1"/>
          </a:effectRef>
          <a:fontRef idx="minor">
            <a:schemeClr val="lt1"/>
          </a:fontRef>
        </p:style>
        <p:txBody>
          <a:bodyPr rtlCol="0" anchor="ctr" tIns="91440"/>
          <a:lstStyle/>
          <a:p>
            <a:pPr algn="ctr"/>
            <a:r>
              <a:rPr sz="1100" b="1">
                <a:solidFill>
                  <a:srgbClr val="333333"/>
                </a:solidFill>
                <a:latin typeface="Calibri"/>
              </a:rPr>
              <a:t>Deliverables at end of Discovery:  validated requirements doc  ·  target architecture  ·  sized build plan  ·  integration POC results  ·  stakeholder sign-off</a:t>
            </a:r>
          </a:p>
        </p:txBody>
      </p:sp>
      <p:sp>
        <p:nvSpPr>
          <p:cNvPr id="18" name="TextBox 17"/>
          <p:cNvSpPr txBox="1"/>
          <p:nvPr/>
        </p:nvSpPr>
        <p:spPr>
          <a:xfrm>
            <a:off x="457200" y="6400800"/>
            <a:ext cx="11274552" cy="274320"/>
          </a:xfrm>
          <a:prstGeom prst="rect">
            <a:avLst/>
          </a:prstGeom>
          <a:noFill/>
        </p:spPr>
        <p:txBody>
          <a:bodyPr wrap="none">
            <a:spAutoFit/>
          </a:bodyPr>
          <a:lstStyle/>
          <a:p>
            <a:pPr algn="l"/>
            <a:r>
              <a:rPr sz="900" i="1">
                <a:solidFill>
                  <a:srgbClr val="666666"/>
                </a:solidFill>
                <a:latin typeface="Calibri"/>
              </a:rPr>
              <a:t>Athena · Discovery Proposal · 2026</a:t>
            </a:r>
          </a:p>
        </p:txBody>
      </p:sp>
      <p:sp>
        <p:nvSpPr>
          <p:cNvPr id="19" name="TextBox 18"/>
          <p:cNvSpPr txBox="1"/>
          <p:nvPr/>
        </p:nvSpPr>
        <p:spPr>
          <a:xfrm>
            <a:off x="10515600" y="6400800"/>
            <a:ext cx="1188720" cy="274320"/>
          </a:xfrm>
          <a:prstGeom prst="rect">
            <a:avLst/>
          </a:prstGeom>
          <a:noFill/>
        </p:spPr>
        <p:txBody>
          <a:bodyPr wrap="none">
            <a:spAutoFit/>
          </a:bodyPr>
          <a:lstStyle/>
          <a:p>
            <a:pPr algn="r"/>
            <a:r>
              <a:rPr sz="900">
                <a:solidFill>
                  <a:srgbClr val="666666"/>
                </a:solidFill>
                <a:latin typeface="Calibri"/>
              </a:rPr>
              <a:t>15 / 19</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4552" cy="640080"/>
          </a:xfrm>
          <a:prstGeom prst="rect">
            <a:avLst/>
          </a:prstGeom>
          <a:noFill/>
        </p:spPr>
        <p:txBody>
          <a:bodyPr wrap="square">
            <a:spAutoFit/>
          </a:bodyPr>
          <a:lstStyle/>
          <a:p>
            <a:pPr algn="l"/>
            <a:r>
              <a:rPr sz="3000" b="1">
                <a:solidFill>
                  <a:srgbClr val="1F3A5F"/>
                </a:solidFill>
                <a:latin typeface="Calibri"/>
              </a:rPr>
              <a:t>Open questions to resolve in Discovery</a:t>
            </a:r>
          </a:p>
        </p:txBody>
      </p:sp>
      <p:sp>
        <p:nvSpPr>
          <p:cNvPr id="3" name="TextBox 2"/>
          <p:cNvSpPr txBox="1"/>
          <p:nvPr/>
        </p:nvSpPr>
        <p:spPr>
          <a:xfrm>
            <a:off x="457200" y="914400"/>
            <a:ext cx="11274552" cy="457200"/>
          </a:xfrm>
          <a:prstGeom prst="rect">
            <a:avLst/>
          </a:prstGeom>
          <a:noFill/>
        </p:spPr>
        <p:txBody>
          <a:bodyPr wrap="square">
            <a:spAutoFit/>
          </a:bodyPr>
          <a:lstStyle/>
          <a:p>
            <a:r>
              <a:rPr sz="1400" i="1">
                <a:solidFill>
                  <a:srgbClr val="666666"/>
                </a:solidFill>
                <a:latin typeface="Calibri"/>
              </a:rPr>
              <a:t>Every one of these blocks a build commitment. Discovery is how we close them.</a:t>
            </a:r>
          </a:p>
        </p:txBody>
      </p:sp>
      <p:sp>
        <p:nvSpPr>
          <p:cNvPr id="4" name="Rounded Rectangle 3"/>
          <p:cNvSpPr/>
          <p:nvPr/>
        </p:nvSpPr>
        <p:spPr>
          <a:xfrm>
            <a:off x="10058400" y="274320"/>
            <a:ext cx="1645920" cy="365760"/>
          </a:xfrm>
          <a:prstGeom prst="roundRect">
            <a:avLst/>
          </a:prstGeom>
          <a:solidFill>
            <a:srgbClr val="C87F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latin typeface="Calibri"/>
              </a:rPr>
              <a:t>DISCOVERY</a:t>
            </a:r>
          </a:p>
        </p:txBody>
      </p:sp>
      <p:sp>
        <p:nvSpPr>
          <p:cNvPr id="5" name="TextBox 4"/>
          <p:cNvSpPr txBox="1"/>
          <p:nvPr/>
        </p:nvSpPr>
        <p:spPr>
          <a:xfrm>
            <a:off x="457200" y="1554480"/>
            <a:ext cx="11274552" cy="4572000"/>
          </a:xfrm>
          <a:prstGeom prst="rect">
            <a:avLst/>
          </a:prstGeom>
          <a:noFill/>
        </p:spPr>
        <p:txBody>
          <a:bodyPr wrap="square">
            <a:spAutoFit/>
          </a:bodyPr>
          <a:lstStyle/>
          <a:p>
            <a:pPr algn="l">
              <a:lnSpc>
                <a:spcPct val="115000"/>
              </a:lnSpc>
            </a:pPr>
            <a:r>
              <a:rPr sz="1300" b="1">
                <a:solidFill>
                  <a:srgbClr val="333333"/>
                </a:solidFill>
                <a:latin typeface="Calibri"/>
              </a:rPr>
              <a:t>• CMDB integration</a:t>
            </a:r>
          </a:p>
          <a:p>
            <a:pPr algn="l">
              <a:lnSpc>
                <a:spcPct val="115000"/>
              </a:lnSpc>
            </a:pPr>
            <a:r>
              <a:rPr sz="1100" i="1">
                <a:solidFill>
                  <a:srgbClr val="666666"/>
                </a:solidFill>
                <a:latin typeface="Calibri"/>
              </a:rPr>
              <a:t>   Which CMDB tool? API access available? Asset-criticality schema (score / tag / owner-tier)? Who owns the integration on your side?</a:t>
            </a:r>
          </a:p>
          <a:p>
            <a:pPr algn="l">
              <a:lnSpc>
                <a:spcPct val="115000"/>
              </a:lnSpc>
              <a:spcBef>
                <a:spcPts val="800"/>
              </a:spcBef>
            </a:pPr>
            <a:r>
              <a:rPr sz="1300" b="1">
                <a:solidFill>
                  <a:srgbClr val="333333"/>
                </a:solidFill>
                <a:latin typeface="Calibri"/>
              </a:rPr>
              <a:t>• GTI / Mandiant Advantage license</a:t>
            </a:r>
          </a:p>
          <a:p>
            <a:pPr algn="l">
              <a:lnSpc>
                <a:spcPct val="115000"/>
              </a:lnSpc>
            </a:pPr>
            <a:r>
              <a:rPr sz="1100" i="1">
                <a:solidFill>
                  <a:srgbClr val="666666"/>
                </a:solidFill>
                <a:latin typeface="Calibri"/>
              </a:rPr>
              <a:t>   Which license tier? API access for risk-score-at-finding-level granularity? Rate-limit headroom for daily volume?</a:t>
            </a:r>
          </a:p>
          <a:p>
            <a:pPr algn="l">
              <a:lnSpc>
                <a:spcPct val="115000"/>
              </a:lnSpc>
              <a:spcBef>
                <a:spcPts val="800"/>
              </a:spcBef>
            </a:pPr>
            <a:r>
              <a:rPr sz="1300" b="1">
                <a:solidFill>
                  <a:srgbClr val="333333"/>
                </a:solidFill>
                <a:latin typeface="Calibri"/>
              </a:rPr>
              <a:t>• SOAR / playbook engine</a:t>
            </a:r>
          </a:p>
          <a:p>
            <a:pPr algn="l">
              <a:lnSpc>
                <a:spcPct val="115000"/>
              </a:lnSpc>
            </a:pPr>
            <a:r>
              <a:rPr sz="1100" i="1">
                <a:solidFill>
                  <a:srgbClr val="666666"/>
                </a:solidFill>
                <a:latin typeface="Calibri"/>
              </a:rPr>
              <a:t>   Which tool (Tines / Torq / ServiceNow SecOps / Splunk SOAR / other)? Existing playbook catalog? Change-management path for automated actions on production?</a:t>
            </a:r>
          </a:p>
          <a:p>
            <a:pPr algn="l">
              <a:lnSpc>
                <a:spcPct val="115000"/>
              </a:lnSpc>
              <a:spcBef>
                <a:spcPts val="800"/>
              </a:spcBef>
            </a:pPr>
            <a:r>
              <a:rPr sz="1300" b="1">
                <a:solidFill>
                  <a:srgbClr val="333333"/>
                </a:solidFill>
                <a:latin typeface="Calibri"/>
              </a:rPr>
              <a:t>• Stakeholder team list</a:t>
            </a:r>
          </a:p>
          <a:p>
            <a:pPr algn="l">
              <a:lnSpc>
                <a:spcPct val="115000"/>
              </a:lnSpc>
            </a:pPr>
            <a:r>
              <a:rPr sz="1100" i="1">
                <a:solidFill>
                  <a:srgbClr val="666666"/>
                </a:solidFill>
                <a:latin typeface="Calibri"/>
              </a:rPr>
              <a:t>   Confirm the team list (SOC, IR, Vuln Mgmt, Intel, Leadership). Contact owner per team. Cadence + format expectations per team.</a:t>
            </a:r>
          </a:p>
          <a:p>
            <a:pPr algn="l">
              <a:lnSpc>
                <a:spcPct val="115000"/>
              </a:lnSpc>
              <a:spcBef>
                <a:spcPts val="800"/>
              </a:spcBef>
            </a:pPr>
            <a:r>
              <a:rPr sz="1300" b="1">
                <a:solidFill>
                  <a:srgbClr val="333333"/>
                </a:solidFill>
                <a:latin typeface="Calibri"/>
              </a:rPr>
              <a:t>• OpenCTI deployment status</a:t>
            </a:r>
          </a:p>
          <a:p>
            <a:pPr algn="l">
              <a:lnSpc>
                <a:spcPct val="115000"/>
              </a:lnSpc>
            </a:pPr>
            <a:r>
              <a:rPr sz="1100" i="1">
                <a:solidFill>
                  <a:srgbClr val="666666"/>
                </a:solidFill>
                <a:latin typeface="Calibri"/>
              </a:rPr>
              <a:t>   Already running in production? Connector inventory? Reasonable read-load on current instance? STIX 2.x or older?</a:t>
            </a:r>
          </a:p>
          <a:p>
            <a:pPr algn="l">
              <a:lnSpc>
                <a:spcPct val="115000"/>
              </a:lnSpc>
              <a:spcBef>
                <a:spcPts val="800"/>
              </a:spcBef>
            </a:pPr>
            <a:r>
              <a:rPr sz="1300" b="1">
                <a:solidFill>
                  <a:srgbClr val="333333"/>
                </a:solidFill>
                <a:latin typeface="Calibri"/>
              </a:rPr>
              <a:t>• Doctrine review</a:t>
            </a:r>
          </a:p>
          <a:p>
            <a:pPr algn="l">
              <a:lnSpc>
                <a:spcPct val="115000"/>
              </a:lnSpc>
            </a:pPr>
            <a:r>
              <a:rPr sz="1100" i="1">
                <a:solidFill>
                  <a:srgbClr val="666666"/>
                </a:solidFill>
                <a:latin typeface="Calibri"/>
              </a:rPr>
              <a:t>   Intel team lead available to review the 6 doctrine files? Modifications needed before the agent runs against them?</a:t>
            </a:r>
          </a:p>
          <a:p>
            <a:pPr algn="l">
              <a:lnSpc>
                <a:spcPct val="115000"/>
              </a:lnSpc>
              <a:spcBef>
                <a:spcPts val="800"/>
              </a:spcBef>
            </a:pPr>
            <a:r>
              <a:rPr sz="1300" b="1">
                <a:solidFill>
                  <a:srgbClr val="333333"/>
                </a:solidFill>
                <a:latin typeface="Calibri"/>
              </a:rPr>
              <a:t>• Hosting + auth</a:t>
            </a:r>
          </a:p>
          <a:p>
            <a:pPr algn="l">
              <a:lnSpc>
                <a:spcPct val="115000"/>
              </a:lnSpc>
            </a:pPr>
            <a:r>
              <a:rPr sz="1100" i="1">
                <a:solidFill>
                  <a:srgbClr val="666666"/>
                </a:solidFill>
                <a:latin typeface="Calibri"/>
              </a:rPr>
              <a:t>   Where does the dashboard live (cloud / on-prem)? SSO integration path? Per-team access controls?</a:t>
            </a:r>
          </a:p>
          <a:p>
            <a:pPr algn="l">
              <a:lnSpc>
                <a:spcPct val="115000"/>
              </a:lnSpc>
              <a:spcBef>
                <a:spcPts val="800"/>
              </a:spcBef>
            </a:pPr>
            <a:r>
              <a:rPr sz="1300" b="1">
                <a:solidFill>
                  <a:srgbClr val="333333"/>
                </a:solidFill>
                <a:latin typeface="Calibri"/>
              </a:rPr>
              <a:t>• Build team + timeline expectations</a:t>
            </a:r>
          </a:p>
          <a:p>
            <a:pPr algn="l">
              <a:lnSpc>
                <a:spcPct val="115000"/>
              </a:lnSpc>
            </a:pPr>
            <a:r>
              <a:rPr sz="1100" i="1">
                <a:solidFill>
                  <a:srgbClr val="666666"/>
                </a:solidFill>
                <a:latin typeface="Calibri"/>
              </a:rPr>
              <a:t>   FTE availability for the build phase? Target go-live date? Capacity for ongoing doctrine + corpus maintenance?</a:t>
            </a:r>
          </a:p>
        </p:txBody>
      </p:sp>
      <p:sp>
        <p:nvSpPr>
          <p:cNvPr id="6" name="TextBox 5"/>
          <p:cNvSpPr txBox="1"/>
          <p:nvPr/>
        </p:nvSpPr>
        <p:spPr>
          <a:xfrm>
            <a:off x="457200" y="6400800"/>
            <a:ext cx="11274552" cy="274320"/>
          </a:xfrm>
          <a:prstGeom prst="rect">
            <a:avLst/>
          </a:prstGeom>
          <a:noFill/>
        </p:spPr>
        <p:txBody>
          <a:bodyPr wrap="none">
            <a:spAutoFit/>
          </a:bodyPr>
          <a:lstStyle/>
          <a:p>
            <a:pPr algn="l"/>
            <a:r>
              <a:rPr sz="900" i="1">
                <a:solidFill>
                  <a:srgbClr val="666666"/>
                </a:solidFill>
                <a:latin typeface="Calibri"/>
              </a:rPr>
              <a:t>Athena · Discovery Proposal · 2026</a:t>
            </a:r>
          </a:p>
        </p:txBody>
      </p:sp>
      <p:sp>
        <p:nvSpPr>
          <p:cNvPr id="7" name="TextBox 6"/>
          <p:cNvSpPr txBox="1"/>
          <p:nvPr/>
        </p:nvSpPr>
        <p:spPr>
          <a:xfrm>
            <a:off x="10515600" y="6400800"/>
            <a:ext cx="1188720" cy="274320"/>
          </a:xfrm>
          <a:prstGeom prst="rect">
            <a:avLst/>
          </a:prstGeom>
          <a:noFill/>
        </p:spPr>
        <p:txBody>
          <a:bodyPr wrap="none">
            <a:spAutoFit/>
          </a:bodyPr>
          <a:lstStyle/>
          <a:p>
            <a:pPr algn="r"/>
            <a:r>
              <a:rPr sz="900">
                <a:solidFill>
                  <a:srgbClr val="666666"/>
                </a:solidFill>
                <a:latin typeface="Calibri"/>
              </a:rPr>
              <a:t>16 / 19</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4552" cy="640080"/>
          </a:xfrm>
          <a:prstGeom prst="rect">
            <a:avLst/>
          </a:prstGeom>
          <a:noFill/>
        </p:spPr>
        <p:txBody>
          <a:bodyPr wrap="square">
            <a:spAutoFit/>
          </a:bodyPr>
          <a:lstStyle/>
          <a:p>
            <a:pPr algn="l"/>
            <a:r>
              <a:rPr sz="3000" b="1">
                <a:solidFill>
                  <a:srgbClr val="1F3A5F"/>
                </a:solidFill>
                <a:latin typeface="Calibri"/>
              </a:rPr>
              <a:t>The ask</a:t>
            </a:r>
          </a:p>
        </p:txBody>
      </p:sp>
      <p:sp>
        <p:nvSpPr>
          <p:cNvPr id="3" name="TextBox 2"/>
          <p:cNvSpPr txBox="1"/>
          <p:nvPr/>
        </p:nvSpPr>
        <p:spPr>
          <a:xfrm>
            <a:off x="457200" y="914400"/>
            <a:ext cx="11274552" cy="457200"/>
          </a:xfrm>
          <a:prstGeom prst="rect">
            <a:avLst/>
          </a:prstGeom>
          <a:noFill/>
        </p:spPr>
        <p:txBody>
          <a:bodyPr wrap="square">
            <a:spAutoFit/>
          </a:bodyPr>
          <a:lstStyle/>
          <a:p>
            <a:r>
              <a:rPr sz="1400" i="1">
                <a:solidFill>
                  <a:srgbClr val="666666"/>
                </a:solidFill>
                <a:latin typeface="Calibri"/>
              </a:rPr>
              <a:t>What we need from sponsors today to start Discovery next week.</a:t>
            </a:r>
          </a:p>
        </p:txBody>
      </p:sp>
      <p:sp>
        <p:nvSpPr>
          <p:cNvPr id="4" name="TextBox 3"/>
          <p:cNvSpPr txBox="1"/>
          <p:nvPr/>
        </p:nvSpPr>
        <p:spPr>
          <a:xfrm>
            <a:off x="457200" y="1554480"/>
            <a:ext cx="11274552" cy="4572000"/>
          </a:xfrm>
          <a:prstGeom prst="rect">
            <a:avLst/>
          </a:prstGeom>
          <a:noFill/>
        </p:spPr>
        <p:txBody>
          <a:bodyPr wrap="square">
            <a:spAutoFit/>
          </a:bodyPr>
          <a:lstStyle/>
          <a:p>
            <a:pPr algn="l">
              <a:lnSpc>
                <a:spcPct val="115000"/>
              </a:lnSpc>
            </a:pPr>
            <a:r>
              <a:rPr sz="1500" b="1">
                <a:solidFill>
                  <a:srgbClr val="333333"/>
                </a:solidFill>
                <a:latin typeface="Calibri"/>
              </a:rPr>
              <a:t>• Sponsor a 2-3 week Discovery Phase</a:t>
            </a:r>
          </a:p>
          <a:p>
            <a:pPr algn="l">
              <a:lnSpc>
                <a:spcPct val="115000"/>
              </a:lnSpc>
            </a:pPr>
            <a:r>
              <a:rPr sz="1200" i="1">
                <a:solidFill>
                  <a:srgbClr val="666666"/>
                </a:solidFill>
                <a:latin typeface="Calibri"/>
              </a:rPr>
              <a:t>   Named budget owner. Time commitment for working sessions. Clear scope as outlined.</a:t>
            </a:r>
          </a:p>
          <a:p>
            <a:pPr algn="l">
              <a:lnSpc>
                <a:spcPct val="115000"/>
              </a:lnSpc>
              <a:spcBef>
                <a:spcPts val="800"/>
              </a:spcBef>
            </a:pPr>
            <a:r>
              <a:rPr sz="1500" b="1">
                <a:solidFill>
                  <a:srgbClr val="333333"/>
                </a:solidFill>
                <a:latin typeface="Calibri"/>
              </a:rPr>
              <a:t>• Name working-session owners</a:t>
            </a:r>
          </a:p>
          <a:p>
            <a:pPr algn="l">
              <a:lnSpc>
                <a:spcPct val="115000"/>
              </a:lnSpc>
            </a:pPr>
            <a:r>
              <a:rPr sz="1200" i="1">
                <a:solidFill>
                  <a:srgbClr val="666666"/>
                </a:solidFill>
                <a:latin typeface="Calibri"/>
              </a:rPr>
              <a:t>   One per open dimension: CMDB, GTI, SOAR, Stakeholder list, OpenCTI, Doctrine. ~4-6 hours each across the phase.</a:t>
            </a:r>
          </a:p>
          <a:p>
            <a:pPr algn="l">
              <a:lnSpc>
                <a:spcPct val="115000"/>
              </a:lnSpc>
              <a:spcBef>
                <a:spcPts val="800"/>
              </a:spcBef>
            </a:pPr>
            <a:r>
              <a:rPr sz="1500" b="1">
                <a:solidFill>
                  <a:srgbClr val="333333"/>
                </a:solidFill>
                <a:latin typeface="Calibri"/>
              </a:rPr>
              <a:t>• Commit to the Discovery-end decision gate</a:t>
            </a:r>
          </a:p>
          <a:p>
            <a:pPr algn="l">
              <a:lnSpc>
                <a:spcPct val="115000"/>
              </a:lnSpc>
            </a:pPr>
            <a:r>
              <a:rPr sz="1200" i="1">
                <a:solidFill>
                  <a:srgbClr val="666666"/>
                </a:solidFill>
                <a:latin typeface="Calibri"/>
              </a:rPr>
              <a:t>   End of week 3: review validated requirements + target architecture + sized build plan. Decide: build / additional scoping / stop.</a:t>
            </a:r>
          </a:p>
          <a:p>
            <a:pPr algn="l">
              <a:lnSpc>
                <a:spcPct val="115000"/>
              </a:lnSpc>
              <a:spcBef>
                <a:spcPts val="800"/>
              </a:spcBef>
            </a:pPr>
            <a:r>
              <a:rPr sz="1500" b="1">
                <a:solidFill>
                  <a:srgbClr val="333333"/>
                </a:solidFill>
                <a:latin typeface="Calibri"/>
              </a:rPr>
              <a:t>• Confirm Athena as the working project name</a:t>
            </a:r>
          </a:p>
          <a:p>
            <a:pPr algn="l">
              <a:lnSpc>
                <a:spcPct val="115000"/>
              </a:lnSpc>
            </a:pPr>
            <a:r>
              <a:rPr sz="1200" i="1">
                <a:solidFill>
                  <a:srgbClr val="666666"/>
                </a:solidFill>
                <a:latin typeface="Calibri"/>
              </a:rPr>
              <a:t>   (or assign a different one). Used in working-session artifacts and the final build proposal.</a:t>
            </a:r>
          </a:p>
          <a:p>
            <a:pPr algn="l">
              <a:lnSpc>
                <a:spcPct val="115000"/>
              </a:lnSpc>
              <a:spcBef>
                <a:spcPts val="800"/>
              </a:spcBef>
            </a:pPr>
            <a:r>
              <a:rPr sz="1500" b="1">
                <a:solidFill>
                  <a:srgbClr val="333333"/>
                </a:solidFill>
                <a:latin typeface="Calibri"/>
              </a:rPr>
              <a:t>• Approve initial access requests for the POC integrations</a:t>
            </a:r>
          </a:p>
          <a:p>
            <a:pPr algn="l">
              <a:lnSpc>
                <a:spcPct val="115000"/>
              </a:lnSpc>
            </a:pPr>
            <a:r>
              <a:rPr sz="1200" i="1">
                <a:solidFill>
                  <a:srgbClr val="666666"/>
                </a:solidFill>
                <a:latin typeface="Calibri"/>
              </a:rPr>
              <a:t>   Read-only API access to OpenCTI, GTI, CMDB. Sandbox SOAR access. Teams app registration for the dashboard wireframe.</a:t>
            </a:r>
          </a:p>
        </p:txBody>
      </p:sp>
      <p:sp>
        <p:nvSpPr>
          <p:cNvPr id="5" name="TextBox 4"/>
          <p:cNvSpPr txBox="1"/>
          <p:nvPr/>
        </p:nvSpPr>
        <p:spPr>
          <a:xfrm>
            <a:off x="457200" y="6400800"/>
            <a:ext cx="11274552" cy="274320"/>
          </a:xfrm>
          <a:prstGeom prst="rect">
            <a:avLst/>
          </a:prstGeom>
          <a:noFill/>
        </p:spPr>
        <p:txBody>
          <a:bodyPr wrap="none">
            <a:spAutoFit/>
          </a:bodyPr>
          <a:lstStyle/>
          <a:p>
            <a:pPr algn="l"/>
            <a:r>
              <a:rPr sz="900" i="1">
                <a:solidFill>
                  <a:srgbClr val="666666"/>
                </a:solidFill>
                <a:latin typeface="Calibri"/>
              </a:rPr>
              <a:t>Athena · Discovery Proposal · 2026</a:t>
            </a:r>
          </a:p>
        </p:txBody>
      </p:sp>
      <p:sp>
        <p:nvSpPr>
          <p:cNvPr id="6" name="TextBox 5"/>
          <p:cNvSpPr txBox="1"/>
          <p:nvPr/>
        </p:nvSpPr>
        <p:spPr>
          <a:xfrm>
            <a:off x="10515600" y="6400800"/>
            <a:ext cx="1188720" cy="274320"/>
          </a:xfrm>
          <a:prstGeom prst="rect">
            <a:avLst/>
          </a:prstGeom>
          <a:noFill/>
        </p:spPr>
        <p:txBody>
          <a:bodyPr wrap="none">
            <a:spAutoFit/>
          </a:bodyPr>
          <a:lstStyle/>
          <a:p>
            <a:pPr algn="r"/>
            <a:r>
              <a:rPr sz="900">
                <a:solidFill>
                  <a:srgbClr val="666666"/>
                </a:solidFill>
                <a:latin typeface="Calibri"/>
              </a:rPr>
              <a:t>17 / 19</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4552" cy="640080"/>
          </a:xfrm>
          <a:prstGeom prst="rect">
            <a:avLst/>
          </a:prstGeom>
          <a:noFill/>
        </p:spPr>
        <p:txBody>
          <a:bodyPr wrap="square">
            <a:spAutoFit/>
          </a:bodyPr>
          <a:lstStyle/>
          <a:p>
            <a:pPr algn="l"/>
            <a:r>
              <a:rPr sz="3000" b="1">
                <a:solidFill>
                  <a:srgbClr val="1F3A5F"/>
                </a:solidFill>
                <a:latin typeface="Calibri"/>
              </a:rPr>
              <a:t>What Discovery delivers</a:t>
            </a:r>
          </a:p>
        </p:txBody>
      </p:sp>
      <p:sp>
        <p:nvSpPr>
          <p:cNvPr id="3" name="TextBox 2"/>
          <p:cNvSpPr txBox="1"/>
          <p:nvPr/>
        </p:nvSpPr>
        <p:spPr>
          <a:xfrm>
            <a:off x="457200" y="914400"/>
            <a:ext cx="11274552" cy="457200"/>
          </a:xfrm>
          <a:prstGeom prst="rect">
            <a:avLst/>
          </a:prstGeom>
          <a:noFill/>
        </p:spPr>
        <p:txBody>
          <a:bodyPr wrap="square">
            <a:spAutoFit/>
          </a:bodyPr>
          <a:lstStyle/>
          <a:p>
            <a:r>
              <a:rPr sz="1400" i="1">
                <a:solidFill>
                  <a:srgbClr val="666666"/>
                </a:solidFill>
                <a:latin typeface="Calibri"/>
              </a:rPr>
              <a:t>End-of-phase deliverables. Then you decide whether to fund the build.</a:t>
            </a:r>
          </a:p>
        </p:txBody>
      </p:sp>
      <p:sp>
        <p:nvSpPr>
          <p:cNvPr id="4" name="TextBox 3"/>
          <p:cNvSpPr txBox="1"/>
          <p:nvPr/>
        </p:nvSpPr>
        <p:spPr>
          <a:xfrm>
            <a:off x="457200" y="1554480"/>
            <a:ext cx="11274552" cy="4572000"/>
          </a:xfrm>
          <a:prstGeom prst="rect">
            <a:avLst/>
          </a:prstGeom>
          <a:noFill/>
        </p:spPr>
        <p:txBody>
          <a:bodyPr wrap="square">
            <a:spAutoFit/>
          </a:bodyPr>
          <a:lstStyle/>
          <a:p>
            <a:pPr algn="l">
              <a:lnSpc>
                <a:spcPct val="115000"/>
              </a:lnSpc>
            </a:pPr>
            <a:r>
              <a:rPr sz="1300" b="1">
                <a:solidFill>
                  <a:srgbClr val="333333"/>
                </a:solidFill>
                <a:latin typeface="Calibri"/>
              </a:rPr>
              <a:t>• Validated requirements document</a:t>
            </a:r>
          </a:p>
          <a:p>
            <a:pPr algn="l">
              <a:lnSpc>
                <a:spcPct val="115000"/>
              </a:lnSpc>
            </a:pPr>
            <a:r>
              <a:rPr sz="1100" i="1">
                <a:solidFill>
                  <a:srgbClr val="666666"/>
                </a:solidFill>
                <a:latin typeface="Calibri"/>
              </a:rPr>
              <a:t>   Every requirement bullet from the intake, validated through working sessions, with explicit acceptance criteria and stakeholder sign-off.</a:t>
            </a:r>
          </a:p>
          <a:p>
            <a:pPr algn="l">
              <a:lnSpc>
                <a:spcPct val="115000"/>
              </a:lnSpc>
              <a:spcBef>
                <a:spcPts val="800"/>
              </a:spcBef>
            </a:pPr>
            <a:r>
              <a:rPr sz="1300" b="1">
                <a:solidFill>
                  <a:srgbClr val="333333"/>
                </a:solidFill>
                <a:latin typeface="Calibri"/>
              </a:rPr>
              <a:t>• Target architecture</a:t>
            </a:r>
          </a:p>
          <a:p>
            <a:pPr algn="l">
              <a:lnSpc>
                <a:spcPct val="115000"/>
              </a:lnSpc>
            </a:pPr>
            <a:r>
              <a:rPr sz="1100" i="1">
                <a:solidFill>
                  <a:srgbClr val="666666"/>
                </a:solidFill>
                <a:latin typeface="Calibri"/>
              </a:rPr>
              <a:t>   Component diagram with integration paths locked. No more 'proposed' — this is what we'd build. Reviewable, defensible, versionable.</a:t>
            </a:r>
          </a:p>
          <a:p>
            <a:pPr algn="l">
              <a:lnSpc>
                <a:spcPct val="115000"/>
              </a:lnSpc>
              <a:spcBef>
                <a:spcPts val="800"/>
              </a:spcBef>
            </a:pPr>
            <a:r>
              <a:rPr sz="1300" b="1">
                <a:solidFill>
                  <a:srgbClr val="333333"/>
                </a:solidFill>
                <a:latin typeface="Calibri"/>
              </a:rPr>
              <a:t>• Sized build plan with confidence intervals</a:t>
            </a:r>
          </a:p>
          <a:p>
            <a:pPr algn="l">
              <a:lnSpc>
                <a:spcPct val="115000"/>
              </a:lnSpc>
            </a:pPr>
            <a:r>
              <a:rPr sz="1100" i="1">
                <a:solidFill>
                  <a:srgbClr val="666666"/>
                </a:solidFill>
                <a:latin typeface="Calibri"/>
              </a:rPr>
              <a:t>   Phased delivery, FTE estimates, dependency map, risk register. “8 weeks ± 2” not “some amount of time.”</a:t>
            </a:r>
          </a:p>
          <a:p>
            <a:pPr algn="l">
              <a:lnSpc>
                <a:spcPct val="115000"/>
              </a:lnSpc>
              <a:spcBef>
                <a:spcPts val="800"/>
              </a:spcBef>
            </a:pPr>
            <a:r>
              <a:rPr sz="1300" b="1">
                <a:solidFill>
                  <a:srgbClr val="333333"/>
                </a:solidFill>
                <a:latin typeface="Calibri"/>
              </a:rPr>
              <a:t>• Integration POC results</a:t>
            </a:r>
          </a:p>
          <a:p>
            <a:pPr algn="l">
              <a:lnSpc>
                <a:spcPct val="115000"/>
              </a:lnSpc>
            </a:pPr>
            <a:r>
              <a:rPr sz="1100" i="1">
                <a:solidFill>
                  <a:srgbClr val="666666"/>
                </a:solidFill>
                <a:latin typeface="Calibri"/>
              </a:rPr>
              <a:t>   OpenCTI read working. GTI risk-score lookup working. CMDB asset match working. SOAR webhook firing. Each demonstrated in the working sessions, not just claimed.</a:t>
            </a:r>
          </a:p>
          <a:p>
            <a:pPr algn="l">
              <a:lnSpc>
                <a:spcPct val="115000"/>
              </a:lnSpc>
              <a:spcBef>
                <a:spcPts val="800"/>
              </a:spcBef>
            </a:pPr>
            <a:r>
              <a:rPr sz="1300" b="1">
                <a:solidFill>
                  <a:srgbClr val="333333"/>
                </a:solidFill>
                <a:latin typeface="Calibri"/>
              </a:rPr>
              <a:t>• Doctrine sign-off</a:t>
            </a:r>
          </a:p>
          <a:p>
            <a:pPr algn="l">
              <a:lnSpc>
                <a:spcPct val="115000"/>
              </a:lnSpc>
            </a:pPr>
            <a:r>
              <a:rPr sz="1100" i="1">
                <a:solidFill>
                  <a:srgbClr val="666666"/>
                </a:solidFill>
                <a:latin typeface="Calibri"/>
              </a:rPr>
              <a:t>   Intel team lead has reviewed the 6 doctrine files and approved (or marked the modifications needed).</a:t>
            </a:r>
          </a:p>
          <a:p>
            <a:pPr algn="l">
              <a:lnSpc>
                <a:spcPct val="115000"/>
              </a:lnSpc>
              <a:spcBef>
                <a:spcPts val="800"/>
              </a:spcBef>
            </a:pPr>
            <a:r>
              <a:rPr sz="1300" b="1">
                <a:solidFill>
                  <a:srgbClr val="333333"/>
                </a:solidFill>
                <a:latin typeface="Calibri"/>
              </a:rPr>
              <a:t>• Stakeholder sign-off</a:t>
            </a:r>
          </a:p>
          <a:p>
            <a:pPr algn="l">
              <a:lnSpc>
                <a:spcPct val="115000"/>
              </a:lnSpc>
            </a:pPr>
            <a:r>
              <a:rPr sz="1100" i="1">
                <a:solidFill>
                  <a:srgbClr val="666666"/>
                </a:solidFill>
                <a:latin typeface="Calibri"/>
              </a:rPr>
              <a:t>   Each stakeholder team owner has confirmed the proposed per-team rendering format and cadence.</a:t>
            </a:r>
          </a:p>
          <a:p>
            <a:pPr algn="l">
              <a:lnSpc>
                <a:spcPct val="115000"/>
              </a:lnSpc>
              <a:spcBef>
                <a:spcPts val="800"/>
              </a:spcBef>
            </a:pPr>
            <a:r>
              <a:rPr sz="1300" b="1">
                <a:solidFill>
                  <a:srgbClr val="333333"/>
                </a:solidFill>
                <a:latin typeface="Calibri"/>
              </a:rPr>
              <a:t>• A clear go/no-go decision</a:t>
            </a:r>
          </a:p>
          <a:p>
            <a:pPr algn="l">
              <a:lnSpc>
                <a:spcPct val="115000"/>
              </a:lnSpc>
            </a:pPr>
            <a:r>
              <a:rPr sz="1100" i="1">
                <a:solidFill>
                  <a:srgbClr val="666666"/>
                </a:solidFill>
                <a:latin typeface="Calibri"/>
              </a:rPr>
              <a:t>   Either: “we have what we need to build, here's the plan” — or — “here's the specific reason this isn't ready to build yet.” Both outcomes are valuable.</a:t>
            </a:r>
          </a:p>
        </p:txBody>
      </p:sp>
      <p:sp>
        <p:nvSpPr>
          <p:cNvPr id="5" name="TextBox 4"/>
          <p:cNvSpPr txBox="1"/>
          <p:nvPr/>
        </p:nvSpPr>
        <p:spPr>
          <a:xfrm>
            <a:off x="457200" y="6400800"/>
            <a:ext cx="11274552" cy="274320"/>
          </a:xfrm>
          <a:prstGeom prst="rect">
            <a:avLst/>
          </a:prstGeom>
          <a:noFill/>
        </p:spPr>
        <p:txBody>
          <a:bodyPr wrap="none">
            <a:spAutoFit/>
          </a:bodyPr>
          <a:lstStyle/>
          <a:p>
            <a:pPr algn="l"/>
            <a:r>
              <a:rPr sz="900" i="1">
                <a:solidFill>
                  <a:srgbClr val="666666"/>
                </a:solidFill>
                <a:latin typeface="Calibri"/>
              </a:rPr>
              <a:t>Athena · Discovery Proposal · 2026</a:t>
            </a:r>
          </a:p>
        </p:txBody>
      </p:sp>
      <p:sp>
        <p:nvSpPr>
          <p:cNvPr id="6" name="TextBox 5"/>
          <p:cNvSpPr txBox="1"/>
          <p:nvPr/>
        </p:nvSpPr>
        <p:spPr>
          <a:xfrm>
            <a:off x="10515600" y="6400800"/>
            <a:ext cx="1188720" cy="274320"/>
          </a:xfrm>
          <a:prstGeom prst="rect">
            <a:avLst/>
          </a:prstGeom>
          <a:noFill/>
        </p:spPr>
        <p:txBody>
          <a:bodyPr wrap="none">
            <a:spAutoFit/>
          </a:bodyPr>
          <a:lstStyle/>
          <a:p>
            <a:pPr algn="r"/>
            <a:r>
              <a:rPr sz="900">
                <a:solidFill>
                  <a:srgbClr val="666666"/>
                </a:solidFill>
                <a:latin typeface="Calibri"/>
              </a:rPr>
              <a:t>18 / 19</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194560"/>
            <a:ext cx="11274552" cy="1097280"/>
          </a:xfrm>
          <a:prstGeom prst="rect">
            <a:avLst/>
          </a:prstGeom>
          <a:noFill/>
        </p:spPr>
        <p:txBody>
          <a:bodyPr wrap="square">
            <a:spAutoFit/>
          </a:bodyPr>
          <a:lstStyle/>
          <a:p>
            <a:pPr algn="ctr"/>
            <a:r>
              <a:rPr sz="5400" b="1">
                <a:solidFill>
                  <a:srgbClr val="1F3A5F"/>
                </a:solidFill>
                <a:latin typeface="Calibri"/>
              </a:rPr>
              <a:t>Questions?</a:t>
            </a:r>
          </a:p>
        </p:txBody>
      </p:sp>
      <p:sp>
        <p:nvSpPr>
          <p:cNvPr id="3" name="TextBox 2"/>
          <p:cNvSpPr txBox="1"/>
          <p:nvPr/>
        </p:nvSpPr>
        <p:spPr>
          <a:xfrm>
            <a:off x="457200" y="3474720"/>
            <a:ext cx="11274552" cy="457200"/>
          </a:xfrm>
          <a:prstGeom prst="rect">
            <a:avLst/>
          </a:prstGeom>
          <a:noFill/>
        </p:spPr>
        <p:txBody>
          <a:bodyPr wrap="none">
            <a:spAutoFit/>
          </a:bodyPr>
          <a:lstStyle/>
          <a:p>
            <a:pPr algn="ctr"/>
            <a:r>
              <a:rPr sz="1600" i="1">
                <a:solidFill>
                  <a:srgbClr val="666666"/>
                </a:solidFill>
                <a:latin typeface="Calibri"/>
              </a:rPr>
              <a:t>And what you'd want to validate first in Discovery.</a:t>
            </a:r>
          </a:p>
        </p:txBody>
      </p:sp>
      <p:sp>
        <p:nvSpPr>
          <p:cNvPr id="4" name="TextBox 3"/>
          <p:cNvSpPr txBox="1"/>
          <p:nvPr/>
        </p:nvSpPr>
        <p:spPr>
          <a:xfrm>
            <a:off x="457200" y="5029200"/>
            <a:ext cx="11274552" cy="457200"/>
          </a:xfrm>
          <a:prstGeom prst="rect">
            <a:avLst/>
          </a:prstGeom>
          <a:noFill/>
        </p:spPr>
        <p:txBody>
          <a:bodyPr wrap="none">
            <a:spAutoFit/>
          </a:bodyPr>
          <a:lstStyle/>
          <a:p>
            <a:pPr algn="ctr"/>
            <a:r>
              <a:rPr sz="1400">
                <a:solidFill>
                  <a:srgbClr val="666666"/>
                </a:solidFill>
                <a:latin typeface="Calibri"/>
              </a:rPr>
              <a:t>[Presenter name]   ·   [Email / Slack / Teams handle]</a:t>
            </a:r>
          </a:p>
        </p:txBody>
      </p:sp>
      <p:sp>
        <p:nvSpPr>
          <p:cNvPr id="5" name="TextBox 4"/>
          <p:cNvSpPr txBox="1"/>
          <p:nvPr/>
        </p:nvSpPr>
        <p:spPr>
          <a:xfrm>
            <a:off x="457200" y="6400800"/>
            <a:ext cx="11274552" cy="274320"/>
          </a:xfrm>
          <a:prstGeom prst="rect">
            <a:avLst/>
          </a:prstGeom>
          <a:noFill/>
        </p:spPr>
        <p:txBody>
          <a:bodyPr wrap="none">
            <a:spAutoFit/>
          </a:bodyPr>
          <a:lstStyle/>
          <a:p>
            <a:pPr algn="l"/>
            <a:r>
              <a:rPr sz="900" i="1">
                <a:solidFill>
                  <a:srgbClr val="666666"/>
                </a:solidFill>
                <a:latin typeface="Calibri"/>
              </a:rPr>
              <a:t>Athena · Discovery Proposal · 2026</a:t>
            </a:r>
          </a:p>
        </p:txBody>
      </p:sp>
      <p:sp>
        <p:nvSpPr>
          <p:cNvPr id="6" name="TextBox 5"/>
          <p:cNvSpPr txBox="1"/>
          <p:nvPr/>
        </p:nvSpPr>
        <p:spPr>
          <a:xfrm>
            <a:off x="10515600" y="6400800"/>
            <a:ext cx="1188720" cy="274320"/>
          </a:xfrm>
          <a:prstGeom prst="rect">
            <a:avLst/>
          </a:prstGeom>
          <a:noFill/>
        </p:spPr>
        <p:txBody>
          <a:bodyPr wrap="none">
            <a:spAutoFit/>
          </a:bodyPr>
          <a:lstStyle/>
          <a:p>
            <a:pPr algn="r"/>
            <a:r>
              <a:rPr sz="900">
                <a:solidFill>
                  <a:srgbClr val="666666"/>
                </a:solidFill>
                <a:latin typeface="Calibri"/>
              </a:rPr>
              <a:t>19 / 19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