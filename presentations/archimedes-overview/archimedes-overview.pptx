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audience — Claude-familiar devs building something similar on OpenCTI. Frame: 30 minutes, no live demo, lots of real artifacts from a working system. Goal of the talk is to make the case for WHY this kind of tool needs to exist, then show that Claude makes it feasible.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most of this slide on the volume problem. Devs in the audience can map this to alert fatigue in SOC work — same shape, broader source set. The handoff next slide is: leadership doesn't see this volume; they see the analyst's output. The gap between firehose and decision-maker is where the system has to live.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audience here might assume 'leadership' means CISO — broaden it: program managers, IR leads, contract officers in regulated industries also consume these. Point being: one canonical analytic record, two audiences. The product has to serve both without compromising either. That's the design problem the rest of the talk addresses.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column corresponds to a layer of the agent architecture you'll see on slide 14. Critical framing: humans CAN do all three of these. They just can't do them at the volume and cadence leadership demands without burning out. Claude doesn't replace the analyst — it does the rote 80% so the human can spend time on the 20% only humans should do (attribution calls, retraction sign-off, doctrine updates).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'so what' for the dev audience. They already know Claude — frame it in terms they understand: long-context reads, tool use, structured outputs, multi-agent. The CTI tradecraft slides earlier set up WHAT to apply Claude to; this slide says WHY Claude is the right engine. Land hard on context isolation — it's the design insight most teams miss when they try to build something like this with one big prompt.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this is the same cadence as a real intel shop. The agent runs without human oversight between events — 30+ hours of unattended ops across the launch month with zero operator interventions. FLASH sweeps catch breaking news between scheduled briefs. Quiet hours (21:00-09:00 EDT) queue routine FLASHes unless the critical-override conditions all hit (CVSS 10 + active exploitation + tracked actor + sector watchlist) — then it bypasses and pings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Discord post that shipped from #intel-briefs on 2026-05-11 — message ID is on the slide notes if anyone asks. Three design choices to call out: (1) headline IS the hyperlink to the source article; (2) dates are natural-language so freshness is scan-readable; (3) no themed-character voice — clean professional. Discord renders the bullets with bold-blue link headlines and embed previews under each link; show that visually if you can pull it up live.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morning, same findings — but this is the analyst-grade version. Note the doctrine framings throughout: Hard Rule 2 (no originating attribution), Digraph + WEP per item, finding-id citations, single-source-veto annotations. The intel team red-team-reviews this layer. Leadership never sees it — they get Layer 2. ONE canonical record, TWO renderings, one source of truth in git. Critical insight for OpenCTI builders: this maps to STIX-Report objects with extended properties for the doctrine framings.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CTI audience knows this; the dev audience may not. Frame it as: 'this is older than cyber — NATO has used Admiralty since the Cold War.' Why it matters: one bad source poisons a brief. The single-source-veto is the load-bearing safety primitive — it's what stops the agent from over-promoting unverified rumors into 'very likely' assessments. OpenCTI maps this cleanly to opinion / confidence fields on STIX SDOs.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WEP comes from a 1964 CIA paper by Sherman Kent — frame it as 'this is how every IC analyst has been trained for 60 years.' Show that the preflight checklist rejects bare 'may/might/could' — every forward claim has to use the WEP vocabulary or regenerate. Dev audience analog: this is type-safety for probability statements.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 is the answer to 'what if something breaks between the morning and afternoon briefs?' Critical-override has only fired once in launch ops — the gate is intentionally tight. False FLASHes train operators to ignore them; a high-precision channel preserves the 'wake-up' signal. The 72h auto-downgrade clock is the doctrine pattern for handling unverified single-source attribution — ship the FLASH, but commit to retracting/downgrading if independent corroboration doesn't arrive.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empirical observation: 5 of 5 actors scored to date landed non-HIGH (UNC1549 MEDIUM, Charming Kitten LOW, APT34 MEDIUM, MuddyWater LOW, APT37 MEDIUM). The gate is tight by design — HIGH requires an A-grade source explicitly naming an A&amp;D-prime victim, which most public reporting on these actors does not provide. When HIGH eventually lands, it'll mean something. Audience takeaway: the framework refuses to invent confidence the source material doesn't support.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Rules are the audit-defense layer. CTI is regulated-adjacent — ITAR, export-control, copyright, evidence chain. Frame for the dev audience: these are operational constraints baked into the doctrine files that load into every agent invocation. The agent refuses to violate them even when the prompt asks it to. Show what the refusal looks like — collector subagent will refuse a non-authorized port-scan request and log to policy-violations.yaml. This is what 'trust' looks like for a CTI tool.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devs will start drawing parallels to their own stack. Land the three big ideas: (1) subagents = role separation, (2) doctrine files = persistent prompts that load on every run, (3) one writer to externalize side effects (the librarian). If they remember nothing else from the architecture section, this slide is the thing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audience should walk away noticing: write scopes never overlap. Only the librarian can git push. Only the actor-profiler can edit a dossier. The orchestrator never writes anything. That's the design that prevents context bleed and lets red-team-analyst be genuinely contrarian — it has no investment in the primary finding because it never wrote one. Counterintuitive but real: less context per agent = lower error rate. Bigger prompts are not always better.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the OpenCTI angle matters: doctrine files map to versioned policy docs in your repo, loaded into the agent's context as system prompts or via skill files. Frame: doctrine is what the agent's job description USED to be locked inside a single prompt. Splitting it into versioned files means you can review, test, and iterate doctrine like code. Show one example briefly — INTEL-GRADING.md has the Admiralty 6×6 lookup table + the single-source-veto rule + how to handle source corroboration. Plain English. Reviewable by an analyst lead, not just an ML engineer.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 takeaway slide for the audience. The shape transfers: same analyst layer, same doctrine, same subagent decomposition. What changes: the corpus (OpenCTI STIX entities replace markdown files), connectors replace some of our MCPs, Teams replaces Discord. Critical: STIX 2.x has Report, Opinion, and Analyst-Note objects that map cleanly to our finding + analyst section + red-team section. The mapping is straightforward.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what 'doctrine enforced at the integration layer' looks like in code. The allowlist is the load-bearing safety primitive — Hard Rule 4 (no scanning third parties) is enforced before the HTTP call, regardless of prompt. Pattern is portable: wrap any data source as an MCP, encode the policy in the wrapper, the agent literally cannot violate it. Each of the 8 wrappers has a similar policy primitive — VirusTotal/Censys don't have allowlists but they have rate-limit + auth + structured-output discipline.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 insight: agents are MORE auditable than human analysts, not less. Every Claude action is logged with timestamp, tool, doctrine version, and outcome. Frame this as a feature, not just compliance — it's how you debug a bad brief, how you defend a retraction in court, how you train the next iteration of the doctrine. OpenCTI's provenance model adds another layer here — STIX has built-in 'created_by_ref' and 'modified' fields that you get for free.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of the talk. If the audience walks away with one thing it should be: build the gates BEFORE you build the automation. Pattern: agent proposes, human approves on anything with reputational stakes. The agent doesn't make the call where being wrong has consequences — it surfaces the call to the human. This is also why the agent never originates attribution: attribution is a load-bearing claim with policy + legal + reputational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painful, valuable. Six bugs is enough to make the point. The pattern: third-party tool APIs drift, documentation lags, and mocks based on documentation are confidence-without-verification. Recommendation for OpenCTI builders: run an OpenCTI instance in your CI environment and exercise your Claude-integration tests against it. Painful upfront, pays back constantly.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Surprising result that most teams miss. The instinct is 'give the model everything it might need.' The opposite works better — minimal scope per agent, with the orchestrator handling cross-agent state. Land hard on the practical implication for OpenCTI: their architecture should map subagents to services or worker queues, not to one big prompt.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Realistic timeline assuming OpenCTI is already running and you have Claude API access. The doctrine work is the underestimated piece — it's not just markdown, it's the agent's job description. Don't skip the live validation in week 6. It's where the 6 bugs from lesson 2 surface in your own stack.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to be ready for: (1) cost — Claude API token usage at this volume, ballpark $X/month; (2) what doesn't work yet — the dashboard (deferred indefinitely), the threat-box gate hasn't fired in five tries (feature not bug); (3) team size — Archimedes is one operator + Claude; their build will scale with team size and OpenCTI complexity; (4) what would you do differently — probably build OpenCTI-on-day-1 instead of markdown corpus; we got the analytic patterns right but the data model is constrained by file-based storage.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94560"/>
            <a:ext cx="11274552" cy="1097280"/>
          </a:xfrm>
          <a:prstGeom prst="rect">
            <a:avLst/>
          </a:prstGeom>
          <a:noFill/>
        </p:spPr>
        <p:txBody>
          <a:bodyPr wrap="square">
            <a:spAutoFit/>
          </a:bodyPr>
          <a:lstStyle/>
          <a:p>
            <a:pPr algn="ctr"/>
            <a:r>
              <a:rPr sz="4400" b="1">
                <a:solidFill>
                  <a:srgbClr val="1F3A5F"/>
                </a:solidFill>
                <a:latin typeface="Calibri"/>
              </a:rPr>
              <a:t>Building a CTI Analyst with Claude</a:t>
            </a:r>
          </a:p>
        </p:txBody>
      </p:sp>
      <p:sp>
        <p:nvSpPr>
          <p:cNvPr id="3" name="TextBox 2"/>
          <p:cNvSpPr txBox="1"/>
          <p:nvPr/>
        </p:nvSpPr>
        <p:spPr>
          <a:xfrm>
            <a:off x="457200" y="3383280"/>
            <a:ext cx="11274552" cy="548640"/>
          </a:xfrm>
          <a:prstGeom prst="rect">
            <a:avLst/>
          </a:prstGeom>
          <a:noFill/>
        </p:spPr>
        <p:txBody>
          <a:bodyPr wrap="none">
            <a:spAutoFit/>
          </a:bodyPr>
          <a:lstStyle/>
          <a:p>
            <a:pPr algn="ctr"/>
            <a:r>
              <a:rPr sz="1800" i="1">
                <a:solidFill>
                  <a:srgbClr val="666666"/>
                </a:solidFill>
                <a:latin typeface="Calibri"/>
              </a:rPr>
              <a:t>Lessons from Archimedes — an autonomous threat-intel agent shipping graded briefs twice a day</a:t>
            </a:r>
          </a:p>
        </p:txBody>
      </p:sp>
      <p:sp>
        <p:nvSpPr>
          <p:cNvPr id="4" name="TextBox 3"/>
          <p:cNvSpPr txBox="1"/>
          <p:nvPr/>
        </p:nvSpPr>
        <p:spPr>
          <a:xfrm>
            <a:off x="457200" y="5303520"/>
            <a:ext cx="11274552" cy="457200"/>
          </a:xfrm>
          <a:prstGeom prst="rect">
            <a:avLst/>
          </a:prstGeom>
          <a:noFill/>
        </p:spPr>
        <p:txBody>
          <a:bodyPr wrap="none">
            <a:spAutoFit/>
          </a:bodyPr>
          <a:lstStyle/>
          <a:p>
            <a:pPr algn="ctr"/>
            <a:r>
              <a:rPr sz="1400">
                <a:solidFill>
                  <a:srgbClr val="666666"/>
                </a:solidFill>
                <a:latin typeface="Calibri"/>
              </a:rPr>
              <a:t>[Presenter name]   ·   [Date]   ·   For: [Software dev team / OpenCTI build]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The CTI analyst's day</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What an intel analyst is actually doing at 0700</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800" b="1">
                <a:solidFill>
                  <a:srgbClr val="333333"/>
                </a:solidFill>
                <a:latin typeface="Calibri"/>
              </a:rPr>
              <a:t>• ~45 OSINT sources to monitor</a:t>
            </a:r>
          </a:p>
          <a:p>
            <a:pPr algn="l">
              <a:lnSpc>
                <a:spcPct val="115000"/>
              </a:lnSpc>
            </a:pPr>
            <a:r>
              <a:rPr sz="1300" i="1">
                <a:solidFill>
                  <a:srgbClr val="666666"/>
                </a:solidFill>
                <a:latin typeface="Calibri"/>
              </a:rPr>
              <a:t>   CISA KEV, vendor blogs (Mandiant, Unit 42, MSTIC, CrowdStrike), security trades (BleepingComputer, The Record, Krebs), X/RSS firehose, threat-feed APIs</a:t>
            </a:r>
          </a:p>
          <a:p>
            <a:pPr algn="l">
              <a:lnSpc>
                <a:spcPct val="115000"/>
              </a:lnSpc>
              <a:spcBef>
                <a:spcPts val="800"/>
              </a:spcBef>
            </a:pPr>
            <a:r>
              <a:rPr sz="1800" b="1">
                <a:solidFill>
                  <a:srgbClr val="333333"/>
                </a:solidFill>
                <a:latin typeface="Calibri"/>
              </a:rPr>
              <a:t>• Hundreds of items per day</a:t>
            </a:r>
          </a:p>
          <a:p>
            <a:pPr algn="l">
              <a:lnSpc>
                <a:spcPct val="115000"/>
              </a:lnSpc>
            </a:pPr>
            <a:r>
              <a:rPr sz="1300" i="1">
                <a:solidFill>
                  <a:srgbClr val="666666"/>
                </a:solidFill>
                <a:latin typeface="Calibri"/>
              </a:rPr>
              <a:t>   Most are noise. A handful are signal. Sorting one from the other is the job.</a:t>
            </a:r>
          </a:p>
          <a:p>
            <a:pPr algn="l">
              <a:lnSpc>
                <a:spcPct val="115000"/>
              </a:lnSpc>
              <a:spcBef>
                <a:spcPts val="800"/>
              </a:spcBef>
            </a:pPr>
            <a:r>
              <a:rPr sz="1800" b="1">
                <a:solidFill>
                  <a:srgbClr val="333333"/>
                </a:solidFill>
                <a:latin typeface="Calibri"/>
              </a:rPr>
              <a:t>• 0800 deadline for the morning brief</a:t>
            </a:r>
          </a:p>
          <a:p>
            <a:pPr algn="l">
              <a:lnSpc>
                <a:spcPct val="115000"/>
              </a:lnSpc>
            </a:pPr>
            <a:r>
              <a:rPr sz="1300" i="1">
                <a:solidFill>
                  <a:srgbClr val="666666"/>
                </a:solidFill>
                <a:latin typeface="Calibri"/>
              </a:rPr>
              <a:t>   Leadership wants a 5-minute readable summary — graded, prioritized, sector-relevant — by 0800 EDT. Not raw signal. Not links to articles.</a:t>
            </a:r>
          </a:p>
          <a:p>
            <a:pPr algn="l">
              <a:lnSpc>
                <a:spcPct val="115000"/>
              </a:lnSpc>
              <a:spcBef>
                <a:spcPts val="800"/>
              </a:spcBef>
            </a:pPr>
            <a:r>
              <a:rPr sz="1800" b="1">
                <a:solidFill>
                  <a:srgbClr val="333333"/>
                </a:solidFill>
                <a:latin typeface="Calibri"/>
              </a:rPr>
              <a:t>• Then again at 1600. And FLASH if something breaks.</a:t>
            </a:r>
          </a:p>
          <a:p>
            <a:pPr algn="l">
              <a:lnSpc>
                <a:spcPct val="115000"/>
              </a:lnSpc>
            </a:pPr>
            <a:r>
              <a:rPr sz="1300" i="1">
                <a:solidFill>
                  <a:srgbClr val="666666"/>
                </a:solidFill>
                <a:latin typeface="Calibri"/>
              </a:rPr>
              <a:t>   Plus weekly synthesis, threat-actor deep dives, retraction handling when something ships wrong. The cadence never stops.</a:t>
            </a:r>
          </a:p>
          <a:p>
            <a:pPr algn="l">
              <a:lnSpc>
                <a:spcPct val="115000"/>
              </a:lnSpc>
              <a:spcBef>
                <a:spcPts val="800"/>
              </a:spcBef>
            </a:pPr>
            <a:r>
              <a:rPr sz="1800" b="1">
                <a:solidFill>
                  <a:srgbClr val="333333"/>
                </a:solidFill>
                <a:latin typeface="Calibri"/>
              </a:rPr>
              <a:t>• Burnout is the norm</a:t>
            </a:r>
          </a:p>
          <a:p>
            <a:pPr algn="l">
              <a:lnSpc>
                <a:spcPct val="115000"/>
              </a:lnSpc>
            </a:pPr>
            <a:r>
              <a:rPr sz="1300" i="1">
                <a:solidFill>
                  <a:srgbClr val="666666"/>
                </a:solidFill>
                <a:latin typeface="Calibri"/>
              </a:rPr>
              <a:t>   One human, one inbox, one 'too much signal, too little time' problem. The grading and delivery layers eat the time the analyst should spend on judgment.</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Where leadership sits</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Different audience, different document</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800" b="1">
                <a:solidFill>
                  <a:srgbClr val="333333"/>
                </a:solidFill>
                <a:latin typeface="Calibri"/>
              </a:rPr>
              <a:t>• Reads on a phone, on the way to a meeting</a:t>
            </a:r>
          </a:p>
          <a:p>
            <a:pPr algn="l">
              <a:lnSpc>
                <a:spcPct val="115000"/>
              </a:lnSpc>
            </a:pPr>
            <a:r>
              <a:rPr sz="1300" i="1">
                <a:solidFill>
                  <a:srgbClr val="666666"/>
                </a:solidFill>
                <a:latin typeface="Calibri"/>
              </a:rPr>
              <a:t>   Not at a desk. Not with attachments. Scan-on-mobile is the constraint.</a:t>
            </a:r>
          </a:p>
          <a:p>
            <a:pPr algn="l">
              <a:lnSpc>
                <a:spcPct val="115000"/>
              </a:lnSpc>
              <a:spcBef>
                <a:spcPts val="800"/>
              </a:spcBef>
            </a:pPr>
            <a:r>
              <a:rPr sz="1800" b="1">
                <a:solidFill>
                  <a:srgbClr val="333333"/>
                </a:solidFill>
                <a:latin typeface="Calibri"/>
              </a:rPr>
              <a:t>• Wants the call, not the evidence</a:t>
            </a:r>
          </a:p>
          <a:p>
            <a:pPr algn="l">
              <a:lnSpc>
                <a:spcPct val="115000"/>
              </a:lnSpc>
            </a:pPr>
            <a:r>
              <a:rPr sz="1300" i="1">
                <a:solidFill>
                  <a:srgbClr val="666666"/>
                </a:solidFill>
                <a:latin typeface="Calibri"/>
              </a:rPr>
              <a:t>   "Should we be worried about X?" — they want yes/no/watch with one sentence of why.</a:t>
            </a:r>
          </a:p>
          <a:p>
            <a:pPr algn="l">
              <a:lnSpc>
                <a:spcPct val="115000"/>
              </a:lnSpc>
              <a:spcBef>
                <a:spcPts val="800"/>
              </a:spcBef>
            </a:pPr>
            <a:r>
              <a:rPr sz="1800" b="1">
                <a:solidFill>
                  <a:srgbClr val="333333"/>
                </a:solidFill>
                <a:latin typeface="Calibri"/>
              </a:rPr>
              <a:t>• Trusts the brief or doesn't read it</a:t>
            </a:r>
          </a:p>
          <a:p>
            <a:pPr algn="l">
              <a:lnSpc>
                <a:spcPct val="115000"/>
              </a:lnSpc>
            </a:pPr>
            <a:r>
              <a:rPr sz="1300" i="1">
                <a:solidFill>
                  <a:srgbClr val="666666"/>
                </a:solidFill>
                <a:latin typeface="Calibri"/>
              </a:rPr>
              <a:t>   If two briefs in a row land wrong, you've lost them. Trust is binary.</a:t>
            </a:r>
          </a:p>
          <a:p>
            <a:pPr algn="l">
              <a:lnSpc>
                <a:spcPct val="115000"/>
              </a:lnSpc>
              <a:spcBef>
                <a:spcPts val="800"/>
              </a:spcBef>
            </a:pPr>
            <a:r>
              <a:rPr sz="1800" b="1">
                <a:solidFill>
                  <a:srgbClr val="333333"/>
                </a:solidFill>
                <a:latin typeface="Calibri"/>
              </a:rPr>
              <a:t>• Doesn't speak Admiralty, WEP, or MITRE IDs</a:t>
            </a:r>
          </a:p>
          <a:p>
            <a:pPr algn="l">
              <a:lnSpc>
                <a:spcPct val="115000"/>
              </a:lnSpc>
            </a:pPr>
            <a:r>
              <a:rPr sz="1300" i="1">
                <a:solidFill>
                  <a:srgbClr val="666666"/>
                </a:solidFill>
                <a:latin typeface="Calibri"/>
              </a:rPr>
              <a:t>   The framework is for the analyst's rigor — the leadership view strips it back to plain English.</a:t>
            </a:r>
          </a:p>
          <a:p>
            <a:pPr algn="l">
              <a:lnSpc>
                <a:spcPct val="115000"/>
              </a:lnSpc>
              <a:spcBef>
                <a:spcPts val="800"/>
              </a:spcBef>
            </a:pPr>
            <a:r>
              <a:rPr sz="1800" b="1">
                <a:solidFill>
                  <a:srgbClr val="333333"/>
                </a:solidFill>
                <a:latin typeface="Calibri"/>
              </a:rPr>
              <a:t>• Wants source links — for the reader who wants to dig</a:t>
            </a:r>
          </a:p>
          <a:p>
            <a:pPr algn="l">
              <a:lnSpc>
                <a:spcPct val="115000"/>
              </a:lnSpc>
            </a:pPr>
            <a:r>
              <a:rPr sz="1300" i="1">
                <a:solidFill>
                  <a:srgbClr val="666666"/>
                </a:solidFill>
                <a:latin typeface="Calibri"/>
              </a:rPr>
              <a:t>   Trust-but-verify. Headlines that link to the source article are non-negotiable.</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The three jobs</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Collect → Grade → Deliver. Each has a human bottleneck.</a:t>
            </a:r>
          </a:p>
        </p:txBody>
      </p:sp>
      <p:sp>
        <p:nvSpPr>
          <p:cNvPr id="4" name="Rectangle 3"/>
          <p:cNvSpPr/>
          <p:nvPr/>
        </p:nvSpPr>
        <p:spPr>
          <a:xfrm>
            <a:off x="457200" y="1645920"/>
            <a:ext cx="3657600" cy="4572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COLLECT</a:t>
            </a:r>
          </a:p>
        </p:txBody>
      </p:sp>
      <p:sp>
        <p:nvSpPr>
          <p:cNvPr id="5" name="TextBox 4"/>
          <p:cNvSpPr txBox="1"/>
          <p:nvPr/>
        </p:nvSpPr>
        <p:spPr>
          <a:xfrm>
            <a:off x="457200" y="2194560"/>
            <a:ext cx="3657600" cy="4114800"/>
          </a:xfrm>
          <a:prstGeom prst="rect">
            <a:avLst/>
          </a:prstGeom>
          <a:noFill/>
        </p:spPr>
        <p:txBody>
          <a:bodyPr wrap="square">
            <a:spAutoFit/>
          </a:bodyPr>
          <a:lstStyle/>
          <a:p>
            <a:pPr algn="l">
              <a:lnSpc>
                <a:spcPct val="120000"/>
              </a:lnSpc>
            </a:pPr>
            <a:r>
              <a:rPr sz="1300">
                <a:solidFill>
                  <a:srgbClr val="333333"/>
                </a:solidFill>
                <a:latin typeface="Calibri"/>
              </a:rPr>
              <a:t>Read everything that hit your sources in the last 14 hours.</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Decide what's worth pulling forward to the brief.</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Pull IOCs, actor mentions, CVE numbers, sector tags. Don't lose context.</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Cross-reference against tracked actors and prior coverage.</a:t>
            </a:r>
          </a:p>
        </p:txBody>
      </p:sp>
      <p:sp>
        <p:nvSpPr>
          <p:cNvPr id="6" name="Rectangle 5"/>
          <p:cNvSpPr/>
          <p:nvPr/>
        </p:nvSpPr>
        <p:spPr>
          <a:xfrm>
            <a:off x="4297680" y="1645920"/>
            <a:ext cx="365760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GRADE</a:t>
            </a:r>
          </a:p>
        </p:txBody>
      </p:sp>
      <p:sp>
        <p:nvSpPr>
          <p:cNvPr id="7" name="TextBox 6"/>
          <p:cNvSpPr txBox="1"/>
          <p:nvPr/>
        </p:nvSpPr>
        <p:spPr>
          <a:xfrm>
            <a:off x="4297680" y="2194560"/>
            <a:ext cx="3657600" cy="4114800"/>
          </a:xfrm>
          <a:prstGeom prst="rect">
            <a:avLst/>
          </a:prstGeom>
          <a:noFill/>
        </p:spPr>
        <p:txBody>
          <a:bodyPr wrap="square">
            <a:spAutoFit/>
          </a:bodyPr>
          <a:lstStyle/>
          <a:p>
            <a:pPr algn="l">
              <a:lnSpc>
                <a:spcPct val="120000"/>
              </a:lnSpc>
            </a:pPr>
            <a:r>
              <a:rPr sz="1300">
                <a:solidFill>
                  <a:srgbClr val="333333"/>
                </a:solidFill>
                <a:latin typeface="Calibri"/>
              </a:rPr>
              <a:t>Apply the Admiralty 6×6 to each source.</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Apply Words of Estimative Probability to every forward claim.</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Single-source veto on 'very likely' or higher.</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Refuse to originate attribution.</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Test alternative hypotheses on load-bearing claims.</a:t>
            </a:r>
          </a:p>
        </p:txBody>
      </p:sp>
      <p:sp>
        <p:nvSpPr>
          <p:cNvPr id="8" name="Rectangle 7"/>
          <p:cNvSpPr/>
          <p:nvPr/>
        </p:nvSpPr>
        <p:spPr>
          <a:xfrm>
            <a:off x="8138160" y="1645920"/>
            <a:ext cx="36576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DELIVER</a:t>
            </a:r>
          </a:p>
        </p:txBody>
      </p:sp>
      <p:sp>
        <p:nvSpPr>
          <p:cNvPr id="9" name="TextBox 8"/>
          <p:cNvSpPr txBox="1"/>
          <p:nvPr/>
        </p:nvSpPr>
        <p:spPr>
          <a:xfrm>
            <a:off x="8138160" y="2194560"/>
            <a:ext cx="3657600" cy="4114800"/>
          </a:xfrm>
          <a:prstGeom prst="rect">
            <a:avLst/>
          </a:prstGeom>
          <a:noFill/>
        </p:spPr>
        <p:txBody>
          <a:bodyPr wrap="square">
            <a:spAutoFit/>
          </a:bodyPr>
          <a:lstStyle/>
          <a:p>
            <a:pPr algn="l">
              <a:lnSpc>
                <a:spcPct val="120000"/>
              </a:lnSpc>
            </a:pPr>
            <a:r>
              <a:rPr sz="1300">
                <a:solidFill>
                  <a:srgbClr val="333333"/>
                </a:solidFill>
                <a:latin typeface="Calibri"/>
              </a:rPr>
              <a:t>Compose the analyst-grade markdown — full doctrine framings.</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Compose the Smart Brevity Discord summary — mobile-readable.</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Post to the channel, commit to git, log the audit event.</a:t>
            </a:r>
          </a:p>
          <a:p>
            <a:pPr algn="l">
              <a:lnSpc>
                <a:spcPct val="120000"/>
              </a:lnSpc>
            </a:pPr>
            <a:r>
              <a:rPr sz="1300">
                <a:solidFill>
                  <a:srgbClr val="333333"/>
                </a:solidFill>
                <a:latin typeface="Calibri"/>
              </a:rPr>
              <a:t/>
            </a:r>
          </a:p>
          <a:p>
            <a:pPr algn="l">
              <a:lnSpc>
                <a:spcPct val="120000"/>
              </a:lnSpc>
            </a:pPr>
            <a:r>
              <a:rPr sz="1300">
                <a:solidFill>
                  <a:srgbClr val="333333"/>
                </a:solidFill>
                <a:latin typeface="Calibri"/>
              </a:rPr>
              <a:t>Handle retractions additively. Never silently delete.</a:t>
            </a:r>
          </a:p>
        </p:txBody>
      </p:sp>
      <p:sp>
        <p:nvSpPr>
          <p:cNvPr id="10" name="TextBox 9"/>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11" name="TextBox 10"/>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Why Claude is the right tool</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Three concrete asks Claude is good at</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700" b="1">
                <a:solidFill>
                  <a:srgbClr val="333333"/>
                </a:solidFill>
                <a:latin typeface="Calibri"/>
              </a:rPr>
              <a:t>• Read 200 articles, surface 4 worth grading</a:t>
            </a:r>
          </a:p>
          <a:p>
            <a:pPr algn="l">
              <a:lnSpc>
                <a:spcPct val="115000"/>
              </a:lnSpc>
            </a:pPr>
            <a:r>
              <a:rPr sz="1300" i="1">
                <a:solidFill>
                  <a:srgbClr val="666666"/>
                </a:solidFill>
                <a:latin typeface="Calibri"/>
              </a:rPr>
              <a:t>   Long-context, summarization-at-volume. Cheap relative to an analyst-hour.</a:t>
            </a:r>
          </a:p>
          <a:p>
            <a:pPr algn="l">
              <a:lnSpc>
                <a:spcPct val="115000"/>
              </a:lnSpc>
              <a:spcBef>
                <a:spcPts val="800"/>
              </a:spcBef>
            </a:pPr>
            <a:r>
              <a:rPr sz="1700" b="1">
                <a:solidFill>
                  <a:srgbClr val="333333"/>
                </a:solidFill>
                <a:latin typeface="Calibri"/>
              </a:rPr>
              <a:t>• Apply structured frameworks consistently</a:t>
            </a:r>
          </a:p>
          <a:p>
            <a:pPr algn="l">
              <a:lnSpc>
                <a:spcPct val="115000"/>
              </a:lnSpc>
            </a:pPr>
            <a:r>
              <a:rPr sz="1300" i="1">
                <a:solidFill>
                  <a:srgbClr val="666666"/>
                </a:solidFill>
                <a:latin typeface="Calibri"/>
              </a:rPr>
              <a:t>   Admiralty 6×6, WEP probability bands, MITRE ATT&amp;CK tagging. Frameworks are rules; rules are what LLMs follow well when the doctrine is written precisely.</a:t>
            </a:r>
          </a:p>
          <a:p>
            <a:pPr algn="l">
              <a:lnSpc>
                <a:spcPct val="115000"/>
              </a:lnSpc>
              <a:spcBef>
                <a:spcPts val="800"/>
              </a:spcBef>
            </a:pPr>
            <a:r>
              <a:rPr sz="1700" b="1">
                <a:solidFill>
                  <a:srgbClr val="333333"/>
                </a:solidFill>
                <a:latin typeface="Calibri"/>
              </a:rPr>
              <a:t>• Compose to a strict format</a:t>
            </a:r>
          </a:p>
          <a:p>
            <a:pPr algn="l">
              <a:lnSpc>
                <a:spcPct val="115000"/>
              </a:lnSpc>
            </a:pPr>
            <a:r>
              <a:rPr sz="1300" i="1">
                <a:solidFill>
                  <a:srgbClr val="666666"/>
                </a:solidFill>
                <a:latin typeface="Calibri"/>
              </a:rPr>
              <a:t>   Smart Brevity — banned phrases, active voice, lead with impact, bold the 'what.' Format compliance is checklist-shaped; the agent regenerates if it fails preflight.</a:t>
            </a:r>
          </a:p>
          <a:p>
            <a:pPr algn="l">
              <a:lnSpc>
                <a:spcPct val="115000"/>
              </a:lnSpc>
              <a:spcBef>
                <a:spcPts val="800"/>
              </a:spcBef>
            </a:pPr>
            <a:r>
              <a:rPr sz="1700" b="1">
                <a:solidFill>
                  <a:srgbClr val="333333"/>
                </a:solidFill>
                <a:latin typeface="Calibri"/>
              </a:rPr>
              <a:t>• Tool use for collection + delivery</a:t>
            </a:r>
          </a:p>
          <a:p>
            <a:pPr algn="l">
              <a:lnSpc>
                <a:spcPct val="115000"/>
              </a:lnSpc>
            </a:pPr>
            <a:r>
              <a:rPr sz="1300" i="1">
                <a:solidFill>
                  <a:srgbClr val="666666"/>
                </a:solidFill>
                <a:latin typeface="Calibri"/>
              </a:rPr>
              <a:t>   MCP wrappers expose Shodan / VirusTotal / theHarvester / SpiderFoot / Splunk as callable tools. Claude calls them; Claude reads the responses; doctrine bounds what's allowed.</a:t>
            </a:r>
          </a:p>
          <a:p>
            <a:pPr algn="l">
              <a:lnSpc>
                <a:spcPct val="115000"/>
              </a:lnSpc>
              <a:spcBef>
                <a:spcPts val="800"/>
              </a:spcBef>
            </a:pPr>
            <a:r>
              <a:rPr sz="1700" b="1">
                <a:solidFill>
                  <a:srgbClr val="333333"/>
                </a:solidFill>
                <a:latin typeface="Calibri"/>
              </a:rPr>
              <a:t>• Subagent context isolation</a:t>
            </a:r>
          </a:p>
          <a:p>
            <a:pPr algn="l">
              <a:lnSpc>
                <a:spcPct val="115000"/>
              </a:lnSpc>
            </a:pPr>
            <a:r>
              <a:rPr sz="1300" i="1">
                <a:solidFill>
                  <a:srgbClr val="666666"/>
                </a:solidFill>
                <a:latin typeface="Calibri"/>
              </a:rPr>
              <a:t>   Each role gets its own context — collector never sees the brief; briefer never sees raw articles; librarian is the only writer to git/Splunk/Discord. Lower error rate by construction.</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Daily rhythm</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The cadence is the product. Fully autonomous; humans approve only HIGH-impact calls.</a:t>
            </a:r>
          </a:p>
        </p:txBody>
      </p:sp>
      <p:sp>
        <p:nvSpPr>
          <p:cNvPr id="4" name="Rectangle 3"/>
          <p:cNvSpPr/>
          <p:nvPr/>
        </p:nvSpPr>
        <p:spPr>
          <a:xfrm>
            <a:off x="731520" y="1554480"/>
            <a:ext cx="146304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  TIME (EDT)</a:t>
            </a:r>
          </a:p>
        </p:txBody>
      </p:sp>
      <p:sp>
        <p:nvSpPr>
          <p:cNvPr id="5" name="Rectangle 4"/>
          <p:cNvSpPr/>
          <p:nvPr/>
        </p:nvSpPr>
        <p:spPr>
          <a:xfrm>
            <a:off x="2194560" y="1554480"/>
            <a:ext cx="292608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FFFFFF"/>
                </a:solidFill>
                <a:latin typeface="Calibri"/>
              </a:rPr>
              <a:t>  EVENT</a:t>
            </a:r>
          </a:p>
        </p:txBody>
      </p:sp>
      <p:sp>
        <p:nvSpPr>
          <p:cNvPr id="6" name="Rectangle 5"/>
          <p:cNvSpPr/>
          <p:nvPr/>
        </p:nvSpPr>
        <p:spPr>
          <a:xfrm>
            <a:off x="5120640" y="1554480"/>
            <a:ext cx="640080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FFFFFF"/>
                </a:solidFill>
                <a:latin typeface="Calibri"/>
              </a:rPr>
              <a:t>  OUTPUT</a:t>
            </a:r>
          </a:p>
        </p:txBody>
      </p:sp>
      <p:sp>
        <p:nvSpPr>
          <p:cNvPr id="7" name="Rectangle 6"/>
          <p:cNvSpPr/>
          <p:nvPr/>
        </p:nvSpPr>
        <p:spPr>
          <a:xfrm>
            <a:off x="731520" y="1920240"/>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00:00 EDT</a:t>
            </a:r>
          </a:p>
        </p:txBody>
      </p:sp>
      <p:sp>
        <p:nvSpPr>
          <p:cNvPr id="8" name="Rectangle 7"/>
          <p:cNvSpPr/>
          <p:nvPr/>
        </p:nvSpPr>
        <p:spPr>
          <a:xfrm>
            <a:off x="2194560" y="1920240"/>
            <a:ext cx="29260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FLASH sweep</a:t>
            </a:r>
          </a:p>
        </p:txBody>
      </p:sp>
      <p:sp>
        <p:nvSpPr>
          <p:cNvPr id="9" name="Rectangle 8"/>
          <p:cNvSpPr/>
          <p:nvPr/>
        </p:nvSpPr>
        <p:spPr>
          <a:xfrm>
            <a:off x="5120640" y="1920240"/>
            <a:ext cx="64008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Check for triggers; queue if outside active hours</a:t>
            </a:r>
          </a:p>
        </p:txBody>
      </p:sp>
      <p:sp>
        <p:nvSpPr>
          <p:cNvPr id="10" name="Rectangle 9"/>
          <p:cNvSpPr/>
          <p:nvPr/>
        </p:nvSpPr>
        <p:spPr>
          <a:xfrm>
            <a:off x="731520" y="2286000"/>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06:00 EDT</a:t>
            </a:r>
          </a:p>
        </p:txBody>
      </p:sp>
      <p:sp>
        <p:nvSpPr>
          <p:cNvPr id="11" name="Rectangle 10"/>
          <p:cNvSpPr/>
          <p:nvPr/>
        </p:nvSpPr>
        <p:spPr>
          <a:xfrm>
            <a:off x="2194560" y="2286000"/>
            <a:ext cx="29260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FLASH sweep</a:t>
            </a:r>
          </a:p>
        </p:txBody>
      </p:sp>
      <p:sp>
        <p:nvSpPr>
          <p:cNvPr id="12" name="Rectangle 11"/>
          <p:cNvSpPr/>
          <p:nvPr/>
        </p:nvSpPr>
        <p:spPr>
          <a:xfrm>
            <a:off x="5120640" y="2286000"/>
            <a:ext cx="64008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Same</a:t>
            </a:r>
          </a:p>
        </p:txBody>
      </p:sp>
      <p:sp>
        <p:nvSpPr>
          <p:cNvPr id="13" name="Rectangle 12"/>
          <p:cNvSpPr/>
          <p:nvPr/>
        </p:nvSpPr>
        <p:spPr>
          <a:xfrm>
            <a:off x="731520" y="2651760"/>
            <a:ext cx="146304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07:30 EDT</a:t>
            </a:r>
          </a:p>
        </p:txBody>
      </p:sp>
      <p:sp>
        <p:nvSpPr>
          <p:cNvPr id="14" name="Rectangle 13"/>
          <p:cNvSpPr/>
          <p:nvPr/>
        </p:nvSpPr>
        <p:spPr>
          <a:xfrm>
            <a:off x="2194560" y="2651760"/>
            <a:ext cx="292608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333333"/>
                </a:solidFill>
                <a:latin typeface="Calibri"/>
              </a:rPr>
              <a:t>  Pre-brief collection</a:t>
            </a:r>
          </a:p>
        </p:txBody>
      </p:sp>
      <p:sp>
        <p:nvSpPr>
          <p:cNvPr id="15" name="Rectangle 14"/>
          <p:cNvSpPr/>
          <p:nvPr/>
        </p:nvSpPr>
        <p:spPr>
          <a:xfrm>
            <a:off x="5120640" y="2651760"/>
            <a:ext cx="640080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Pull last 14h of OSINT into raw signal</a:t>
            </a:r>
          </a:p>
        </p:txBody>
      </p:sp>
      <p:sp>
        <p:nvSpPr>
          <p:cNvPr id="16" name="Rectangle 15"/>
          <p:cNvSpPr/>
          <p:nvPr/>
        </p:nvSpPr>
        <p:spPr>
          <a:xfrm>
            <a:off x="731520" y="3017520"/>
            <a:ext cx="146304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08:00 EDT</a:t>
            </a:r>
          </a:p>
        </p:txBody>
      </p:sp>
      <p:sp>
        <p:nvSpPr>
          <p:cNvPr id="17" name="Rectangle 16"/>
          <p:cNvSpPr/>
          <p:nvPr/>
        </p:nvSpPr>
        <p:spPr>
          <a:xfrm>
            <a:off x="2194560" y="3017520"/>
            <a:ext cx="292608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333333"/>
                </a:solidFill>
                <a:latin typeface="Calibri"/>
              </a:rPr>
              <a:t>  MORNING BRIEF</a:t>
            </a:r>
          </a:p>
        </p:txBody>
      </p:sp>
      <p:sp>
        <p:nvSpPr>
          <p:cNvPr id="18" name="Rectangle 17"/>
          <p:cNvSpPr/>
          <p:nvPr/>
        </p:nvSpPr>
        <p:spPr>
          <a:xfrm>
            <a:off x="5120640" y="3017520"/>
            <a:ext cx="640080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Graded findings → analyst markdown + Discord summary</a:t>
            </a:r>
          </a:p>
        </p:txBody>
      </p:sp>
      <p:sp>
        <p:nvSpPr>
          <p:cNvPr id="19" name="Rectangle 18"/>
          <p:cNvSpPr/>
          <p:nvPr/>
        </p:nvSpPr>
        <p:spPr>
          <a:xfrm>
            <a:off x="731520" y="3383280"/>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12:00 EDT</a:t>
            </a:r>
          </a:p>
        </p:txBody>
      </p:sp>
      <p:sp>
        <p:nvSpPr>
          <p:cNvPr id="20" name="Rectangle 19"/>
          <p:cNvSpPr/>
          <p:nvPr/>
        </p:nvSpPr>
        <p:spPr>
          <a:xfrm>
            <a:off x="2194560" y="3383280"/>
            <a:ext cx="29260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FLASH sweep</a:t>
            </a:r>
          </a:p>
        </p:txBody>
      </p:sp>
      <p:sp>
        <p:nvSpPr>
          <p:cNvPr id="21" name="Rectangle 20"/>
          <p:cNvSpPr/>
          <p:nvPr/>
        </p:nvSpPr>
        <p:spPr>
          <a:xfrm>
            <a:off x="5120640" y="3383280"/>
            <a:ext cx="64008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Same</a:t>
            </a:r>
          </a:p>
        </p:txBody>
      </p:sp>
      <p:sp>
        <p:nvSpPr>
          <p:cNvPr id="22" name="Rectangle 21"/>
          <p:cNvSpPr/>
          <p:nvPr/>
        </p:nvSpPr>
        <p:spPr>
          <a:xfrm>
            <a:off x="731520" y="3749040"/>
            <a:ext cx="146304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15:30 EDT</a:t>
            </a:r>
          </a:p>
        </p:txBody>
      </p:sp>
      <p:sp>
        <p:nvSpPr>
          <p:cNvPr id="23" name="Rectangle 22"/>
          <p:cNvSpPr/>
          <p:nvPr/>
        </p:nvSpPr>
        <p:spPr>
          <a:xfrm>
            <a:off x="2194560" y="3749040"/>
            <a:ext cx="292608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333333"/>
                </a:solidFill>
                <a:latin typeface="Calibri"/>
              </a:rPr>
              <a:t>  Pre-brief collection</a:t>
            </a:r>
          </a:p>
        </p:txBody>
      </p:sp>
      <p:sp>
        <p:nvSpPr>
          <p:cNvPr id="24" name="Rectangle 23"/>
          <p:cNvSpPr/>
          <p:nvPr/>
        </p:nvSpPr>
        <p:spPr>
          <a:xfrm>
            <a:off x="5120640" y="3749040"/>
            <a:ext cx="640080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Same</a:t>
            </a:r>
          </a:p>
        </p:txBody>
      </p:sp>
      <p:sp>
        <p:nvSpPr>
          <p:cNvPr id="25" name="Rectangle 24"/>
          <p:cNvSpPr/>
          <p:nvPr/>
        </p:nvSpPr>
        <p:spPr>
          <a:xfrm>
            <a:off x="731520" y="4114800"/>
            <a:ext cx="146304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16:00 EDT</a:t>
            </a:r>
          </a:p>
        </p:txBody>
      </p:sp>
      <p:sp>
        <p:nvSpPr>
          <p:cNvPr id="26" name="Rectangle 25"/>
          <p:cNvSpPr/>
          <p:nvPr/>
        </p:nvSpPr>
        <p:spPr>
          <a:xfrm>
            <a:off x="2194560" y="4114800"/>
            <a:ext cx="292608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333333"/>
                </a:solidFill>
                <a:latin typeface="Calibri"/>
              </a:rPr>
              <a:t>  AFTERNOON BRIEF</a:t>
            </a:r>
          </a:p>
        </p:txBody>
      </p:sp>
      <p:sp>
        <p:nvSpPr>
          <p:cNvPr id="27" name="Rectangle 26"/>
          <p:cNvSpPr/>
          <p:nvPr/>
        </p:nvSpPr>
        <p:spPr>
          <a:xfrm>
            <a:off x="5120640" y="4114800"/>
            <a:ext cx="6400800" cy="365760"/>
          </a:xfrm>
          <a:prstGeom prst="rect">
            <a:avLst/>
          </a:prstGeom>
          <a:solidFill>
            <a:srgbClr val="E8EF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Same</a:t>
            </a:r>
          </a:p>
        </p:txBody>
      </p:sp>
      <p:sp>
        <p:nvSpPr>
          <p:cNvPr id="28" name="Rectangle 27"/>
          <p:cNvSpPr/>
          <p:nvPr/>
        </p:nvSpPr>
        <p:spPr>
          <a:xfrm>
            <a:off x="731520" y="4480560"/>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18:00 EDT</a:t>
            </a:r>
          </a:p>
        </p:txBody>
      </p:sp>
      <p:sp>
        <p:nvSpPr>
          <p:cNvPr id="29" name="Rectangle 28"/>
          <p:cNvSpPr/>
          <p:nvPr/>
        </p:nvSpPr>
        <p:spPr>
          <a:xfrm>
            <a:off x="2194560" y="4480560"/>
            <a:ext cx="29260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FLASH sweep</a:t>
            </a:r>
          </a:p>
        </p:txBody>
      </p:sp>
      <p:sp>
        <p:nvSpPr>
          <p:cNvPr id="30" name="Rectangle 29"/>
          <p:cNvSpPr/>
          <p:nvPr/>
        </p:nvSpPr>
        <p:spPr>
          <a:xfrm>
            <a:off x="5120640" y="4480560"/>
            <a:ext cx="64008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Same</a:t>
            </a:r>
          </a:p>
        </p:txBody>
      </p:sp>
      <p:sp>
        <p:nvSpPr>
          <p:cNvPr id="31" name="Rectangle 30"/>
          <p:cNvSpPr/>
          <p:nvPr/>
        </p:nvSpPr>
        <p:spPr>
          <a:xfrm>
            <a:off x="731520" y="4846320"/>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Wed 10:30</a:t>
            </a:r>
          </a:p>
        </p:txBody>
      </p:sp>
      <p:sp>
        <p:nvSpPr>
          <p:cNvPr id="32" name="Rectangle 31"/>
          <p:cNvSpPr/>
          <p:nvPr/>
        </p:nvSpPr>
        <p:spPr>
          <a:xfrm>
            <a:off x="2194560" y="4846320"/>
            <a:ext cx="29260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Threat Detection Weekly</a:t>
            </a:r>
          </a:p>
        </p:txBody>
      </p:sp>
      <p:sp>
        <p:nvSpPr>
          <p:cNvPr id="33" name="Rectangle 32"/>
          <p:cNvSpPr/>
          <p:nvPr/>
        </p:nvSpPr>
        <p:spPr>
          <a:xfrm>
            <a:off x="5120640" y="4846320"/>
            <a:ext cx="64008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Detection-engineering focus</a:t>
            </a:r>
          </a:p>
        </p:txBody>
      </p:sp>
      <p:sp>
        <p:nvSpPr>
          <p:cNvPr id="34" name="Rectangle 33"/>
          <p:cNvSpPr/>
          <p:nvPr/>
        </p:nvSpPr>
        <p:spPr>
          <a:xfrm>
            <a:off x="731520" y="5212080"/>
            <a:ext cx="146304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Fri 12:00</a:t>
            </a:r>
          </a:p>
        </p:txBody>
      </p:sp>
      <p:sp>
        <p:nvSpPr>
          <p:cNvPr id="35" name="Rectangle 34"/>
          <p:cNvSpPr/>
          <p:nvPr/>
        </p:nvSpPr>
        <p:spPr>
          <a:xfrm>
            <a:off x="2194560" y="5212080"/>
            <a:ext cx="292608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Threat Actor Summary</a:t>
            </a:r>
          </a:p>
        </p:txBody>
      </p:sp>
      <p:sp>
        <p:nvSpPr>
          <p:cNvPr id="36" name="Rectangle 35"/>
          <p:cNvSpPr/>
          <p:nvPr/>
        </p:nvSpPr>
        <p:spPr>
          <a:xfrm>
            <a:off x="5120640" y="5212080"/>
            <a:ext cx="6400800" cy="3657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Deep dive on 1-2 tracked actors</a:t>
            </a:r>
          </a:p>
        </p:txBody>
      </p:sp>
      <p:sp>
        <p:nvSpPr>
          <p:cNvPr id="37" name="Rectangle 36"/>
          <p:cNvSpPr/>
          <p:nvPr/>
        </p:nvSpPr>
        <p:spPr>
          <a:xfrm>
            <a:off x="731520" y="5577840"/>
            <a:ext cx="146304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Sun 10:00</a:t>
            </a:r>
          </a:p>
        </p:txBody>
      </p:sp>
      <p:sp>
        <p:nvSpPr>
          <p:cNvPr id="38" name="Rectangle 37"/>
          <p:cNvSpPr/>
          <p:nvPr/>
        </p:nvSpPr>
        <p:spPr>
          <a:xfrm>
            <a:off x="2194560" y="5577840"/>
            <a:ext cx="292608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Weekly Synthesis</a:t>
            </a:r>
          </a:p>
        </p:txBody>
      </p:sp>
      <p:sp>
        <p:nvSpPr>
          <p:cNvPr id="39" name="Rectangle 38"/>
          <p:cNvSpPr/>
          <p:nvPr/>
        </p:nvSpPr>
        <p:spPr>
          <a:xfrm>
            <a:off x="5120640" y="5577840"/>
            <a:ext cx="6400800" cy="3657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100" b="0">
                <a:solidFill>
                  <a:srgbClr val="333333"/>
                </a:solidFill>
                <a:latin typeface="Calibri"/>
              </a:rPr>
              <a:t>  Patterns across the week</a:t>
            </a:r>
          </a:p>
        </p:txBody>
      </p:sp>
      <p:sp>
        <p:nvSpPr>
          <p:cNvPr id="40" name="TextBox 39"/>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41" name="TextBox 40"/>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A real brief — Discord summary</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Layer 2 — what leadership reads on their phone at 0800. ~240 words, source-linked, natural-language dates.</a:t>
            </a:r>
          </a:p>
        </p:txBody>
      </p:sp>
      <p:sp>
        <p:nvSpPr>
          <p:cNvPr id="4" name="Rectangle 3"/>
          <p:cNvSpPr/>
          <p:nvPr/>
        </p:nvSpPr>
        <p:spPr>
          <a:xfrm>
            <a:off x="457200" y="1371600"/>
            <a:ext cx="11274552" cy="4937760"/>
          </a:xfrm>
          <a:prstGeom prst="rect">
            <a:avLst/>
          </a:prstGeom>
          <a:solidFill>
            <a:srgbClr val="3133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63040"/>
            <a:ext cx="11000232" cy="4754880"/>
          </a:xfrm>
          <a:prstGeom prst="rect">
            <a:avLst/>
          </a:prstGeom>
          <a:noFill/>
        </p:spPr>
        <p:txBody>
          <a:bodyPr wrap="square">
            <a:spAutoFit/>
          </a:bodyPr>
          <a:lstStyle/>
          <a:p>
            <a:pPr algn="l"/>
            <a:r>
              <a:rPr sz="1000">
                <a:solidFill>
                  <a:srgbClr val="DCDDDE"/>
                </a:solidFill>
                <a:latin typeface="Consolas"/>
              </a:rPr>
              <a:t>Good morning. Here's your 0800 brief — Monday, May 11.</a:t>
            </a:r>
          </a:p>
          <a:p>
            <a:pPr algn="l"/>
            <a:r>
              <a:rPr sz="1000">
                <a:solidFill>
                  <a:srgbClr val="DCDDDE"/>
                </a:solidFill>
                <a:latin typeface="Consolas"/>
              </a:rPr>
              <a:t> </a:t>
            </a:r>
          </a:p>
          <a:p>
            <a:pPr algn="l"/>
            <a:r>
              <a:rPr sz="1000">
                <a:solidFill>
                  <a:srgbClr val="DCDDDE"/>
                </a:solidFill>
                <a:latin typeface="Consolas"/>
              </a:rPr>
              <a:t>🚨  Active Threats</a:t>
            </a:r>
          </a:p>
          <a:p>
            <a:pPr algn="l"/>
            <a:r>
              <a:rPr sz="1000">
                <a:solidFill>
                  <a:srgbClr val="DCDDDE"/>
                </a:solidFill>
                <a:latin typeface="Consolas"/>
              </a:rPr>
              <a:t> </a:t>
            </a:r>
          </a:p>
          <a:p>
            <a:pPr algn="l"/>
            <a:r>
              <a:rPr sz="1000">
                <a:solidFill>
                  <a:srgbClr val="DCDDDE"/>
                </a:solidFill>
                <a:latin typeface="Consolas"/>
              </a:rPr>
              <a:t>•  Checkmarx Jenkins AST plugin compromised in supply-chain attack</a:t>
            </a:r>
          </a:p>
          <a:p>
            <a:pPr algn="l"/>
            <a:r>
              <a:rPr sz="1000">
                <a:solidFill>
                  <a:srgbClr val="DCDDDE"/>
                </a:solidFill>
                <a:latin typeface="Consolas"/>
              </a:rPr>
              <a:t>    Checkmarx warned Friday May 9 of a malicious Jenkins AST plugin on the</a:t>
            </a:r>
          </a:p>
          <a:p>
            <a:pPr algn="l"/>
            <a:r>
              <a:rPr sz="1000">
                <a:solidFill>
                  <a:srgbClr val="DCDDDE"/>
                </a:solidFill>
                <a:latin typeface="Consolas"/>
              </a:rPr>
              <a:t>    Marketplace; weekend variants surfaced on GitHub. Remediation 2.0.13-848</a:t>
            </a:r>
          </a:p>
          <a:p>
            <a:pPr algn="l"/>
            <a:r>
              <a:rPr sz="1000">
                <a:solidFill>
                  <a:srgbClr val="DCDDDE"/>
                </a:solidFill>
                <a:latin typeface="Consolas"/>
              </a:rPr>
              <a:t>    is out. DIB CI/CD: pin to fix version now, capture plugin hashes for IOC</a:t>
            </a:r>
          </a:p>
          <a:p>
            <a:pPr algn="l"/>
            <a:r>
              <a:rPr sz="1000">
                <a:solidFill>
                  <a:srgbClr val="DCDDDE"/>
                </a:solidFill>
                <a:latin typeface="Consolas"/>
              </a:rPr>
              <a:t>    backfill.</a:t>
            </a:r>
          </a:p>
          <a:p>
            <a:pPr algn="l"/>
            <a:r>
              <a:rPr sz="1000">
                <a:solidFill>
                  <a:srgbClr val="DCDDDE"/>
                </a:solidFill>
                <a:latin typeface="Consolas"/>
              </a:rPr>
              <a:t> </a:t>
            </a:r>
          </a:p>
          <a:p>
            <a:pPr algn="l"/>
            <a:r>
              <a:rPr sz="1000">
                <a:solidFill>
                  <a:srgbClr val="DCDDDE"/>
                </a:solidFill>
                <a:latin typeface="Consolas"/>
              </a:rPr>
              <a:t>•  SailPoint discloses GitHub repository hack</a:t>
            </a:r>
          </a:p>
          <a:p>
            <a:pPr algn="l"/>
            <a:r>
              <a:rPr sz="1000">
                <a:solidFill>
                  <a:srgbClr val="DCDDDE"/>
                </a:solidFill>
                <a:latin typeface="Consolas"/>
              </a:rPr>
              <a:t>    SailPoint disclosed an April 20 incident; a third-party app vulnerability</a:t>
            </a:r>
          </a:p>
          <a:p>
            <a:pPr algn="l"/>
            <a:r>
              <a:rPr sz="1000">
                <a:solidFill>
                  <a:srgbClr val="DCDDDE"/>
                </a:solidFill>
                <a:latin typeface="Consolas"/>
              </a:rPr>
              <a:t>    exposed a subset of its GitHub repos. No production customer data</a:t>
            </a:r>
          </a:p>
          <a:p>
            <a:pPr algn="l"/>
            <a:r>
              <a:rPr sz="1000">
                <a:solidFill>
                  <a:srgbClr val="DCDDDE"/>
                </a:solidFill>
                <a:latin typeface="Consolas"/>
              </a:rPr>
              <a:t>    accessed; some customer info was in the repos, extent undisclosed.</a:t>
            </a:r>
          </a:p>
          <a:p>
            <a:pPr algn="l"/>
            <a:r>
              <a:rPr sz="1000">
                <a:solidFill>
                  <a:srgbClr val="DCDDDE"/>
                </a:solidFill>
                <a:latin typeface="Consolas"/>
              </a:rPr>
              <a:t>    SecurityWeek floats a possible TeamPCP link; Archimedes does not endorse.</a:t>
            </a:r>
          </a:p>
          <a:p>
            <a:pPr algn="l"/>
            <a:r>
              <a:rPr sz="1000">
                <a:solidFill>
                  <a:srgbClr val="DCDDDE"/>
                </a:solidFill>
                <a:latin typeface="Consolas"/>
              </a:rPr>
              <a:t> </a:t>
            </a:r>
          </a:p>
          <a:p>
            <a:pPr algn="l"/>
            <a:r>
              <a:rPr sz="1000">
                <a:solidFill>
                  <a:srgbClr val="DCDDDE"/>
                </a:solidFill>
                <a:latin typeface="Consolas"/>
              </a:rPr>
              <a:t>🔓  Vulnerabilities</a:t>
            </a:r>
          </a:p>
          <a:p>
            <a:pPr algn="l"/>
            <a:r>
              <a:rPr sz="1000">
                <a:solidFill>
                  <a:srgbClr val="DCDDDE"/>
                </a:solidFill>
                <a:latin typeface="Consolas"/>
              </a:rPr>
              <a:t> </a:t>
            </a:r>
          </a:p>
          <a:p>
            <a:pPr algn="l"/>
            <a:r>
              <a:rPr sz="1000">
                <a:solidFill>
                  <a:srgbClr val="DCDDDE"/>
                </a:solidFill>
                <a:latin typeface="Consolas"/>
              </a:rPr>
              <a:t>•  CVE-2026-6973 (Ivanti EPMM on-prem): federal patch deadline expired last</a:t>
            </a:r>
          </a:p>
          <a:p>
            <a:pPr algn="l"/>
            <a:r>
              <a:rPr sz="1000">
                <a:solidFill>
                  <a:srgbClr val="DCDDDE"/>
                </a:solidFill>
                <a:latin typeface="Consolas"/>
              </a:rPr>
              <a:t>   night. Unpatched on-prem fleet now in non-compliance + standing</a:t>
            </a:r>
          </a:p>
          <a:p>
            <a:pPr algn="l"/>
            <a:r>
              <a:rPr sz="1000">
                <a:solidFill>
                  <a:srgbClr val="DCDDDE"/>
                </a:solidFill>
                <a:latin typeface="Consolas"/>
              </a:rPr>
              <a:t>   exploitation risk.</a:t>
            </a:r>
          </a:p>
          <a:p>
            <a:pPr algn="l"/>
            <a:r>
              <a:rPr sz="1000">
                <a:solidFill>
                  <a:srgbClr val="DCDDDE"/>
                </a:solidFill>
                <a:latin typeface="Consolas"/>
              </a:rPr>
              <a:t> </a:t>
            </a:r>
          </a:p>
          <a:p>
            <a:pPr algn="l"/>
            <a:r>
              <a:rPr sz="1000">
                <a:solidFill>
                  <a:srgbClr val="DCDDDE"/>
                </a:solidFill>
                <a:latin typeface="Consolas"/>
              </a:rPr>
              <a:t>•  CVE-2026-42208 (BerriAI LiteLLM): KEV deadline closes today (FCEB only).</a:t>
            </a:r>
          </a:p>
          <a:p>
            <a:pPr algn="l"/>
            <a:r>
              <a:rPr sz="1000">
                <a:solidFill>
                  <a:srgbClr val="DCDDDE"/>
                </a:solidFill>
                <a:latin typeface="Consolas"/>
              </a:rPr>
              <a:t>   LiteLLM-proxying shops: inventory and patch by EOD.</a:t>
            </a:r>
          </a:p>
        </p:txBody>
      </p:sp>
      <p:sp>
        <p:nvSpPr>
          <p:cNvPr id="6" name="TextBox 5"/>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7" name="TextBox 6"/>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Same brief — analyst-grade markdown</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Layer 1 — what the intel team reviews. ~730 words. Lives in git. Audit-grade.</a:t>
            </a:r>
          </a:p>
        </p:txBody>
      </p:sp>
      <p:sp>
        <p:nvSpPr>
          <p:cNvPr id="4" name="Rectangle 3"/>
          <p:cNvSpPr/>
          <p:nvPr/>
        </p:nvSpPr>
        <p:spPr>
          <a:xfrm>
            <a:off x="457200" y="1371600"/>
            <a:ext cx="11274552" cy="4937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63040"/>
            <a:ext cx="11000232" cy="4754880"/>
          </a:xfrm>
          <a:prstGeom prst="rect">
            <a:avLst/>
          </a:prstGeom>
          <a:noFill/>
        </p:spPr>
        <p:txBody>
          <a:bodyPr wrap="square">
            <a:spAutoFit/>
          </a:bodyPr>
          <a:lstStyle/>
          <a:p>
            <a:pPr algn="l"/>
            <a:r>
              <a:rPr sz="1000">
                <a:solidFill>
                  <a:srgbClr val="333333"/>
                </a:solidFill>
                <a:latin typeface="Consolas"/>
              </a:rPr>
              <a:t>[Two enterprise security vendors — Checkmarx and SailPoint — disclosed</a:t>
            </a:r>
          </a:p>
          <a:p>
            <a:pPr algn="l"/>
            <a:r>
              <a:rPr sz="1000">
                <a:solidFill>
                  <a:srgbClr val="333333"/>
                </a:solidFill>
                <a:latin typeface="Consolas"/>
              </a:rPr>
              <a:t>supply-chain compromises on SecurityWeek 18 minutes apart this morning;</a:t>
            </a:r>
          </a:p>
          <a:p>
            <a:pPr algn="l"/>
            <a:r>
              <a:rPr sz="1000">
                <a:solidFill>
                  <a:srgbClr val="333333"/>
                </a:solidFill>
                <a:latin typeface="Consolas"/>
              </a:rPr>
              <a:t>both relays are vendor-self-disclosure restatements, not new third-party</a:t>
            </a:r>
          </a:p>
          <a:p>
            <a:pPr algn="l"/>
            <a:r>
              <a:rPr sz="1000">
                <a:solidFill>
                  <a:srgbClr val="333333"/>
                </a:solidFill>
                <a:latin typeface="Consolas"/>
              </a:rPr>
              <a:t>research...](https://www.securityweek.com/)</a:t>
            </a:r>
          </a:p>
          <a:p>
            <a:pPr algn="l"/>
            <a:r>
              <a:rPr sz="1000">
                <a:solidFill>
                  <a:srgbClr val="333333"/>
                </a:solidFill>
                <a:latin typeface="Consolas"/>
              </a:rPr>
              <a:t>Per Hard Rule 2, the TeamPCP attribution to Checkmarx Jenkins AST is a</a:t>
            </a:r>
          </a:p>
          <a:p>
            <a:pPr algn="l"/>
            <a:r>
              <a:rPr sz="1000">
                <a:solidFill>
                  <a:srgbClr val="333333"/>
                </a:solidFill>
                <a:latin typeface="Consolas"/>
              </a:rPr>
              <a:t>restatement of prior reporting; SecurityWeek's framing of the SailPoint-</a:t>
            </a:r>
          </a:p>
          <a:p>
            <a:pPr algn="l"/>
            <a:r>
              <a:rPr sz="1000">
                <a:solidFill>
                  <a:srgbClr val="333333"/>
                </a:solidFill>
                <a:latin typeface="Consolas"/>
              </a:rPr>
              <a:t>TeamPCP link is explicitly speculative. Archimedes does not endorse either.</a:t>
            </a:r>
          </a:p>
          <a:p>
            <a:pPr algn="l"/>
            <a:r>
              <a:rPr sz="1000">
                <a:solidFill>
                  <a:srgbClr val="333333"/>
                </a:solidFill>
                <a:latin typeface="Consolas"/>
              </a:rPr>
              <a:t> </a:t>
            </a:r>
          </a:p>
          <a:p>
            <a:pPr algn="l"/>
            <a:r>
              <a:rPr sz="1000">
                <a:solidFill>
                  <a:srgbClr val="333333"/>
                </a:solidFill>
                <a:latin typeface="Consolas"/>
              </a:rPr>
              <a:t>Why it matters: Both vendors are widely deployed in DIB CI/CD and identity-</a:t>
            </a:r>
          </a:p>
          <a:p>
            <a:pPr algn="l"/>
            <a:r>
              <a:rPr sz="1000">
                <a:solidFill>
                  <a:srgbClr val="333333"/>
                </a:solidFill>
                <a:latin typeface="Consolas"/>
              </a:rPr>
              <a:t>governance stacks — Jenkins AST in Checkmarx-using DevSecOps pipelines,</a:t>
            </a:r>
          </a:p>
          <a:p>
            <a:pPr algn="l"/>
            <a:r>
              <a:rPr sz="1000">
                <a:solidFill>
                  <a:srgbClr val="333333"/>
                </a:solidFill>
                <a:latin typeface="Consolas"/>
              </a:rPr>
              <a:t>SailPoint IGA in CMMC and ITAR-program access governance — so the structural</a:t>
            </a:r>
          </a:p>
          <a:p>
            <a:pPr algn="l"/>
            <a:r>
              <a:rPr sz="1000">
                <a:solidFill>
                  <a:srgbClr val="333333"/>
                </a:solidFill>
                <a:latin typeface="Consolas"/>
              </a:rPr>
              <a:t>exposure is real even where no A&amp;D prime has been named as a victim...</a:t>
            </a:r>
          </a:p>
          <a:p>
            <a:pPr algn="l"/>
            <a:r>
              <a:rPr sz="1000">
                <a:solidFill>
                  <a:srgbClr val="333333"/>
                </a:solidFill>
                <a:latin typeface="Consolas"/>
              </a:rPr>
              <a:t> </a:t>
            </a:r>
          </a:p>
          <a:p>
            <a:pPr algn="l"/>
            <a:r>
              <a:rPr sz="1000">
                <a:solidFill>
                  <a:srgbClr val="333333"/>
                </a:solidFill>
                <a:latin typeface="Consolas"/>
              </a:rPr>
              <a:t>## Active Threats</a:t>
            </a:r>
          </a:p>
          <a:p>
            <a:pPr algn="l"/>
            <a:r>
              <a:rPr sz="1000">
                <a:solidFill>
                  <a:srgbClr val="333333"/>
                </a:solidFill>
                <a:latin typeface="Consolas"/>
              </a:rPr>
              <a:t> </a:t>
            </a:r>
          </a:p>
          <a:p>
            <a:pPr algn="l"/>
            <a:r>
              <a:rPr sz="1000">
                <a:solidFill>
                  <a:srgbClr val="333333"/>
                </a:solidFill>
                <a:latin typeface="Consolas"/>
              </a:rPr>
              <a:t>**[Checkmarx warned of malicious Jenkins AST plugin published to Jenkins</a:t>
            </a:r>
          </a:p>
          <a:p>
            <a:pPr algn="l"/>
            <a:r>
              <a:rPr sz="1000">
                <a:solidFill>
                  <a:srgbClr val="333333"/>
                </a:solidFill>
                <a:latin typeface="Consolas"/>
              </a:rPr>
              <a:t>Marketplace](https://www.securityweek.com/...)** ... Digraph: B2 · WEP:</a:t>
            </a:r>
          </a:p>
          <a:p>
            <a:pPr algn="l"/>
            <a:r>
              <a:rPr sz="1000">
                <a:solidFill>
                  <a:srgbClr val="333333"/>
                </a:solidFill>
                <a:latin typeface="Consolas"/>
              </a:rPr>
              <a:t>likely (procedural facts only — relational/attribution layer carries lower</a:t>
            </a:r>
          </a:p>
          <a:p>
            <a:pPr algn="l"/>
            <a:r>
              <a:rPr sz="1000">
                <a:solidFill>
                  <a:srgbClr val="333333"/>
                </a:solidFill>
                <a:latin typeface="Consolas"/>
              </a:rPr>
              <a:t>WEP) · finding-2026-05-11-0001.</a:t>
            </a:r>
          </a:p>
          <a:p>
            <a:pPr algn="l"/>
            <a:r>
              <a:rPr sz="1000">
                <a:solidFill>
                  <a:srgbClr val="333333"/>
                </a:solidFill>
                <a:latin typeface="Consolas"/>
              </a:rPr>
              <a:t> </a:t>
            </a:r>
          </a:p>
          <a:p>
            <a:pPr algn="l"/>
            <a:r>
              <a:rPr sz="1000">
                <a:solidFill>
                  <a:srgbClr val="333333"/>
                </a:solidFill>
                <a:latin typeface="Consolas"/>
              </a:rPr>
              <a:t>🔗 Connects to: Actor #001 TeamPCP (HIGH, roster) — Jenkins AST plugin</a:t>
            </a:r>
          </a:p>
          <a:p>
            <a:pPr algn="l"/>
            <a:r>
              <a:rPr sz="1000">
                <a:solidFill>
                  <a:srgbClr val="333333"/>
                </a:solidFill>
                <a:latin typeface="Consolas"/>
              </a:rPr>
              <a:t>distribution channel is the first appearance of CI/CD-pipeline-poisoning</a:t>
            </a:r>
          </a:p>
          <a:p>
            <a:pPr algn="l"/>
            <a:r>
              <a:rPr sz="1000">
                <a:solidFill>
                  <a:srgbClr val="333333"/>
                </a:solidFill>
                <a:latin typeface="Consolas"/>
              </a:rPr>
              <a:t>in the TeamPCP TTP register; dossier update queued via actor-profiler.</a:t>
            </a:r>
          </a:p>
        </p:txBody>
      </p:sp>
      <p:sp>
        <p:nvSpPr>
          <p:cNvPr id="6" name="TextBox 5"/>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7" name="TextBox 6"/>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Source grading — Admiralty 6×6</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NATO-standard reliability + credibility framework, applied per source per finding.</a:t>
            </a:r>
          </a:p>
        </p:txBody>
      </p:sp>
      <p:sp>
        <p:nvSpPr>
          <p:cNvPr id="4" name="TextBox 3"/>
          <p:cNvSpPr txBox="1"/>
          <p:nvPr/>
        </p:nvSpPr>
        <p:spPr>
          <a:xfrm>
            <a:off x="457200" y="1554480"/>
            <a:ext cx="5486400" cy="3200400"/>
          </a:xfrm>
          <a:prstGeom prst="rect">
            <a:avLst/>
          </a:prstGeom>
          <a:noFill/>
        </p:spPr>
        <p:txBody>
          <a:bodyPr wrap="square">
            <a:spAutoFit/>
          </a:bodyPr>
          <a:lstStyle/>
          <a:p>
            <a:pPr algn="l">
              <a:lnSpc>
                <a:spcPct val="115000"/>
              </a:lnSpc>
            </a:pPr>
            <a:r>
              <a:rPr sz="1500" b="1">
                <a:solidFill>
                  <a:srgbClr val="333333"/>
                </a:solidFill>
                <a:latin typeface="Calibri"/>
              </a:rPr>
              <a:t>• A — Completely reliable</a:t>
            </a:r>
          </a:p>
          <a:p>
            <a:pPr algn="l">
              <a:lnSpc>
                <a:spcPct val="115000"/>
              </a:lnSpc>
            </a:pPr>
            <a:r>
              <a:rPr sz="1200" i="1">
                <a:solidFill>
                  <a:srgbClr val="666666"/>
                </a:solidFill>
                <a:latin typeface="Calibri"/>
              </a:rPr>
              <a:t>   Sustained track record across many findings (Mandiant, Unit 42, MSTIC, CrowdStrike, MITRE, CISA).</a:t>
            </a:r>
          </a:p>
          <a:p>
            <a:pPr algn="l">
              <a:lnSpc>
                <a:spcPct val="115000"/>
              </a:lnSpc>
              <a:spcBef>
                <a:spcPts val="800"/>
              </a:spcBef>
            </a:pPr>
            <a:r>
              <a:rPr sz="1500" b="1">
                <a:solidFill>
                  <a:srgbClr val="333333"/>
                </a:solidFill>
                <a:latin typeface="Calibri"/>
              </a:rPr>
              <a:t>• B — Usually reliable</a:t>
            </a:r>
          </a:p>
          <a:p>
            <a:pPr algn="l">
              <a:lnSpc>
                <a:spcPct val="115000"/>
              </a:lnSpc>
            </a:pPr>
            <a:r>
              <a:rPr sz="1200" i="1">
                <a:solidFill>
                  <a:srgbClr val="666666"/>
                </a:solidFill>
                <a:latin typeface="Calibri"/>
              </a:rPr>
              <a:t>   Established but with occasional gaps (BleepingComputer, The Record, Krebs).</a:t>
            </a:r>
          </a:p>
          <a:p>
            <a:pPr algn="l">
              <a:lnSpc>
                <a:spcPct val="115000"/>
              </a:lnSpc>
              <a:spcBef>
                <a:spcPts val="800"/>
              </a:spcBef>
            </a:pPr>
            <a:r>
              <a:rPr sz="1500" b="1">
                <a:solidFill>
                  <a:srgbClr val="333333"/>
                </a:solidFill>
                <a:latin typeface="Calibri"/>
              </a:rPr>
              <a:t>• C — Fairly reliable</a:t>
            </a:r>
          </a:p>
          <a:p>
            <a:pPr algn="l">
              <a:lnSpc>
                <a:spcPct val="115000"/>
              </a:lnSpc>
            </a:pPr>
            <a:r>
              <a:rPr sz="1200" i="1">
                <a:solidFill>
                  <a:srgbClr val="666666"/>
                </a:solidFill>
                <a:latin typeface="Calibri"/>
              </a:rPr>
              <a:t>   Vendor blogs with mixed history; new entrants on first citation.</a:t>
            </a:r>
          </a:p>
          <a:p>
            <a:pPr algn="l">
              <a:lnSpc>
                <a:spcPct val="115000"/>
              </a:lnSpc>
              <a:spcBef>
                <a:spcPts val="800"/>
              </a:spcBef>
            </a:pPr>
            <a:r>
              <a:rPr sz="1500" b="1">
                <a:solidFill>
                  <a:srgbClr val="333333"/>
                </a:solidFill>
                <a:latin typeface="Calibri"/>
              </a:rPr>
              <a:t>• D / E / F</a:t>
            </a:r>
          </a:p>
          <a:p>
            <a:pPr algn="l">
              <a:lnSpc>
                <a:spcPct val="115000"/>
              </a:lnSpc>
            </a:pPr>
            <a:r>
              <a:rPr sz="1200" i="1">
                <a:solidFill>
                  <a:srgbClr val="666666"/>
                </a:solidFill>
                <a:latin typeface="Calibri"/>
              </a:rPr>
              <a:t>   Unreliable / unknown / questionable. Findings from D-F can monitor but never load-bear.</a:t>
            </a:r>
          </a:p>
        </p:txBody>
      </p:sp>
      <p:sp>
        <p:nvSpPr>
          <p:cNvPr id="5" name="TextBox 4"/>
          <p:cNvSpPr txBox="1"/>
          <p:nvPr/>
        </p:nvSpPr>
        <p:spPr>
          <a:xfrm>
            <a:off x="6217920" y="1554480"/>
            <a:ext cx="5486400" cy="3200400"/>
          </a:xfrm>
          <a:prstGeom prst="rect">
            <a:avLst/>
          </a:prstGeom>
          <a:noFill/>
        </p:spPr>
        <p:txBody>
          <a:bodyPr wrap="square">
            <a:spAutoFit/>
          </a:bodyPr>
          <a:lstStyle/>
          <a:p>
            <a:pPr algn="l">
              <a:lnSpc>
                <a:spcPct val="115000"/>
              </a:lnSpc>
            </a:pPr>
            <a:r>
              <a:rPr sz="1500" b="1">
                <a:solidFill>
                  <a:srgbClr val="333333"/>
                </a:solidFill>
                <a:latin typeface="Calibri"/>
              </a:rPr>
              <a:t>• 1 — Confirmed</a:t>
            </a:r>
          </a:p>
          <a:p>
            <a:pPr algn="l">
              <a:lnSpc>
                <a:spcPct val="115000"/>
              </a:lnSpc>
            </a:pPr>
            <a:r>
              <a:rPr sz="1200" i="1">
                <a:solidFill>
                  <a:srgbClr val="666666"/>
                </a:solidFill>
                <a:latin typeface="Calibri"/>
              </a:rPr>
              <a:t>   Multiple independent A/B-grade sources agree.</a:t>
            </a:r>
          </a:p>
          <a:p>
            <a:pPr algn="l">
              <a:lnSpc>
                <a:spcPct val="115000"/>
              </a:lnSpc>
              <a:spcBef>
                <a:spcPts val="800"/>
              </a:spcBef>
            </a:pPr>
            <a:r>
              <a:rPr sz="1500" b="1">
                <a:solidFill>
                  <a:srgbClr val="333333"/>
                </a:solidFill>
                <a:latin typeface="Calibri"/>
              </a:rPr>
              <a:t>• 2 — Probably true</a:t>
            </a:r>
          </a:p>
          <a:p>
            <a:pPr algn="l">
              <a:lnSpc>
                <a:spcPct val="115000"/>
              </a:lnSpc>
            </a:pPr>
            <a:r>
              <a:rPr sz="1200" i="1">
                <a:solidFill>
                  <a:srgbClr val="666666"/>
                </a:solidFill>
                <a:latin typeface="Calibri"/>
              </a:rPr>
              <a:t>   One A-grade source + plausibility test passes.</a:t>
            </a:r>
          </a:p>
          <a:p>
            <a:pPr algn="l">
              <a:lnSpc>
                <a:spcPct val="115000"/>
              </a:lnSpc>
              <a:spcBef>
                <a:spcPts val="800"/>
              </a:spcBef>
            </a:pPr>
            <a:r>
              <a:rPr sz="1500" b="1">
                <a:solidFill>
                  <a:srgbClr val="333333"/>
                </a:solidFill>
                <a:latin typeface="Calibri"/>
              </a:rPr>
              <a:t>• 3 — Possibly true</a:t>
            </a:r>
          </a:p>
          <a:p>
            <a:pPr algn="l">
              <a:lnSpc>
                <a:spcPct val="115000"/>
              </a:lnSpc>
            </a:pPr>
            <a:r>
              <a:rPr sz="1200" i="1">
                <a:solidFill>
                  <a:srgbClr val="666666"/>
                </a:solidFill>
                <a:latin typeface="Calibri"/>
              </a:rPr>
              <a:t>   Single source, cannot be confirmed or denied.</a:t>
            </a:r>
          </a:p>
          <a:p>
            <a:pPr algn="l">
              <a:lnSpc>
                <a:spcPct val="115000"/>
              </a:lnSpc>
              <a:spcBef>
                <a:spcPts val="800"/>
              </a:spcBef>
            </a:pPr>
            <a:r>
              <a:rPr sz="1500" b="1">
                <a:solidFill>
                  <a:srgbClr val="333333"/>
                </a:solidFill>
                <a:latin typeface="Calibri"/>
              </a:rPr>
              <a:t>• 4 / 5 / 6</a:t>
            </a:r>
          </a:p>
          <a:p>
            <a:pPr algn="l">
              <a:lnSpc>
                <a:spcPct val="115000"/>
              </a:lnSpc>
            </a:pPr>
            <a:r>
              <a:rPr sz="1200" i="1">
                <a:solidFill>
                  <a:srgbClr val="666666"/>
                </a:solidFill>
                <a:latin typeface="Calibri"/>
              </a:rPr>
              <a:t>   Doubtful / improbable / cannot be judged.</a:t>
            </a:r>
          </a:p>
        </p:txBody>
      </p:sp>
      <p:sp>
        <p:nvSpPr>
          <p:cNvPr id="6" name="TextBox 5"/>
          <p:cNvSpPr txBox="1"/>
          <p:nvPr/>
        </p:nvSpPr>
        <p:spPr>
          <a:xfrm>
            <a:off x="457200" y="5029200"/>
            <a:ext cx="11274552" cy="1371600"/>
          </a:xfrm>
          <a:prstGeom prst="rect">
            <a:avLst/>
          </a:prstGeom>
          <a:noFill/>
        </p:spPr>
        <p:txBody>
          <a:bodyPr wrap="square">
            <a:spAutoFit/>
          </a:bodyPr>
          <a:lstStyle/>
          <a:p>
            <a:r>
              <a:rPr sz="1300" i="1">
                <a:solidFill>
                  <a:srgbClr val="666666"/>
                </a:solidFill>
                <a:latin typeface="Calibri"/>
              </a:rPr>
              <a:t>Every finding gets a digraph (e.g., A2, B3, C3). A1 = confirmed by completely reliable source. C3 = possibly true from a single fairly-reliable source. The single-source-veto rule caps any forward claim at "likely" when only one source backs it — even if both source and content are A-grade.</a:t>
            </a:r>
          </a:p>
        </p:txBody>
      </p:sp>
      <p:sp>
        <p:nvSpPr>
          <p:cNvPr id="7" name="TextBox 6"/>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8" name="TextBox 7"/>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Words of Estimative Probability</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CIA-standard probability vocabulary. The agent uses these — and refuses bare hedges like "may", "might", "could."</a:t>
            </a:r>
          </a:p>
        </p:txBody>
      </p:sp>
      <p:sp>
        <p:nvSpPr>
          <p:cNvPr id="4" name="Rectangle 3"/>
          <p:cNvSpPr/>
          <p:nvPr/>
        </p:nvSpPr>
        <p:spPr>
          <a:xfrm>
            <a:off x="2286000" y="164592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1F3A5F"/>
                </a:solidFill>
                <a:latin typeface="Calibri"/>
              </a:rPr>
              <a:t>  Almost certainly</a:t>
            </a:r>
          </a:p>
        </p:txBody>
      </p:sp>
      <p:sp>
        <p:nvSpPr>
          <p:cNvPr id="5" name="Rectangle 4"/>
          <p:cNvSpPr/>
          <p:nvPr/>
        </p:nvSpPr>
        <p:spPr>
          <a:xfrm>
            <a:off x="6400800" y="164592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≥95%</a:t>
            </a:r>
          </a:p>
        </p:txBody>
      </p:sp>
      <p:sp>
        <p:nvSpPr>
          <p:cNvPr id="6" name="Rectangle 5"/>
          <p:cNvSpPr/>
          <p:nvPr/>
        </p:nvSpPr>
        <p:spPr>
          <a:xfrm>
            <a:off x="2286000" y="214884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4A90E2"/>
                </a:solidFill>
                <a:latin typeface="Calibri"/>
              </a:rPr>
              <a:t>  Very likely</a:t>
            </a:r>
          </a:p>
        </p:txBody>
      </p:sp>
      <p:sp>
        <p:nvSpPr>
          <p:cNvPr id="7" name="Rectangle 6"/>
          <p:cNvSpPr/>
          <p:nvPr/>
        </p:nvSpPr>
        <p:spPr>
          <a:xfrm>
            <a:off x="6400800" y="214884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85–95%</a:t>
            </a:r>
          </a:p>
        </p:txBody>
      </p:sp>
      <p:sp>
        <p:nvSpPr>
          <p:cNvPr id="8" name="Rectangle 7"/>
          <p:cNvSpPr/>
          <p:nvPr/>
        </p:nvSpPr>
        <p:spPr>
          <a:xfrm>
            <a:off x="2286000" y="265176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4A90E2"/>
                </a:solidFill>
                <a:latin typeface="Calibri"/>
              </a:rPr>
              <a:t>  Likely</a:t>
            </a:r>
          </a:p>
        </p:txBody>
      </p:sp>
      <p:sp>
        <p:nvSpPr>
          <p:cNvPr id="9" name="Rectangle 8"/>
          <p:cNvSpPr/>
          <p:nvPr/>
        </p:nvSpPr>
        <p:spPr>
          <a:xfrm>
            <a:off x="6400800" y="265176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55–85%</a:t>
            </a:r>
          </a:p>
        </p:txBody>
      </p:sp>
      <p:sp>
        <p:nvSpPr>
          <p:cNvPr id="10" name="Rectangle 9"/>
          <p:cNvSpPr/>
          <p:nvPr/>
        </p:nvSpPr>
        <p:spPr>
          <a:xfrm>
            <a:off x="2286000" y="315468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666666"/>
                </a:solidFill>
                <a:latin typeface="Calibri"/>
              </a:rPr>
              <a:t>  Roughly even chance</a:t>
            </a:r>
          </a:p>
        </p:txBody>
      </p:sp>
      <p:sp>
        <p:nvSpPr>
          <p:cNvPr id="11" name="Rectangle 10"/>
          <p:cNvSpPr/>
          <p:nvPr/>
        </p:nvSpPr>
        <p:spPr>
          <a:xfrm>
            <a:off x="6400800" y="315468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~50%</a:t>
            </a:r>
          </a:p>
        </p:txBody>
      </p:sp>
      <p:sp>
        <p:nvSpPr>
          <p:cNvPr id="12" name="Rectangle 11"/>
          <p:cNvSpPr/>
          <p:nvPr/>
        </p:nvSpPr>
        <p:spPr>
          <a:xfrm>
            <a:off x="2286000" y="365760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666666"/>
                </a:solidFill>
                <a:latin typeface="Calibri"/>
              </a:rPr>
              <a:t>  Unlikely</a:t>
            </a:r>
          </a:p>
        </p:txBody>
      </p:sp>
      <p:sp>
        <p:nvSpPr>
          <p:cNvPr id="13" name="Rectangle 12"/>
          <p:cNvSpPr/>
          <p:nvPr/>
        </p:nvSpPr>
        <p:spPr>
          <a:xfrm>
            <a:off x="6400800" y="365760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15–45%</a:t>
            </a:r>
          </a:p>
        </p:txBody>
      </p:sp>
      <p:sp>
        <p:nvSpPr>
          <p:cNvPr id="14" name="Rectangle 13"/>
          <p:cNvSpPr/>
          <p:nvPr/>
        </p:nvSpPr>
        <p:spPr>
          <a:xfrm>
            <a:off x="2286000" y="416052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666666"/>
                </a:solidFill>
                <a:latin typeface="Calibri"/>
              </a:rPr>
              <a:t>  Very unlikely</a:t>
            </a:r>
          </a:p>
        </p:txBody>
      </p:sp>
      <p:sp>
        <p:nvSpPr>
          <p:cNvPr id="15" name="Rectangle 14"/>
          <p:cNvSpPr/>
          <p:nvPr/>
        </p:nvSpPr>
        <p:spPr>
          <a:xfrm>
            <a:off x="6400800" y="416052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5–15%</a:t>
            </a:r>
          </a:p>
        </p:txBody>
      </p:sp>
      <p:sp>
        <p:nvSpPr>
          <p:cNvPr id="16" name="Rectangle 15"/>
          <p:cNvSpPr/>
          <p:nvPr/>
        </p:nvSpPr>
        <p:spPr>
          <a:xfrm>
            <a:off x="2286000" y="4663440"/>
            <a:ext cx="41148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b="1">
                <a:solidFill>
                  <a:srgbClr val="666666"/>
                </a:solidFill>
                <a:latin typeface="Calibri"/>
              </a:rPr>
              <a:t>  Remote</a:t>
            </a:r>
          </a:p>
        </p:txBody>
      </p:sp>
      <p:sp>
        <p:nvSpPr>
          <p:cNvPr id="17" name="Rectangle 16"/>
          <p:cNvSpPr/>
          <p:nvPr/>
        </p:nvSpPr>
        <p:spPr>
          <a:xfrm>
            <a:off x="6400800" y="4663440"/>
            <a:ext cx="2286000" cy="50292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500">
                <a:solidFill>
                  <a:srgbClr val="333333"/>
                </a:solidFill>
                <a:latin typeface="Consolas"/>
              </a:rPr>
              <a:t>&lt;5%</a:t>
            </a:r>
          </a:p>
        </p:txBody>
      </p:sp>
      <p:sp>
        <p:nvSpPr>
          <p:cNvPr id="18" name="TextBox 17"/>
          <p:cNvSpPr txBox="1"/>
          <p:nvPr/>
        </p:nvSpPr>
        <p:spPr>
          <a:xfrm>
            <a:off x="457200" y="5486400"/>
            <a:ext cx="11274552" cy="731520"/>
          </a:xfrm>
          <a:prstGeom prst="rect">
            <a:avLst/>
          </a:prstGeom>
          <a:noFill/>
        </p:spPr>
        <p:txBody>
          <a:bodyPr wrap="square">
            <a:spAutoFit/>
          </a:bodyPr>
          <a:lstStyle/>
          <a:p>
            <a:pPr algn="ctr"/>
            <a:r>
              <a:rPr sz="1300" i="1">
                <a:solidFill>
                  <a:srgbClr val="666666"/>
                </a:solidFill>
                <a:latin typeface="Calibri"/>
              </a:rPr>
              <a:t>Why: hedging language is the #1 way analysts get misread by leadership. "Could be a problem" gets ignored; "likely escalates within 72 hours" gets a meeting.</a:t>
            </a:r>
          </a:p>
        </p:txBody>
      </p:sp>
      <p:sp>
        <p:nvSpPr>
          <p:cNvPr id="19" name="TextBox 18"/>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20" name="TextBox 19"/>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FLASH alerts</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Async — for when something can't wait for the next scheduled brief.</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600" b="1">
                <a:solidFill>
                  <a:srgbClr val="333333"/>
                </a:solidFill>
                <a:latin typeface="Calibri"/>
              </a:rPr>
              <a:t>• Sweeps every 6 hours</a:t>
            </a:r>
          </a:p>
          <a:p>
            <a:pPr algn="l">
              <a:lnSpc>
                <a:spcPct val="115000"/>
              </a:lnSpc>
            </a:pPr>
            <a:r>
              <a:rPr sz="1200" i="1">
                <a:solidFill>
                  <a:srgbClr val="666666"/>
                </a:solidFill>
                <a:latin typeface="Calibri"/>
              </a:rPr>
              <a:t>   00:00 / 06:00 / 12:00 / 18:00 EDT. Collector + grader on the fast path.</a:t>
            </a:r>
          </a:p>
          <a:p>
            <a:pPr algn="l">
              <a:lnSpc>
                <a:spcPct val="115000"/>
              </a:lnSpc>
              <a:spcBef>
                <a:spcPts val="800"/>
              </a:spcBef>
            </a:pPr>
            <a:r>
              <a:rPr sz="1600" b="1">
                <a:solidFill>
                  <a:srgbClr val="333333"/>
                </a:solidFill>
                <a:latin typeface="Calibri"/>
              </a:rPr>
              <a:t>• Triggers (any one fires a FLASH)</a:t>
            </a:r>
          </a:p>
          <a:p>
            <a:pPr algn="l">
              <a:lnSpc>
                <a:spcPct val="115000"/>
              </a:lnSpc>
            </a:pPr>
            <a:r>
              <a:rPr sz="1200" i="1">
                <a:solidFill>
                  <a:srgbClr val="666666"/>
                </a:solidFill>
                <a:latin typeface="Calibri"/>
              </a:rPr>
              <a:t>   (1) Critical CVE actively exploited · (2) New attribution to a tracked actor · (3) Major breach in scope · (4) Tracked actor TTP change · (5) Sector-specific zero-day · (6) Zero-day with no patch · (7) Supply-chain compromise impacting tracked vendors</a:t>
            </a:r>
          </a:p>
          <a:p>
            <a:pPr algn="l">
              <a:lnSpc>
                <a:spcPct val="115000"/>
              </a:lnSpc>
              <a:spcBef>
                <a:spcPts val="800"/>
              </a:spcBef>
            </a:pPr>
            <a:r>
              <a:rPr sz="1600" b="1">
                <a:solidFill>
                  <a:srgbClr val="333333"/>
                </a:solidFill>
                <a:latin typeface="Calibri"/>
              </a:rPr>
              <a:t>• Quiet hours: 21:00 – 09:00 EDT</a:t>
            </a:r>
          </a:p>
          <a:p>
            <a:pPr algn="l">
              <a:lnSpc>
                <a:spcPct val="115000"/>
              </a:lnSpc>
            </a:pPr>
            <a:r>
              <a:rPr sz="1200" i="1">
                <a:solidFill>
                  <a:srgbClr val="666666"/>
                </a:solidFill>
                <a:latin typeface="Calibri"/>
              </a:rPr>
              <a:t>   Routine FLASHes queue to 09:00 catchup sweep — operators are not woken up casually.</a:t>
            </a:r>
          </a:p>
          <a:p>
            <a:pPr algn="l">
              <a:lnSpc>
                <a:spcPct val="115000"/>
              </a:lnSpc>
              <a:spcBef>
                <a:spcPts val="800"/>
              </a:spcBef>
            </a:pPr>
            <a:r>
              <a:rPr sz="1600" b="1">
                <a:solidFill>
                  <a:srgbClr val="333333"/>
                </a:solidFill>
                <a:latin typeface="Calibri"/>
              </a:rPr>
              <a:t>• Critical override bypasses quiet hours</a:t>
            </a:r>
          </a:p>
          <a:p>
            <a:pPr algn="l">
              <a:lnSpc>
                <a:spcPct val="115000"/>
              </a:lnSpc>
            </a:pPr>
            <a:r>
              <a:rPr sz="1200" i="1">
                <a:solidFill>
                  <a:srgbClr val="666666"/>
                </a:solidFill>
                <a:latin typeface="Calibri"/>
              </a:rPr>
              <a:t>   ALL of: CVSS 10 + confirmed active exploitation + tracked actor + sector watchlist hit. Anything less queues. This is the 'actually wake up' threshold.</a:t>
            </a:r>
          </a:p>
          <a:p>
            <a:pPr algn="l">
              <a:lnSpc>
                <a:spcPct val="115000"/>
              </a:lnSpc>
              <a:spcBef>
                <a:spcPts val="800"/>
              </a:spcBef>
            </a:pPr>
            <a:r>
              <a:rPr sz="1600" b="1">
                <a:solidFill>
                  <a:srgbClr val="333333"/>
                </a:solidFill>
                <a:latin typeface="Calibri"/>
              </a:rPr>
              <a:t>• 72-hour auto-downgrade clock on single-source FLASHes</a:t>
            </a:r>
          </a:p>
          <a:p>
            <a:pPr algn="l">
              <a:lnSpc>
                <a:spcPct val="115000"/>
              </a:lnSpc>
            </a:pPr>
            <a:r>
              <a:rPr sz="1200" i="1">
                <a:solidFill>
                  <a:srgbClr val="666666"/>
                </a:solidFill>
                <a:latin typeface="Calibri"/>
              </a:rPr>
              <a:t>   If no independent A/B-grade source corroborates within 72h, attribution leg auto-drops to C3 'possibly true.' Tested and fired clean on MuddyWater 2026-05-09.</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Threat actor profiles</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Per-actor dossier: profile, IOCs, threat-box scoring. Reviewed every 90 days.</a:t>
            </a:r>
          </a:p>
        </p:txBody>
      </p:sp>
      <p:sp>
        <p:nvSpPr>
          <p:cNvPr id="4" name="TextBox 3"/>
          <p:cNvSpPr txBox="1"/>
          <p:nvPr/>
        </p:nvSpPr>
        <p:spPr>
          <a:xfrm>
            <a:off x="457200" y="1554480"/>
            <a:ext cx="5669280" cy="4114800"/>
          </a:xfrm>
          <a:prstGeom prst="rect">
            <a:avLst/>
          </a:prstGeom>
          <a:noFill/>
        </p:spPr>
        <p:txBody>
          <a:bodyPr wrap="square">
            <a:spAutoFit/>
          </a:bodyPr>
          <a:lstStyle/>
          <a:p>
            <a:pPr algn="l">
              <a:lnSpc>
                <a:spcPct val="115000"/>
              </a:lnSpc>
            </a:pPr>
            <a:r>
              <a:rPr sz="1500" b="1">
                <a:solidFill>
                  <a:srgbClr val="333333"/>
                </a:solidFill>
                <a:latin typeface="Calibri"/>
              </a:rPr>
              <a:t>• 23 actors tracked</a:t>
            </a:r>
          </a:p>
          <a:p>
            <a:pPr algn="l">
              <a:lnSpc>
                <a:spcPct val="115000"/>
              </a:lnSpc>
            </a:pPr>
            <a:r>
              <a:rPr sz="1200" i="1">
                <a:solidFill>
                  <a:srgbClr val="666666"/>
                </a:solidFill>
                <a:latin typeface="Calibri"/>
              </a:rPr>
              <a:t>   Iranian cluster (UNC1549, MuddyWater, APT34, Charming Kitten, Handala), DPRK (Lazarus, APT37, Stardust Chollima), Chinese (APT28, APT40), unattributed (TeamPCP, Cl0p, Lapsus$).</a:t>
            </a:r>
          </a:p>
          <a:p>
            <a:pPr algn="l">
              <a:lnSpc>
                <a:spcPct val="115000"/>
              </a:lnSpc>
              <a:spcBef>
                <a:spcPts val="800"/>
              </a:spcBef>
            </a:pPr>
            <a:r>
              <a:rPr sz="1500" b="1">
                <a:solidFill>
                  <a:srgbClr val="333333"/>
                </a:solidFill>
                <a:latin typeface="Calibri"/>
              </a:rPr>
              <a:t>• Per-actor dossier</a:t>
            </a:r>
          </a:p>
          <a:p>
            <a:pPr algn="l">
              <a:lnSpc>
                <a:spcPct val="115000"/>
              </a:lnSpc>
            </a:pPr>
            <a:r>
              <a:rPr sz="1200" i="1">
                <a:solidFill>
                  <a:srgbClr val="666666"/>
                </a:solidFill>
                <a:latin typeface="Calibri"/>
              </a:rPr>
              <a:t>   profile.md (background), iocs.yaml (machine-readable), threat-box.yaml (scoring), threat-box.md (narrative).</a:t>
            </a:r>
          </a:p>
          <a:p>
            <a:pPr algn="l">
              <a:lnSpc>
                <a:spcPct val="115000"/>
              </a:lnSpc>
              <a:spcBef>
                <a:spcPts val="800"/>
              </a:spcBef>
            </a:pPr>
            <a:r>
              <a:rPr sz="1500" b="1">
                <a:solidFill>
                  <a:srgbClr val="333333"/>
                </a:solidFill>
                <a:latin typeface="Calibri"/>
              </a:rPr>
              <a:t>• Threat-box methodology</a:t>
            </a:r>
          </a:p>
          <a:p>
            <a:pPr algn="l">
              <a:lnSpc>
                <a:spcPct val="115000"/>
              </a:lnSpc>
            </a:pPr>
            <a:r>
              <a:rPr sz="1200" i="1">
                <a:solidFill>
                  <a:srgbClr val="666666"/>
                </a:solidFill>
                <a:latin typeface="Calibri"/>
              </a:rPr>
              <a:t>   Per-category composite scores (Espionage 35%, Supply Chain 20%, Destructive 15%, Disruptive 15%, Cyber-Crime 15%) weighted to overall HIGH / MEDIUM / LOW.</a:t>
            </a:r>
          </a:p>
          <a:p>
            <a:pPr algn="l">
              <a:lnSpc>
                <a:spcPct val="115000"/>
              </a:lnSpc>
              <a:spcBef>
                <a:spcPts val="800"/>
              </a:spcBef>
            </a:pPr>
            <a:r>
              <a:rPr sz="1500" b="1">
                <a:solidFill>
                  <a:srgbClr val="333333"/>
                </a:solidFill>
                <a:latin typeface="Calibri"/>
              </a:rPr>
              <a:t>• Hard Rule 5: HIGH requires human sign-off</a:t>
            </a:r>
          </a:p>
          <a:p>
            <a:pPr algn="l">
              <a:lnSpc>
                <a:spcPct val="115000"/>
              </a:lnSpc>
            </a:pPr>
            <a:r>
              <a:rPr sz="1200" i="1">
                <a:solidFill>
                  <a:srgbClr val="666666"/>
                </a:solidFill>
                <a:latin typeface="Calibri"/>
              </a:rPr>
              <a:t>   Agent never auto-commits a HIGH score. Posts to #actor-review, waits for /approve-scoring.</a:t>
            </a:r>
          </a:p>
        </p:txBody>
      </p:sp>
      <p:sp>
        <p:nvSpPr>
          <p:cNvPr id="5" name="Rectangle 4"/>
          <p:cNvSpPr/>
          <p:nvPr/>
        </p:nvSpPr>
        <p:spPr>
          <a:xfrm>
            <a:off x="6400800" y="1554480"/>
            <a:ext cx="5303520" cy="411480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82880" lIns="182880" rIns="182880" wrap="square"/>
          <a:lstStyle/>
          <a:p>
            <a:pPr algn="l"/>
            <a:r>
              <a:rPr sz="1600" b="1">
                <a:solidFill>
                  <a:srgbClr val="1F3A5F"/>
                </a:solidFill>
                <a:latin typeface="Calibri"/>
              </a:rPr>
              <a:t>APT37 (#024) — /update-tracking 2026-05-10</a:t>
            </a:r>
          </a:p>
          <a:p>
            <a:pPr algn="l"/>
            <a:r>
              <a:rPr sz="1200" b="0">
                <a:solidFill>
                  <a:srgbClr val="333333"/>
                </a:solidFill>
                <a:latin typeface="Calibri"/>
              </a:rPr>
              <a:t/>
            </a:r>
          </a:p>
          <a:p>
            <a:pPr algn="l"/>
            <a:r>
              <a:rPr sz="1200" b="0">
                <a:solidFill>
                  <a:srgbClr val="333333"/>
                </a:solidFill>
                <a:latin typeface="Consolas"/>
              </a:rPr>
              <a:t>Espionage          composite 8/10  →  HIGH</a:t>
            </a:r>
          </a:p>
          <a:p>
            <a:pPr algn="l"/>
            <a:r>
              <a:rPr sz="1200" b="0">
                <a:solidFill>
                  <a:srgbClr val="333333"/>
                </a:solidFill>
                <a:latin typeface="Consolas"/>
              </a:rPr>
              <a:t>Supply Chain       composite 6/10  →  MEDIUM</a:t>
            </a:r>
          </a:p>
          <a:p>
            <a:pPr algn="l"/>
            <a:r>
              <a:rPr sz="1200" b="0">
                <a:solidFill>
                  <a:srgbClr val="333333"/>
                </a:solidFill>
                <a:latin typeface="Consolas"/>
              </a:rPr>
              <a:t>Destructive        composite 2/10  →  LOW</a:t>
            </a:r>
          </a:p>
          <a:p>
            <a:pPr algn="l"/>
            <a:r>
              <a:rPr sz="1200" b="0">
                <a:solidFill>
                  <a:srgbClr val="333333"/>
                </a:solidFill>
                <a:latin typeface="Consolas"/>
              </a:rPr>
              <a:t>Disruptive         composite 2/10  →  LOW</a:t>
            </a:r>
          </a:p>
          <a:p>
            <a:pPr algn="l"/>
            <a:r>
              <a:rPr sz="1200" b="0">
                <a:solidFill>
                  <a:srgbClr val="333333"/>
                </a:solidFill>
                <a:latin typeface="Consolas"/>
              </a:rPr>
              <a:t>Cyber-Crime        composite 2/10  →  LOW</a:t>
            </a:r>
          </a:p>
          <a:p>
            <a:pPr algn="l"/>
            <a:r>
              <a:rPr sz="1200" b="0">
                <a:solidFill>
                  <a:srgbClr val="333333"/>
                </a:solidFill>
                <a:latin typeface="Calibri"/>
              </a:rPr>
              <a:t/>
            </a:r>
          </a:p>
          <a:p>
            <a:pPr algn="l"/>
            <a:r>
              <a:rPr sz="1400" b="1">
                <a:solidFill>
                  <a:srgbClr val="1F3A5F"/>
                </a:solidFill>
                <a:latin typeface="Consolas"/>
              </a:rPr>
              <a:t>Weighted overall: 4.9  →  MEDIUM</a:t>
            </a:r>
          </a:p>
          <a:p>
            <a:pPr algn="l"/>
            <a:r>
              <a:rPr sz="1200" b="0">
                <a:solidFill>
                  <a:srgbClr val="333333"/>
                </a:solidFill>
                <a:latin typeface="Calibri"/>
              </a:rPr>
              <a:t/>
            </a:r>
          </a:p>
          <a:p>
            <a:pPr algn="l"/>
            <a:r>
              <a:rPr sz="1200" b="1">
                <a:solidFill>
                  <a:srgbClr val="333333"/>
                </a:solidFill>
                <a:latin typeface="Calibri"/>
              </a:rPr>
              <a:t>Why not HIGH:</a:t>
            </a:r>
          </a:p>
          <a:p>
            <a:pPr algn="l"/>
            <a:r>
              <a:rPr sz="1100" b="0">
                <a:solidFill>
                  <a:srgbClr val="666666"/>
                </a:solidFill>
                <a:latin typeface="Calibri"/>
              </a:rPr>
              <a:t>Intent capped at 3 (Sector Association) — public reporting</a:t>
            </a:r>
          </a:p>
          <a:p>
            <a:pPr algn="l"/>
            <a:r>
              <a:rPr sz="1100" b="0">
                <a:solidFill>
                  <a:srgbClr val="666666"/>
                </a:solidFill>
                <a:latin typeface="Calibri"/>
              </a:rPr>
              <a:t>names think tanks / journalists / defectors, no A&amp;D primes.</a:t>
            </a:r>
          </a:p>
          <a:p>
            <a:pPr algn="l"/>
            <a:r>
              <a:rPr sz="1100" b="0">
                <a:solidFill>
                  <a:srgbClr val="666666"/>
                </a:solidFill>
                <a:latin typeface="Calibri"/>
              </a:rPr>
              <a:t>The methodology refused to extrapolate.</a:t>
            </a:r>
          </a:p>
        </p:txBody>
      </p:sp>
      <p:sp>
        <p:nvSpPr>
          <p:cNvPr id="6" name="TextBox 5"/>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7" name="TextBox 6"/>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Hard Rules — the safety boundary</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Non-negotiable. Agent refuses even when prompted to bypass.</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1 · Legal policy is non-negotiable</a:t>
            </a:r>
          </a:p>
          <a:p>
            <a:pPr algn="l">
              <a:lnSpc>
                <a:spcPct val="115000"/>
              </a:lnSpc>
            </a:pPr>
            <a:r>
              <a:rPr sz="1200" i="1">
                <a:solidFill>
                  <a:srgbClr val="666666"/>
                </a:solidFill>
                <a:latin typeface="Calibri"/>
              </a:rPr>
              <a:t>   Active recon only against authorized targets. Refuses to query PII-heavy sources without justification.</a:t>
            </a:r>
          </a:p>
          <a:p>
            <a:pPr algn="l">
              <a:lnSpc>
                <a:spcPct val="115000"/>
              </a:lnSpc>
              <a:spcBef>
                <a:spcPts val="800"/>
              </a:spcBef>
            </a:pPr>
            <a:r>
              <a:rPr sz="1400" b="1">
                <a:solidFill>
                  <a:srgbClr val="333333"/>
                </a:solidFill>
                <a:latin typeface="Calibri"/>
              </a:rPr>
              <a:t>• 2 · Never originate attribution</a:t>
            </a:r>
          </a:p>
          <a:p>
            <a:pPr algn="l">
              <a:lnSpc>
                <a:spcPct val="115000"/>
              </a:lnSpc>
            </a:pPr>
            <a:r>
              <a:rPr sz="1200" i="1">
                <a:solidFill>
                  <a:srgbClr val="666666"/>
                </a:solidFill>
                <a:latin typeface="Calibri"/>
              </a:rPr>
              <a:t>   Only reports what other sources have attributed, citing them. The agent does not invent attribution claims.</a:t>
            </a:r>
          </a:p>
          <a:p>
            <a:pPr algn="l">
              <a:lnSpc>
                <a:spcPct val="115000"/>
              </a:lnSpc>
              <a:spcBef>
                <a:spcPts val="800"/>
              </a:spcBef>
            </a:pPr>
            <a:r>
              <a:rPr sz="1400" b="1">
                <a:solidFill>
                  <a:srgbClr val="333333"/>
                </a:solidFill>
                <a:latin typeface="Calibri"/>
              </a:rPr>
              <a:t>• 3 · No exploitation, ever</a:t>
            </a:r>
          </a:p>
          <a:p>
            <a:pPr algn="l">
              <a:lnSpc>
                <a:spcPct val="115000"/>
              </a:lnSpc>
            </a:pPr>
            <a:r>
              <a:rPr sz="1200" i="1">
                <a:solidFill>
                  <a:srgbClr val="666666"/>
                </a:solidFill>
                <a:latin typeface="Calibri"/>
              </a:rPr>
              <a:t>   Never generates PoC code, payloads, or exploit guides. Not for testing, not for research, not 'educational.'</a:t>
            </a:r>
          </a:p>
          <a:p>
            <a:pPr algn="l">
              <a:lnSpc>
                <a:spcPct val="115000"/>
              </a:lnSpc>
              <a:spcBef>
                <a:spcPts val="800"/>
              </a:spcBef>
            </a:pPr>
            <a:r>
              <a:rPr sz="1400" b="1">
                <a:solidFill>
                  <a:srgbClr val="333333"/>
                </a:solidFill>
                <a:latin typeface="Calibri"/>
              </a:rPr>
              <a:t>• 4 · Never scan third parties</a:t>
            </a:r>
          </a:p>
          <a:p>
            <a:pPr algn="l">
              <a:lnSpc>
                <a:spcPct val="115000"/>
              </a:lnSpc>
            </a:pPr>
            <a:r>
              <a:rPr sz="1200" i="1">
                <a:solidFill>
                  <a:srgbClr val="666666"/>
                </a:solidFill>
                <a:latin typeface="Calibri"/>
              </a:rPr>
              <a:t>   Active reconnaissance only against targets in authorized-targets.yaml. Passive-only for everything else. SpiderFoot + theHarvester MCPs enforce module-level allowlists.</a:t>
            </a:r>
          </a:p>
          <a:p>
            <a:pPr algn="l">
              <a:lnSpc>
                <a:spcPct val="115000"/>
              </a:lnSpc>
              <a:spcBef>
                <a:spcPts val="800"/>
              </a:spcBef>
            </a:pPr>
            <a:r>
              <a:rPr sz="1400" b="1">
                <a:solidFill>
                  <a:srgbClr val="333333"/>
                </a:solidFill>
                <a:latin typeface="Calibri"/>
              </a:rPr>
              <a:t>• 5 · Human sign-off for HIGH threat levels</a:t>
            </a:r>
          </a:p>
          <a:p>
            <a:pPr algn="l">
              <a:lnSpc>
                <a:spcPct val="115000"/>
              </a:lnSpc>
            </a:pPr>
            <a:r>
              <a:rPr sz="1200" i="1">
                <a:solidFill>
                  <a:srgbClr val="666666"/>
                </a:solidFill>
                <a:latin typeface="Calibri"/>
              </a:rPr>
              <a:t>   When actor-profiler proposes HIGH, posts to #actor-review and waits for /approve-scoring. Does not auto-commit.</a:t>
            </a:r>
          </a:p>
          <a:p>
            <a:pPr algn="l">
              <a:lnSpc>
                <a:spcPct val="115000"/>
              </a:lnSpc>
              <a:spcBef>
                <a:spcPts val="800"/>
              </a:spcBef>
            </a:pPr>
            <a:r>
              <a:rPr sz="1400" b="1">
                <a:solidFill>
                  <a:srgbClr val="333333"/>
                </a:solidFill>
                <a:latin typeface="Calibri"/>
              </a:rPr>
              <a:t>• 6 · 15-word quote limit, one quote per source</a:t>
            </a:r>
          </a:p>
          <a:p>
            <a:pPr algn="l">
              <a:lnSpc>
                <a:spcPct val="115000"/>
              </a:lnSpc>
            </a:pPr>
            <a:r>
              <a:rPr sz="1200" i="1">
                <a:solidFill>
                  <a:srgbClr val="666666"/>
                </a:solidFill>
                <a:latin typeface="Calibri"/>
              </a:rPr>
              <a:t>   Copyright compliance. Hard-enforced in the preflight checklist; refuses to ship a brief that violates it.</a:t>
            </a:r>
          </a:p>
          <a:p>
            <a:pPr algn="l">
              <a:lnSpc>
                <a:spcPct val="115000"/>
              </a:lnSpc>
              <a:spcBef>
                <a:spcPts val="800"/>
              </a:spcBef>
            </a:pPr>
            <a:r>
              <a:rPr sz="1400" b="1">
                <a:solidFill>
                  <a:srgbClr val="333333"/>
                </a:solidFill>
                <a:latin typeface="Calibri"/>
              </a:rPr>
              <a:t>• 7 · Credentials are radioactive</a:t>
            </a:r>
          </a:p>
          <a:p>
            <a:pPr algn="l">
              <a:lnSpc>
                <a:spcPct val="115000"/>
              </a:lnSpc>
            </a:pPr>
            <a:r>
              <a:rPr sz="1200" i="1">
                <a:solidFill>
                  <a:srgbClr val="666666"/>
                </a:solidFill>
                <a:latin typeface="Calibri"/>
              </a:rPr>
              <a:t>   If a query surfaces credentials, never stores them. Counts and reports exposure; discards.</a:t>
            </a:r>
          </a:p>
          <a:p>
            <a:pPr algn="l">
              <a:lnSpc>
                <a:spcPct val="115000"/>
              </a:lnSpc>
              <a:spcBef>
                <a:spcPts val="800"/>
              </a:spcBef>
            </a:pPr>
            <a:r>
              <a:rPr sz="1400" b="1">
                <a:solidFill>
                  <a:srgbClr val="333333"/>
                </a:solidFill>
                <a:latin typeface="Calibri"/>
              </a:rPr>
              <a:t>• 8 · Splunk first-party &gt; external sources</a:t>
            </a:r>
          </a:p>
          <a:p>
            <a:pPr algn="l">
              <a:lnSpc>
                <a:spcPct val="115000"/>
              </a:lnSpc>
            </a:pPr>
            <a:r>
              <a:rPr sz="1200" i="1">
                <a:solidFill>
                  <a:srgbClr val="666666"/>
                </a:solidFill>
                <a:latin typeface="Calibri"/>
              </a:rPr>
              <a:t>   When first-party telemetry contradicts an external source, first-party wins and the external source gets graded down.</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Architecture</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Orchestrator + 9 subagents + ~8 MCP wrappers + doctrine. Everything flows through git, Splunk, Discord.</a:t>
            </a:r>
          </a:p>
        </p:txBody>
      </p:sp>
      <p:sp>
        <p:nvSpPr>
          <p:cNvPr id="4" name="Rounded Rectangle 3"/>
          <p:cNvSpPr/>
          <p:nvPr/>
        </p:nvSpPr>
        <p:spPr>
          <a:xfrm>
            <a:off x="5212080" y="1463040"/>
            <a:ext cx="1828800" cy="548640"/>
          </a:xfrm>
          <a:prstGeom prst="roundRect">
            <a:avLst/>
          </a:prstGeom>
          <a:solidFill>
            <a:srgbClr val="1F3A5F"/>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300" b="1">
                <a:solidFill>
                  <a:srgbClr val="FFFFFF"/>
                </a:solidFill>
                <a:latin typeface="Calibri"/>
              </a:rPr>
              <a:t>Claude (orchestrator)</a:t>
            </a:r>
          </a:p>
        </p:txBody>
      </p:sp>
      <p:sp>
        <p:nvSpPr>
          <p:cNvPr id="5" name="Rectangle 4"/>
          <p:cNvSpPr/>
          <p:nvPr/>
        </p:nvSpPr>
        <p:spPr>
          <a:xfrm>
            <a:off x="457200" y="1463040"/>
            <a:ext cx="2377440" cy="548640"/>
          </a:xfrm>
          <a:prstGeom prst="rect">
            <a:avLst/>
          </a:prstGeom>
          <a:solidFill>
            <a:srgbClr val="F5F5F5"/>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200" b="1">
                <a:solidFill>
                  <a:srgbClr val="4A90E2"/>
                </a:solidFill>
                <a:latin typeface="Calibri"/>
              </a:rPr>
              <a:t>8 MCP wrappers</a:t>
            </a:r>
          </a:p>
        </p:txBody>
      </p:sp>
      <p:sp>
        <p:nvSpPr>
          <p:cNvPr id="6" name="TextBox 5"/>
          <p:cNvSpPr txBox="1"/>
          <p:nvPr/>
        </p:nvSpPr>
        <p:spPr>
          <a:xfrm>
            <a:off x="457200" y="2057400"/>
            <a:ext cx="2377440" cy="457200"/>
          </a:xfrm>
          <a:prstGeom prst="rect">
            <a:avLst/>
          </a:prstGeom>
          <a:noFill/>
        </p:spPr>
        <p:txBody>
          <a:bodyPr wrap="square">
            <a:spAutoFit/>
          </a:bodyPr>
          <a:lstStyle/>
          <a:p>
            <a:pPr algn="ctr"/>
            <a:r>
              <a:rPr sz="900">
                <a:solidFill>
                  <a:srgbClr val="666666"/>
                </a:solidFill>
                <a:latin typeface="Calibri"/>
              </a:rPr>
              <a:t>Splunk · VT · Shodan · Censys
urlscan · theHarvester · SpiderFoot · RSS</a:t>
            </a:r>
          </a:p>
        </p:txBody>
      </p:sp>
      <p:sp>
        <p:nvSpPr>
          <p:cNvPr id="7" name="Rectangle 6"/>
          <p:cNvSpPr/>
          <p:nvPr/>
        </p:nvSpPr>
        <p:spPr>
          <a:xfrm>
            <a:off x="9326880" y="1463040"/>
            <a:ext cx="2377440" cy="548640"/>
          </a:xfrm>
          <a:prstGeom prst="rect">
            <a:avLst/>
          </a:prstGeom>
          <a:solidFill>
            <a:srgbClr val="F5F5F5"/>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200" b="1">
                <a:solidFill>
                  <a:srgbClr val="C0392B"/>
                </a:solidFill>
                <a:latin typeface="Calibri"/>
              </a:rPr>
              <a:t>Outputs</a:t>
            </a:r>
          </a:p>
        </p:txBody>
      </p:sp>
      <p:sp>
        <p:nvSpPr>
          <p:cNvPr id="8" name="TextBox 7"/>
          <p:cNvSpPr txBox="1"/>
          <p:nvPr/>
        </p:nvSpPr>
        <p:spPr>
          <a:xfrm>
            <a:off x="9326880" y="2057400"/>
            <a:ext cx="2377440" cy="457200"/>
          </a:xfrm>
          <a:prstGeom prst="rect">
            <a:avLst/>
          </a:prstGeom>
          <a:noFill/>
        </p:spPr>
        <p:txBody>
          <a:bodyPr wrap="square">
            <a:spAutoFit/>
          </a:bodyPr>
          <a:lstStyle/>
          <a:p>
            <a:pPr algn="ctr"/>
            <a:r>
              <a:rPr sz="900">
                <a:solidFill>
                  <a:srgbClr val="666666"/>
                </a:solidFill>
                <a:latin typeface="Calibri"/>
              </a:rPr>
              <a:t>Discord  ·  git  ·  Splunk</a:t>
            </a:r>
          </a:p>
        </p:txBody>
      </p:sp>
      <p:cxnSp>
        <p:nvCxnSpPr>
          <p:cNvPr id="9" name="Connector 8"/>
          <p:cNvCxnSpPr/>
          <p:nvPr/>
        </p:nvCxnSpPr>
        <p:spPr>
          <a:xfrm>
            <a:off x="2834640" y="1737360"/>
            <a:ext cx="2377440" cy="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040880" y="1737360"/>
            <a:ext cx="2286000" cy="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798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collector</a:t>
            </a:r>
          </a:p>
          <a:p>
            <a:pPr algn="ctr"/>
            <a:r>
              <a:rPr sz="800" i="1">
                <a:solidFill>
                  <a:srgbClr val="666666"/>
                </a:solidFill>
                <a:latin typeface="Calibri"/>
              </a:rPr>
              <a:t>raw signal</a:t>
            </a:r>
          </a:p>
        </p:txBody>
      </p:sp>
      <p:sp>
        <p:nvSpPr>
          <p:cNvPr id="12" name="Rounded Rectangle 11"/>
          <p:cNvSpPr/>
          <p:nvPr/>
        </p:nvSpPr>
        <p:spPr>
          <a:xfrm>
            <a:off x="163814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grader</a:t>
            </a:r>
          </a:p>
          <a:p>
            <a:pPr algn="ctr"/>
            <a:r>
              <a:rPr sz="800" i="1">
                <a:solidFill>
                  <a:srgbClr val="666666"/>
                </a:solidFill>
                <a:latin typeface="Calibri"/>
              </a:rPr>
              <a:t>Admiralty + WEP</a:t>
            </a:r>
          </a:p>
        </p:txBody>
      </p:sp>
      <p:sp>
        <p:nvSpPr>
          <p:cNvPr id="13" name="Rounded Rectangle 12"/>
          <p:cNvSpPr/>
          <p:nvPr/>
        </p:nvSpPr>
        <p:spPr>
          <a:xfrm>
            <a:off x="291830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analyst</a:t>
            </a:r>
          </a:p>
          <a:p>
            <a:pPr algn="ctr"/>
            <a:r>
              <a:rPr sz="800" i="1">
                <a:solidFill>
                  <a:srgbClr val="666666"/>
                </a:solidFill>
                <a:latin typeface="Calibri"/>
              </a:rPr>
              <a:t>SATs / ACH / KAC</a:t>
            </a:r>
          </a:p>
        </p:txBody>
      </p:sp>
      <p:sp>
        <p:nvSpPr>
          <p:cNvPr id="14" name="Rounded Rectangle 13"/>
          <p:cNvSpPr/>
          <p:nvPr/>
        </p:nvSpPr>
        <p:spPr>
          <a:xfrm>
            <a:off x="419846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red-team-analyst</a:t>
            </a:r>
          </a:p>
          <a:p>
            <a:pPr algn="ctr"/>
            <a:r>
              <a:rPr sz="800" i="1">
                <a:solidFill>
                  <a:srgbClr val="666666"/>
                </a:solidFill>
                <a:latin typeface="Calibri"/>
              </a:rPr>
              <a:t>challenge HIGH</a:t>
            </a:r>
          </a:p>
        </p:txBody>
      </p:sp>
      <p:sp>
        <p:nvSpPr>
          <p:cNvPr id="15" name="Rounded Rectangle 14"/>
          <p:cNvSpPr/>
          <p:nvPr/>
        </p:nvSpPr>
        <p:spPr>
          <a:xfrm>
            <a:off x="547862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actor-profiler</a:t>
            </a:r>
          </a:p>
          <a:p>
            <a:pPr algn="ctr"/>
            <a:r>
              <a:rPr sz="800" i="1">
                <a:solidFill>
                  <a:srgbClr val="666666"/>
                </a:solidFill>
                <a:latin typeface="Calibri"/>
              </a:rPr>
              <a:t>dossiers</a:t>
            </a:r>
          </a:p>
        </p:txBody>
      </p:sp>
      <p:sp>
        <p:nvSpPr>
          <p:cNvPr id="16" name="Rounded Rectangle 15"/>
          <p:cNvSpPr/>
          <p:nvPr/>
        </p:nvSpPr>
        <p:spPr>
          <a:xfrm>
            <a:off x="675878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vuln-tracker</a:t>
            </a:r>
          </a:p>
          <a:p>
            <a:pPr algn="ctr"/>
            <a:r>
              <a:rPr sz="800" i="1">
                <a:solidFill>
                  <a:srgbClr val="666666"/>
                </a:solidFill>
                <a:latin typeface="Calibri"/>
              </a:rPr>
              <a:t>CVE corpus</a:t>
            </a:r>
          </a:p>
        </p:txBody>
      </p:sp>
      <p:sp>
        <p:nvSpPr>
          <p:cNvPr id="17" name="Rounded Rectangle 16"/>
          <p:cNvSpPr/>
          <p:nvPr/>
        </p:nvSpPr>
        <p:spPr>
          <a:xfrm>
            <a:off x="803894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briefer</a:t>
            </a:r>
          </a:p>
          <a:p>
            <a:pPr algn="ctr"/>
            <a:r>
              <a:rPr sz="800" i="1">
                <a:solidFill>
                  <a:srgbClr val="666666"/>
                </a:solidFill>
                <a:latin typeface="Calibri"/>
              </a:rPr>
              <a:t>Layer 1 + 2</a:t>
            </a:r>
          </a:p>
        </p:txBody>
      </p:sp>
      <p:sp>
        <p:nvSpPr>
          <p:cNvPr id="18" name="Rounded Rectangle 17"/>
          <p:cNvSpPr/>
          <p:nvPr/>
        </p:nvSpPr>
        <p:spPr>
          <a:xfrm>
            <a:off x="9319107" y="3108960"/>
            <a:ext cx="123444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1F3A5F"/>
                </a:solidFill>
                <a:latin typeface="Calibri"/>
              </a:rPr>
              <a:t>librarian</a:t>
            </a:r>
          </a:p>
          <a:p>
            <a:pPr algn="ctr"/>
            <a:r>
              <a:rPr sz="800" i="1">
                <a:solidFill>
                  <a:srgbClr val="666666"/>
                </a:solidFill>
                <a:latin typeface="Calibri"/>
              </a:rPr>
              <a:t>git / Splunk / Discord</a:t>
            </a:r>
          </a:p>
        </p:txBody>
      </p:sp>
      <p:sp>
        <p:nvSpPr>
          <p:cNvPr id="19" name="Rounded Rectangle 18"/>
          <p:cNvSpPr/>
          <p:nvPr/>
        </p:nvSpPr>
        <p:spPr>
          <a:xfrm>
            <a:off x="10599267" y="3108960"/>
            <a:ext cx="1234440" cy="868680"/>
          </a:xfrm>
          <a:prstGeom prst="roundRect">
            <a:avLst/>
          </a:prstGeom>
          <a:solidFill>
            <a:srgbClr val="FDEFED"/>
          </a:solidFill>
          <a:ln w="1524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000" b="1">
                <a:solidFill>
                  <a:srgbClr val="C0392B"/>
                </a:solidFill>
                <a:latin typeface="Calibri"/>
              </a:rPr>
              <a:t>(human approval)</a:t>
            </a:r>
          </a:p>
          <a:p>
            <a:pPr algn="ctr"/>
            <a:r>
              <a:rPr sz="800" i="1">
                <a:solidFill>
                  <a:srgbClr val="666666"/>
                </a:solidFill>
                <a:latin typeface="Calibri"/>
              </a:rPr>
              <a:t>HIGH scores</a:t>
            </a:r>
          </a:p>
        </p:txBody>
      </p:sp>
      <p:sp>
        <p:nvSpPr>
          <p:cNvPr id="20" name="Rectangle 19"/>
          <p:cNvSpPr/>
          <p:nvPr/>
        </p:nvSpPr>
        <p:spPr>
          <a:xfrm>
            <a:off x="457200" y="4572000"/>
            <a:ext cx="11274552" cy="548640"/>
          </a:xfrm>
          <a:prstGeom prst="rect">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333333"/>
                </a:solidFill>
                <a:latin typeface="Calibri"/>
              </a:rPr>
              <a:t>Doctrine (.md files, versioned in git):  LEGAL-POLICY  ·  INTEL-GRADING  ·  INTEL-BRIEF-STANDARDS  ·  THREAT-BOX-METHODOLOGY  ·  RETRACTION-POLICY  ·  FLASH-POLICY</a:t>
            </a:r>
          </a:p>
        </p:txBody>
      </p:sp>
      <p:sp>
        <p:nvSpPr>
          <p:cNvPr id="21" name="TextBox 20"/>
          <p:cNvSpPr txBox="1"/>
          <p:nvPr/>
        </p:nvSpPr>
        <p:spPr>
          <a:xfrm>
            <a:off x="457200" y="5394960"/>
            <a:ext cx="11274552" cy="914400"/>
          </a:xfrm>
          <a:prstGeom prst="rect">
            <a:avLst/>
          </a:prstGeom>
          <a:noFill/>
        </p:spPr>
        <p:txBody>
          <a:bodyPr wrap="square">
            <a:spAutoFit/>
          </a:bodyPr>
          <a:lstStyle/>
          <a:p>
            <a:pPr algn="ctr"/>
            <a:r>
              <a:rPr sz="1200" i="1">
                <a:solidFill>
                  <a:srgbClr val="666666"/>
                </a:solidFill>
                <a:latin typeface="Calibri"/>
              </a:rPr>
              <a:t>Each subagent has its own context window, its own write scope, its own doctrine subset. Orchestrator never reads raw articles. Librarian is the only writer to git / Splunk / Discord. Context isolation is the design that makes the multi-agent setup robust.</a:t>
            </a:r>
          </a:p>
        </p:txBody>
      </p:sp>
      <p:sp>
        <p:nvSpPr>
          <p:cNvPr id="22" name="TextBox 21"/>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23" name="TextBox 22"/>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Subagents = role separation</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Each agent's job description, write scope, and doctrine are minimal.</a:t>
            </a:r>
          </a:p>
        </p:txBody>
      </p:sp>
      <p:sp>
        <p:nvSpPr>
          <p:cNvPr id="4" name="Rectangle 3"/>
          <p:cNvSpPr/>
          <p:nvPr/>
        </p:nvSpPr>
        <p:spPr>
          <a:xfrm>
            <a:off x="457200" y="1554480"/>
            <a:ext cx="182880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100" b="1">
                <a:solidFill>
                  <a:srgbClr val="FFFFFF"/>
                </a:solidFill>
                <a:latin typeface="Calibri"/>
              </a:rPr>
              <a:t>  Subagent</a:t>
            </a:r>
          </a:p>
        </p:txBody>
      </p:sp>
      <p:sp>
        <p:nvSpPr>
          <p:cNvPr id="5" name="Rectangle 4"/>
          <p:cNvSpPr/>
          <p:nvPr/>
        </p:nvSpPr>
        <p:spPr>
          <a:xfrm>
            <a:off x="2286000" y="1554480"/>
            <a:ext cx="320040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100" b="1">
                <a:solidFill>
                  <a:srgbClr val="FFFFFF"/>
                </a:solidFill>
                <a:latin typeface="Calibri"/>
              </a:rPr>
              <a:t>  Role</a:t>
            </a:r>
          </a:p>
        </p:txBody>
      </p:sp>
      <p:sp>
        <p:nvSpPr>
          <p:cNvPr id="6" name="Rectangle 5"/>
          <p:cNvSpPr/>
          <p:nvPr/>
        </p:nvSpPr>
        <p:spPr>
          <a:xfrm>
            <a:off x="5486400" y="1554480"/>
            <a:ext cx="301752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100" b="1">
                <a:solidFill>
                  <a:srgbClr val="FFFFFF"/>
                </a:solidFill>
                <a:latin typeface="Calibri"/>
              </a:rPr>
              <a:t>  Write scope</a:t>
            </a:r>
          </a:p>
        </p:txBody>
      </p:sp>
      <p:sp>
        <p:nvSpPr>
          <p:cNvPr id="7" name="Rectangle 6"/>
          <p:cNvSpPr/>
          <p:nvPr/>
        </p:nvSpPr>
        <p:spPr>
          <a:xfrm>
            <a:off x="8503920" y="1554480"/>
            <a:ext cx="320040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100" b="1">
                <a:solidFill>
                  <a:srgbClr val="FFFFFF"/>
                </a:solidFill>
                <a:latin typeface="Calibri"/>
              </a:rPr>
              <a:t>  Doctrine read</a:t>
            </a:r>
          </a:p>
        </p:txBody>
      </p:sp>
      <p:sp>
        <p:nvSpPr>
          <p:cNvPr id="8" name="Rectangle 7"/>
          <p:cNvSpPr/>
          <p:nvPr/>
        </p:nvSpPr>
        <p:spPr>
          <a:xfrm>
            <a:off x="457200" y="201168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collector</a:t>
            </a:r>
          </a:p>
        </p:txBody>
      </p:sp>
      <p:sp>
        <p:nvSpPr>
          <p:cNvPr id="9" name="Rectangle 8"/>
          <p:cNvSpPr/>
          <p:nvPr/>
        </p:nvSpPr>
        <p:spPr>
          <a:xfrm>
            <a:off x="2286000" y="20116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raw OSINT collection</a:t>
            </a:r>
          </a:p>
        </p:txBody>
      </p:sp>
      <p:sp>
        <p:nvSpPr>
          <p:cNvPr id="10" name="Rectangle 9"/>
          <p:cNvSpPr/>
          <p:nvPr/>
        </p:nvSpPr>
        <p:spPr>
          <a:xfrm>
            <a:off x="5486400" y="2011680"/>
            <a:ext cx="3017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threats/raw-signal/</a:t>
            </a:r>
          </a:p>
        </p:txBody>
      </p:sp>
      <p:sp>
        <p:nvSpPr>
          <p:cNvPr id="11" name="Rectangle 10"/>
          <p:cNvSpPr/>
          <p:nvPr/>
        </p:nvSpPr>
        <p:spPr>
          <a:xfrm>
            <a:off x="8503920" y="20116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source-grades, watchlists, FLASH triggers</a:t>
            </a:r>
          </a:p>
        </p:txBody>
      </p:sp>
      <p:sp>
        <p:nvSpPr>
          <p:cNvPr id="12" name="Rectangle 11"/>
          <p:cNvSpPr/>
          <p:nvPr/>
        </p:nvSpPr>
        <p:spPr>
          <a:xfrm>
            <a:off x="457200" y="246888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grader</a:t>
            </a:r>
          </a:p>
        </p:txBody>
      </p:sp>
      <p:sp>
        <p:nvSpPr>
          <p:cNvPr id="13" name="Rectangle 12"/>
          <p:cNvSpPr/>
          <p:nvPr/>
        </p:nvSpPr>
        <p:spPr>
          <a:xfrm>
            <a:off x="2286000" y="24688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Admiralty + WEP promotion</a:t>
            </a:r>
          </a:p>
        </p:txBody>
      </p:sp>
      <p:sp>
        <p:nvSpPr>
          <p:cNvPr id="14" name="Rectangle 13"/>
          <p:cNvSpPr/>
          <p:nvPr/>
        </p:nvSpPr>
        <p:spPr>
          <a:xfrm>
            <a:off x="5486400" y="2468880"/>
            <a:ext cx="3017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threats/findings/</a:t>
            </a:r>
          </a:p>
        </p:txBody>
      </p:sp>
      <p:sp>
        <p:nvSpPr>
          <p:cNvPr id="15" name="Rectangle 14"/>
          <p:cNvSpPr/>
          <p:nvPr/>
        </p:nvSpPr>
        <p:spPr>
          <a:xfrm>
            <a:off x="8503920" y="24688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INTEL-GRADING</a:t>
            </a:r>
          </a:p>
        </p:txBody>
      </p:sp>
      <p:sp>
        <p:nvSpPr>
          <p:cNvPr id="16" name="Rectangle 15"/>
          <p:cNvSpPr/>
          <p:nvPr/>
        </p:nvSpPr>
        <p:spPr>
          <a:xfrm>
            <a:off x="457200" y="292608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analyst</a:t>
            </a:r>
          </a:p>
        </p:txBody>
      </p:sp>
      <p:sp>
        <p:nvSpPr>
          <p:cNvPr id="17" name="Rectangle 16"/>
          <p:cNvSpPr/>
          <p:nvPr/>
        </p:nvSpPr>
        <p:spPr>
          <a:xfrm>
            <a:off x="2286000" y="29260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SAT/ACH/KAC structured analysis</a:t>
            </a:r>
          </a:p>
        </p:txBody>
      </p:sp>
      <p:sp>
        <p:nvSpPr>
          <p:cNvPr id="18" name="Rectangle 17"/>
          <p:cNvSpPr/>
          <p:nvPr/>
        </p:nvSpPr>
        <p:spPr>
          <a:xfrm>
            <a:off x="5486400" y="2926080"/>
            <a:ext cx="3017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findings (analysis sections)</a:t>
            </a:r>
          </a:p>
        </p:txBody>
      </p:sp>
      <p:sp>
        <p:nvSpPr>
          <p:cNvPr id="19" name="Rectangle 18"/>
          <p:cNvSpPr/>
          <p:nvPr/>
        </p:nvSpPr>
        <p:spPr>
          <a:xfrm>
            <a:off x="8503920" y="29260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ACH/KAC method</a:t>
            </a:r>
          </a:p>
        </p:txBody>
      </p:sp>
      <p:sp>
        <p:nvSpPr>
          <p:cNvPr id="20" name="Rectangle 19"/>
          <p:cNvSpPr/>
          <p:nvPr/>
        </p:nvSpPr>
        <p:spPr>
          <a:xfrm>
            <a:off x="457200" y="338328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red-team-analyst</a:t>
            </a:r>
          </a:p>
        </p:txBody>
      </p:sp>
      <p:sp>
        <p:nvSpPr>
          <p:cNvPr id="21" name="Rectangle 20"/>
          <p:cNvSpPr/>
          <p:nvPr/>
        </p:nvSpPr>
        <p:spPr>
          <a:xfrm>
            <a:off x="2286000" y="33832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challenge HIGH-WEP findings</a:t>
            </a:r>
          </a:p>
        </p:txBody>
      </p:sp>
      <p:sp>
        <p:nvSpPr>
          <p:cNvPr id="22" name="Rectangle 21"/>
          <p:cNvSpPr/>
          <p:nvPr/>
        </p:nvSpPr>
        <p:spPr>
          <a:xfrm>
            <a:off x="5486400" y="3383280"/>
            <a:ext cx="3017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findings (red-team section)</a:t>
            </a:r>
          </a:p>
        </p:txBody>
      </p:sp>
      <p:sp>
        <p:nvSpPr>
          <p:cNvPr id="23" name="Rectangle 22"/>
          <p:cNvSpPr/>
          <p:nvPr/>
        </p:nvSpPr>
        <p:spPr>
          <a:xfrm>
            <a:off x="8503920" y="33832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contrarian SAT</a:t>
            </a:r>
          </a:p>
        </p:txBody>
      </p:sp>
      <p:sp>
        <p:nvSpPr>
          <p:cNvPr id="24" name="Rectangle 23"/>
          <p:cNvSpPr/>
          <p:nvPr/>
        </p:nvSpPr>
        <p:spPr>
          <a:xfrm>
            <a:off x="457200" y="384048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actor-profiler</a:t>
            </a:r>
          </a:p>
        </p:txBody>
      </p:sp>
      <p:sp>
        <p:nvSpPr>
          <p:cNvPr id="25" name="Rectangle 24"/>
          <p:cNvSpPr/>
          <p:nvPr/>
        </p:nvSpPr>
        <p:spPr>
          <a:xfrm>
            <a:off x="2286000" y="38404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dossier maintenance + scoring</a:t>
            </a:r>
          </a:p>
        </p:txBody>
      </p:sp>
      <p:sp>
        <p:nvSpPr>
          <p:cNvPr id="26" name="Rectangle 25"/>
          <p:cNvSpPr/>
          <p:nvPr/>
        </p:nvSpPr>
        <p:spPr>
          <a:xfrm>
            <a:off x="5486400" y="3840480"/>
            <a:ext cx="3017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threats/threat-actors/*</a:t>
            </a:r>
          </a:p>
        </p:txBody>
      </p:sp>
      <p:sp>
        <p:nvSpPr>
          <p:cNvPr id="27" name="Rectangle 26"/>
          <p:cNvSpPr/>
          <p:nvPr/>
        </p:nvSpPr>
        <p:spPr>
          <a:xfrm>
            <a:off x="8503920" y="38404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THREAT-BOX-METHODOLOGY, ACTOR-PROFILE-STANDARD</a:t>
            </a:r>
          </a:p>
        </p:txBody>
      </p:sp>
      <p:sp>
        <p:nvSpPr>
          <p:cNvPr id="28" name="Rectangle 27"/>
          <p:cNvSpPr/>
          <p:nvPr/>
        </p:nvSpPr>
        <p:spPr>
          <a:xfrm>
            <a:off x="457200" y="429768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vuln-tracker</a:t>
            </a:r>
          </a:p>
        </p:txBody>
      </p:sp>
      <p:sp>
        <p:nvSpPr>
          <p:cNvPr id="29" name="Rectangle 28"/>
          <p:cNvSpPr/>
          <p:nvPr/>
        </p:nvSpPr>
        <p:spPr>
          <a:xfrm>
            <a:off x="2286000" y="42976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CVE tracking + KEV monitoring</a:t>
            </a:r>
          </a:p>
        </p:txBody>
      </p:sp>
      <p:sp>
        <p:nvSpPr>
          <p:cNvPr id="30" name="Rectangle 29"/>
          <p:cNvSpPr/>
          <p:nvPr/>
        </p:nvSpPr>
        <p:spPr>
          <a:xfrm>
            <a:off x="5486400" y="4297680"/>
            <a:ext cx="3017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threats/vulnerabilities/*</a:t>
            </a:r>
          </a:p>
        </p:txBody>
      </p:sp>
      <p:sp>
        <p:nvSpPr>
          <p:cNvPr id="31" name="Rectangle 30"/>
          <p:cNvSpPr/>
          <p:nvPr/>
        </p:nvSpPr>
        <p:spPr>
          <a:xfrm>
            <a:off x="8503920" y="42976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NVD + KEV</a:t>
            </a:r>
          </a:p>
        </p:txBody>
      </p:sp>
      <p:sp>
        <p:nvSpPr>
          <p:cNvPr id="32" name="Rectangle 31"/>
          <p:cNvSpPr/>
          <p:nvPr/>
        </p:nvSpPr>
        <p:spPr>
          <a:xfrm>
            <a:off x="457200" y="4754880"/>
            <a:ext cx="18288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briefer</a:t>
            </a:r>
          </a:p>
        </p:txBody>
      </p:sp>
      <p:sp>
        <p:nvSpPr>
          <p:cNvPr id="33" name="Rectangle 32"/>
          <p:cNvSpPr/>
          <p:nvPr/>
        </p:nvSpPr>
        <p:spPr>
          <a:xfrm>
            <a:off x="2286000" y="47548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compose all brief types</a:t>
            </a:r>
          </a:p>
        </p:txBody>
      </p:sp>
      <p:sp>
        <p:nvSpPr>
          <p:cNvPr id="34" name="Rectangle 33"/>
          <p:cNvSpPr/>
          <p:nvPr/>
        </p:nvSpPr>
        <p:spPr>
          <a:xfrm>
            <a:off x="5486400" y="4754880"/>
            <a:ext cx="301752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threats/briefs/</a:t>
            </a:r>
          </a:p>
        </p:txBody>
      </p:sp>
      <p:sp>
        <p:nvSpPr>
          <p:cNvPr id="35" name="Rectangle 34"/>
          <p:cNvSpPr/>
          <p:nvPr/>
        </p:nvSpPr>
        <p:spPr>
          <a:xfrm>
            <a:off x="8503920" y="4754880"/>
            <a:ext cx="320040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INTEL-BRIEF-STANDARDS, smart-brevity skill</a:t>
            </a:r>
          </a:p>
        </p:txBody>
      </p:sp>
      <p:sp>
        <p:nvSpPr>
          <p:cNvPr id="36" name="Rectangle 35"/>
          <p:cNvSpPr/>
          <p:nvPr/>
        </p:nvSpPr>
        <p:spPr>
          <a:xfrm>
            <a:off x="457200" y="5212080"/>
            <a:ext cx="18288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1">
                <a:solidFill>
                  <a:srgbClr val="333333"/>
                </a:solidFill>
                <a:latin typeface="Calibri"/>
              </a:rPr>
              <a:t>  librarian</a:t>
            </a:r>
          </a:p>
        </p:txBody>
      </p:sp>
      <p:sp>
        <p:nvSpPr>
          <p:cNvPr id="37" name="Rectangle 36"/>
          <p:cNvSpPr/>
          <p:nvPr/>
        </p:nvSpPr>
        <p:spPr>
          <a:xfrm>
            <a:off x="2286000" y="52120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ship + commit + log + index</a:t>
            </a:r>
          </a:p>
        </p:txBody>
      </p:sp>
      <p:sp>
        <p:nvSpPr>
          <p:cNvPr id="38" name="Rectangle 37"/>
          <p:cNvSpPr/>
          <p:nvPr/>
        </p:nvSpPr>
        <p:spPr>
          <a:xfrm>
            <a:off x="5486400" y="5212080"/>
            <a:ext cx="301752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git, Splunk, Discord, indices</a:t>
            </a:r>
          </a:p>
        </p:txBody>
      </p:sp>
      <p:sp>
        <p:nvSpPr>
          <p:cNvPr id="39" name="Rectangle 38"/>
          <p:cNvSpPr/>
          <p:nvPr/>
        </p:nvSpPr>
        <p:spPr>
          <a:xfrm>
            <a:off x="8503920" y="5212080"/>
            <a:ext cx="3200400" cy="45720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r>
              <a:rPr sz="1000" b="0">
                <a:solidFill>
                  <a:srgbClr val="333333"/>
                </a:solidFill>
                <a:latin typeface="Calibri"/>
              </a:rPr>
              <a:t>  RETRACTION-POLICY</a:t>
            </a:r>
          </a:p>
        </p:txBody>
      </p:sp>
      <p:sp>
        <p:nvSpPr>
          <p:cNvPr id="40" name="TextBox 39"/>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41" name="TextBox 40"/>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Doctrine as code</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The agent's working memory. Versioned in git. Reviewed like code.</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doctrine/LEGAL-POLICY.md</a:t>
            </a:r>
          </a:p>
          <a:p>
            <a:pPr algn="l">
              <a:lnSpc>
                <a:spcPct val="115000"/>
              </a:lnSpc>
            </a:pPr>
            <a:r>
              <a:rPr sz="1200" i="1">
                <a:solidFill>
                  <a:srgbClr val="666666"/>
                </a:solidFill>
                <a:latin typeface="Calibri"/>
              </a:rPr>
              <a:t>   Prohibited query patterns, authorized targets, ITAR boundary, copyright. Read before every tool call.</a:t>
            </a:r>
          </a:p>
          <a:p>
            <a:pPr algn="l">
              <a:lnSpc>
                <a:spcPct val="115000"/>
              </a:lnSpc>
              <a:spcBef>
                <a:spcPts val="800"/>
              </a:spcBef>
            </a:pPr>
            <a:r>
              <a:rPr sz="1400" b="1">
                <a:solidFill>
                  <a:srgbClr val="333333"/>
                </a:solidFill>
                <a:latin typeface="Calibri"/>
              </a:rPr>
              <a:t>• doctrine/INTEL-GRADING.md</a:t>
            </a:r>
          </a:p>
          <a:p>
            <a:pPr algn="l">
              <a:lnSpc>
                <a:spcPct val="115000"/>
              </a:lnSpc>
            </a:pPr>
            <a:r>
              <a:rPr sz="1200" i="1">
                <a:solidFill>
                  <a:srgbClr val="666666"/>
                </a:solidFill>
                <a:latin typeface="Calibri"/>
              </a:rPr>
              <a:t>   Admiralty 6×6 + WEP + single-source-veto + corroboration rules. Read by grader on every promotion.</a:t>
            </a:r>
          </a:p>
          <a:p>
            <a:pPr algn="l">
              <a:lnSpc>
                <a:spcPct val="115000"/>
              </a:lnSpc>
              <a:spcBef>
                <a:spcPts val="800"/>
              </a:spcBef>
            </a:pPr>
            <a:r>
              <a:rPr sz="1400" b="1">
                <a:solidFill>
                  <a:srgbClr val="333333"/>
                </a:solidFill>
                <a:latin typeface="Calibri"/>
              </a:rPr>
              <a:t>• doctrine/INTEL-BRIEF-STANDARDS.md</a:t>
            </a:r>
          </a:p>
          <a:p>
            <a:pPr algn="l">
              <a:lnSpc>
                <a:spcPct val="115000"/>
              </a:lnSpc>
            </a:pPr>
            <a:r>
              <a:rPr sz="1200" i="1">
                <a:solidFill>
                  <a:srgbClr val="666666"/>
                </a:solidFill>
                <a:latin typeface="Calibri"/>
              </a:rPr>
              <a:t>   Layered format (analyst-grade + Discord), word/char budgets, Smart Brevity, preflight checklist. Read by briefer.</a:t>
            </a:r>
          </a:p>
          <a:p>
            <a:pPr algn="l">
              <a:lnSpc>
                <a:spcPct val="115000"/>
              </a:lnSpc>
              <a:spcBef>
                <a:spcPts val="800"/>
              </a:spcBef>
            </a:pPr>
            <a:r>
              <a:rPr sz="1400" b="1">
                <a:solidFill>
                  <a:srgbClr val="333333"/>
                </a:solidFill>
                <a:latin typeface="Calibri"/>
              </a:rPr>
              <a:t>• doctrine/THREAT-BOX-METHODOLOGY.md</a:t>
            </a:r>
          </a:p>
          <a:p>
            <a:pPr algn="l">
              <a:lnSpc>
                <a:spcPct val="115000"/>
              </a:lnSpc>
            </a:pPr>
            <a:r>
              <a:rPr sz="1200" i="1">
                <a:solidFill>
                  <a:srgbClr val="666666"/>
                </a:solidFill>
                <a:latin typeface="Calibri"/>
              </a:rPr>
              <a:t>   Per-category composite scoring with evidence-minimum tables. Read by actor-profiler on every /update-tracking.</a:t>
            </a:r>
          </a:p>
          <a:p>
            <a:pPr algn="l">
              <a:lnSpc>
                <a:spcPct val="115000"/>
              </a:lnSpc>
              <a:spcBef>
                <a:spcPts val="800"/>
              </a:spcBef>
            </a:pPr>
            <a:r>
              <a:rPr sz="1400" b="1">
                <a:solidFill>
                  <a:srgbClr val="333333"/>
                </a:solidFill>
                <a:latin typeface="Calibri"/>
              </a:rPr>
              <a:t>• doctrine/RETRACTION-POLICY.md</a:t>
            </a:r>
          </a:p>
          <a:p>
            <a:pPr algn="l">
              <a:lnSpc>
                <a:spcPct val="115000"/>
              </a:lnSpc>
            </a:pPr>
            <a:r>
              <a:rPr sz="1200" i="1">
                <a:solidFill>
                  <a:srgbClr val="666666"/>
                </a:solidFill>
                <a:latin typeface="Calibri"/>
              </a:rPr>
              <a:t>   When to retract vs. correct, additive (never silent), 72h auto-downgrade clock. Read by grader + librarian.</a:t>
            </a:r>
          </a:p>
          <a:p>
            <a:pPr algn="l">
              <a:lnSpc>
                <a:spcPct val="115000"/>
              </a:lnSpc>
              <a:spcBef>
                <a:spcPts val="800"/>
              </a:spcBef>
            </a:pPr>
            <a:r>
              <a:rPr sz="1400" b="1">
                <a:solidFill>
                  <a:srgbClr val="333333"/>
                </a:solidFill>
                <a:latin typeface="Calibri"/>
              </a:rPr>
              <a:t>• doctrine/FLASH-POLICY.md</a:t>
            </a:r>
          </a:p>
          <a:p>
            <a:pPr algn="l">
              <a:lnSpc>
                <a:spcPct val="115000"/>
              </a:lnSpc>
            </a:pPr>
            <a:r>
              <a:rPr sz="1200" i="1">
                <a:solidFill>
                  <a:srgbClr val="666666"/>
                </a:solidFill>
                <a:latin typeface="Calibri"/>
              </a:rPr>
              <a:t>   7 trigger conditions, quiet hours, critical-override threshold. Read by collector on every sweep.</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Where OpenCTI fits in your stack</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Same shape, different substrate. Map Archimedes patterns onto STIX entities + Teams delivery.</a:t>
            </a:r>
          </a:p>
        </p:txBody>
      </p:sp>
      <p:sp>
        <p:nvSpPr>
          <p:cNvPr id="4" name="Rectangle 3"/>
          <p:cNvSpPr/>
          <p:nvPr/>
        </p:nvSpPr>
        <p:spPr>
          <a:xfrm>
            <a:off x="457200" y="1645920"/>
            <a:ext cx="5486400" cy="41148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64008"/>
          <a:lstStyle/>
          <a:p>
            <a:pPr algn="ctr"/>
            <a:r>
              <a:rPr sz="1300" b="1">
                <a:solidFill>
                  <a:srgbClr val="FFFFFF"/>
                </a:solidFill>
                <a:latin typeface="Calibri"/>
              </a:rPr>
              <a:t>ARCHIMEDES (what we built)</a:t>
            </a:r>
          </a:p>
        </p:txBody>
      </p:sp>
      <p:sp>
        <p:nvSpPr>
          <p:cNvPr id="5" name="Rectangle 4"/>
          <p:cNvSpPr/>
          <p:nvPr/>
        </p:nvSpPr>
        <p:spPr>
          <a:xfrm>
            <a:off x="6217920" y="1645920"/>
            <a:ext cx="5486400" cy="411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64008"/>
          <a:lstStyle/>
          <a:p>
            <a:pPr algn="ctr"/>
            <a:r>
              <a:rPr sz="1300" b="1">
                <a:solidFill>
                  <a:srgbClr val="FFFFFF"/>
                </a:solidFill>
                <a:latin typeface="Calibri"/>
              </a:rPr>
              <a:t>YOUR BUILD (OpenCTI + Claude + Teams)</a:t>
            </a:r>
          </a:p>
        </p:txBody>
      </p:sp>
      <p:sp>
        <p:nvSpPr>
          <p:cNvPr id="6" name="Rectangle 5"/>
          <p:cNvSpPr/>
          <p:nvPr/>
        </p:nvSpPr>
        <p:spPr>
          <a:xfrm>
            <a:off x="457200" y="2148840"/>
            <a:ext cx="5486400" cy="502920"/>
          </a:xfrm>
          <a:prstGeom prst="rect">
            <a:avLst/>
          </a:prstGeom>
          <a:solidFill>
            <a:srgbClr val="F1F7FD"/>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Corpus  —  Markdown + YAML in git</a:t>
            </a:r>
          </a:p>
        </p:txBody>
      </p:sp>
      <p:sp>
        <p:nvSpPr>
          <p:cNvPr id="7" name="Rectangle 6"/>
          <p:cNvSpPr/>
          <p:nvPr/>
        </p:nvSpPr>
        <p:spPr>
          <a:xfrm>
            <a:off x="6217920" y="2148840"/>
            <a:ext cx="5486400" cy="502920"/>
          </a:xfrm>
          <a:prstGeom prst="rect">
            <a:avLst/>
          </a:prstGeom>
          <a:solidFill>
            <a:srgbClr val="EFF4FA"/>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Corpus  —  OpenCTI STIX 2.x entity store</a:t>
            </a:r>
          </a:p>
        </p:txBody>
      </p:sp>
      <p:sp>
        <p:nvSpPr>
          <p:cNvPr id="8" name="Rectangle 7"/>
          <p:cNvSpPr/>
          <p:nvPr/>
        </p:nvSpPr>
        <p:spPr>
          <a:xfrm>
            <a:off x="457200" y="2651760"/>
            <a:ext cx="54864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Entities  —  Free-form actor / vuln / finding files</a:t>
            </a:r>
          </a:p>
        </p:txBody>
      </p:sp>
      <p:sp>
        <p:nvSpPr>
          <p:cNvPr id="9" name="Rectangle 8"/>
          <p:cNvSpPr/>
          <p:nvPr/>
        </p:nvSpPr>
        <p:spPr>
          <a:xfrm>
            <a:off x="6217920" y="2651760"/>
            <a:ext cx="54864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Entities  —  STIX-native (Threat-Actor, Indicator, Report, Campaign, Vulnerability)</a:t>
            </a:r>
          </a:p>
        </p:txBody>
      </p:sp>
      <p:sp>
        <p:nvSpPr>
          <p:cNvPr id="10" name="Rectangle 9"/>
          <p:cNvSpPr/>
          <p:nvPr/>
        </p:nvSpPr>
        <p:spPr>
          <a:xfrm>
            <a:off x="457200" y="3154680"/>
            <a:ext cx="5486400" cy="502920"/>
          </a:xfrm>
          <a:prstGeom prst="rect">
            <a:avLst/>
          </a:prstGeom>
          <a:solidFill>
            <a:srgbClr val="F1F7FD"/>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Collection  —  MCP wrappers around OSINT APIs</a:t>
            </a:r>
          </a:p>
        </p:txBody>
      </p:sp>
      <p:sp>
        <p:nvSpPr>
          <p:cNvPr id="11" name="Rectangle 10"/>
          <p:cNvSpPr/>
          <p:nvPr/>
        </p:nvSpPr>
        <p:spPr>
          <a:xfrm>
            <a:off x="6217920" y="3154680"/>
            <a:ext cx="5486400" cy="502920"/>
          </a:xfrm>
          <a:prstGeom prst="rect">
            <a:avLst/>
          </a:prstGeom>
          <a:solidFill>
            <a:srgbClr val="EFF4FA"/>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Collection  —  OpenCTI connectors + optional MCP wrappers</a:t>
            </a:r>
          </a:p>
        </p:txBody>
      </p:sp>
      <p:sp>
        <p:nvSpPr>
          <p:cNvPr id="12" name="Rectangle 11"/>
          <p:cNvSpPr/>
          <p:nvPr/>
        </p:nvSpPr>
        <p:spPr>
          <a:xfrm>
            <a:off x="457200" y="3657600"/>
            <a:ext cx="54864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Analyst layer  —  Claude subagents + doctrine</a:t>
            </a:r>
          </a:p>
        </p:txBody>
      </p:sp>
      <p:sp>
        <p:nvSpPr>
          <p:cNvPr id="13" name="Rectangle 12"/>
          <p:cNvSpPr/>
          <p:nvPr/>
        </p:nvSpPr>
        <p:spPr>
          <a:xfrm>
            <a:off x="6217920" y="3657600"/>
            <a:ext cx="54864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Analyst layer  —  Same — Claude subagents + doctrine</a:t>
            </a:r>
          </a:p>
        </p:txBody>
      </p:sp>
      <p:sp>
        <p:nvSpPr>
          <p:cNvPr id="14" name="Rectangle 13"/>
          <p:cNvSpPr/>
          <p:nvPr/>
        </p:nvSpPr>
        <p:spPr>
          <a:xfrm>
            <a:off x="457200" y="4160520"/>
            <a:ext cx="5486400" cy="502920"/>
          </a:xfrm>
          <a:prstGeom prst="rect">
            <a:avLst/>
          </a:prstGeom>
          <a:solidFill>
            <a:srgbClr val="F1F7FD"/>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Delivery  —  Discord (#intel-briefs, #flash-alerts)</a:t>
            </a:r>
          </a:p>
        </p:txBody>
      </p:sp>
      <p:sp>
        <p:nvSpPr>
          <p:cNvPr id="15" name="Rectangle 14"/>
          <p:cNvSpPr/>
          <p:nvPr/>
        </p:nvSpPr>
        <p:spPr>
          <a:xfrm>
            <a:off x="6217920" y="4160520"/>
            <a:ext cx="5486400" cy="502920"/>
          </a:xfrm>
          <a:prstGeom prst="rect">
            <a:avLst/>
          </a:prstGeom>
          <a:solidFill>
            <a:srgbClr val="EFF4FA"/>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Delivery  —  Teams (webhook + Adaptive Cards)</a:t>
            </a:r>
          </a:p>
        </p:txBody>
      </p:sp>
      <p:sp>
        <p:nvSpPr>
          <p:cNvPr id="16" name="Rectangle 15"/>
          <p:cNvSpPr/>
          <p:nvPr/>
        </p:nvSpPr>
        <p:spPr>
          <a:xfrm>
            <a:off x="457200" y="4663440"/>
            <a:ext cx="54864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Audit  —  git history + Splunk events + Discord log</a:t>
            </a:r>
          </a:p>
        </p:txBody>
      </p:sp>
      <p:sp>
        <p:nvSpPr>
          <p:cNvPr id="17" name="Rectangle 16"/>
          <p:cNvSpPr/>
          <p:nvPr/>
        </p:nvSpPr>
        <p:spPr>
          <a:xfrm>
            <a:off x="6217920" y="4663440"/>
            <a:ext cx="548640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Audit  —  OpenCTI provenance + git for doctrine + Splunk events</a:t>
            </a:r>
          </a:p>
        </p:txBody>
      </p:sp>
      <p:sp>
        <p:nvSpPr>
          <p:cNvPr id="18" name="Rectangle 17"/>
          <p:cNvSpPr/>
          <p:nvPr/>
        </p:nvSpPr>
        <p:spPr>
          <a:xfrm>
            <a:off x="457200" y="5166360"/>
            <a:ext cx="5486400" cy="502920"/>
          </a:xfrm>
          <a:prstGeom prst="rect">
            <a:avLst/>
          </a:prstGeom>
          <a:solidFill>
            <a:srgbClr val="F1F7FD"/>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Source of truth  —  .md files; one record, two renderings</a:t>
            </a:r>
          </a:p>
        </p:txBody>
      </p:sp>
      <p:sp>
        <p:nvSpPr>
          <p:cNvPr id="19" name="Rectangle 18"/>
          <p:cNvSpPr/>
          <p:nvPr/>
        </p:nvSpPr>
        <p:spPr>
          <a:xfrm>
            <a:off x="6217920" y="5166360"/>
            <a:ext cx="5486400" cy="502920"/>
          </a:xfrm>
          <a:prstGeom prst="rect">
            <a:avLst/>
          </a:prstGeom>
          <a:solidFill>
            <a:srgbClr val="EFF4FA"/>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64008" lIns="137160" wrap="square"/>
          <a:lstStyle/>
          <a:p>
            <a:pPr algn="ctr"/>
            <a:r>
              <a:rPr sz="1100" b="0">
                <a:solidFill>
                  <a:srgbClr val="333333"/>
                </a:solidFill>
                <a:latin typeface="Calibri"/>
              </a:rPr>
              <a:t>Source of truth  —  OpenCTI; analyst layer publishes Reports + Opinions</a:t>
            </a:r>
          </a:p>
        </p:txBody>
      </p:sp>
      <p:sp>
        <p:nvSpPr>
          <p:cNvPr id="20" name="TextBox 19"/>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21" name="TextBox 20"/>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MCP wrappers — the integration layer</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One per external data source. Doctrine enforces what's callable.</a:t>
            </a:r>
          </a:p>
        </p:txBody>
      </p:sp>
      <p:sp>
        <p:nvSpPr>
          <p:cNvPr id="4" name="Rectangle 3"/>
          <p:cNvSpPr/>
          <p:nvPr/>
        </p:nvSpPr>
        <p:spPr>
          <a:xfrm>
            <a:off x="457200" y="1371600"/>
            <a:ext cx="11274552" cy="4937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63040"/>
            <a:ext cx="11000232" cy="4754880"/>
          </a:xfrm>
          <a:prstGeom prst="rect">
            <a:avLst/>
          </a:prstGeom>
          <a:noFill/>
        </p:spPr>
        <p:txBody>
          <a:bodyPr wrap="square">
            <a:spAutoFit/>
          </a:bodyPr>
          <a:lstStyle/>
          <a:p>
            <a:pPr algn="l"/>
            <a:r>
              <a:rPr sz="1100">
                <a:solidFill>
                  <a:srgbClr val="333333"/>
                </a:solidFill>
                <a:latin typeface="Consolas"/>
              </a:rPr>
              <a:t># theharvester MCP — passive-only enumeration</a:t>
            </a:r>
          </a:p>
          <a:p>
            <a:pPr algn="l"/>
            <a:r>
              <a:rPr sz="1100">
                <a:solidFill>
                  <a:srgbClr val="333333"/>
                </a:solidFill>
                <a:latin typeface="Consolas"/>
              </a:rPr>
              <a:t># (.claude/mcps/theharvester/src/theharvester_mcp/models.py)</a:t>
            </a:r>
          </a:p>
          <a:p>
            <a:pPr algn="l"/>
            <a:r>
              <a:rPr sz="1100">
                <a:solidFill>
                  <a:srgbClr val="333333"/>
                </a:solidFill>
                <a:latin typeface="Consolas"/>
              </a:rPr>
              <a:t> </a:t>
            </a:r>
          </a:p>
          <a:p>
            <a:pPr algn="l"/>
            <a:r>
              <a:rPr sz="1100">
                <a:solidFill>
                  <a:srgbClr val="333333"/>
                </a:solidFill>
                <a:latin typeface="Consolas"/>
              </a:rPr>
              <a:t>PASSIVE_SOURCE_ALLOWLIST: tuple[str, ...] = (</a:t>
            </a:r>
          </a:p>
          <a:p>
            <a:pPr algn="l"/>
            <a:r>
              <a:rPr sz="1100">
                <a:solidFill>
                  <a:srgbClr val="333333"/>
                </a:solidFill>
                <a:latin typeface="Consolas"/>
              </a:rPr>
              <a:t>    "crtsh", "otx", "hackertarget", "rapiddns", "certspotter",</a:t>
            </a:r>
          </a:p>
          <a:p>
            <a:pPr algn="l"/>
            <a:r>
              <a:rPr sz="1100">
                <a:solidFill>
                  <a:srgbClr val="333333"/>
                </a:solidFill>
                <a:latin typeface="Consolas"/>
              </a:rPr>
              <a:t>    "duckduckgo", "bingsearch", "virustotal", "shodan", "censys",</a:t>
            </a:r>
          </a:p>
          <a:p>
            <a:pPr algn="l"/>
            <a:r>
              <a:rPr sz="1100">
                <a:solidFill>
                  <a:srgbClr val="333333"/>
                </a:solidFill>
                <a:latin typeface="Consolas"/>
              </a:rPr>
              <a:t>    # ... 45 entries total — all passive, all OSINT, no PII-heavy</a:t>
            </a:r>
          </a:p>
          <a:p>
            <a:pPr algn="l"/>
            <a:r>
              <a:rPr sz="1100">
                <a:solidFill>
                  <a:srgbClr val="333333"/>
                </a:solidFill>
                <a:latin typeface="Consolas"/>
              </a:rPr>
              <a:t>)</a:t>
            </a:r>
          </a:p>
          <a:p>
            <a:pPr algn="l"/>
            <a:r>
              <a:rPr sz="1100">
                <a:solidFill>
                  <a:srgbClr val="333333"/>
                </a:solidFill>
                <a:latin typeface="Consolas"/>
              </a:rPr>
              <a:t> </a:t>
            </a:r>
          </a:p>
          <a:p>
            <a:pPr algn="l"/>
            <a:r>
              <a:rPr sz="1100">
                <a:solidFill>
                  <a:srgbClr val="333333"/>
                </a:solidFill>
                <a:latin typeface="Consolas"/>
              </a:rPr>
              <a:t># spiderfoot MCP — same pattern, module-level allowlist</a:t>
            </a:r>
          </a:p>
          <a:p>
            <a:pPr algn="l"/>
            <a:r>
              <a:rPr sz="1100">
                <a:solidFill>
                  <a:srgbClr val="333333"/>
                </a:solidFill>
                <a:latin typeface="Consolas"/>
              </a:rPr>
              <a:t>PASSIVE_MODULE_ALLOWLIST: tuple[str, ...] = (</a:t>
            </a:r>
          </a:p>
          <a:p>
            <a:pPr algn="l"/>
            <a:r>
              <a:rPr sz="1100">
                <a:solidFill>
                  <a:srgbClr val="333333"/>
                </a:solidFill>
                <a:latin typeface="Consolas"/>
              </a:rPr>
              <a:t>    "sfp_dnsresolve", "sfp_whois", "sfp_crt", "sfp_certspotter",</a:t>
            </a:r>
          </a:p>
          <a:p>
            <a:pPr algn="l"/>
            <a:r>
              <a:rPr sz="1100">
                <a:solidFill>
                  <a:srgbClr val="333333"/>
                </a:solidFill>
                <a:latin typeface="Consolas"/>
              </a:rPr>
              <a:t>    "sfp_archiveorg", "sfp_threatfox", "sfp_virustotal",</a:t>
            </a:r>
          </a:p>
          <a:p>
            <a:pPr algn="l"/>
            <a:r>
              <a:rPr sz="1100">
                <a:solidFill>
                  <a:srgbClr val="333333"/>
                </a:solidFill>
                <a:latin typeface="Consolas"/>
              </a:rPr>
              <a:t>    # ... 45 entries</a:t>
            </a:r>
          </a:p>
          <a:p>
            <a:pPr algn="l"/>
            <a:r>
              <a:rPr sz="1100">
                <a:solidFill>
                  <a:srgbClr val="333333"/>
                </a:solidFill>
                <a:latin typeface="Consolas"/>
              </a:rPr>
              <a:t>)</a:t>
            </a:r>
          </a:p>
          <a:p>
            <a:pPr algn="l"/>
            <a:r>
              <a:rPr sz="1100">
                <a:solidFill>
                  <a:srgbClr val="333333"/>
                </a:solidFill>
                <a:latin typeface="Consolas"/>
              </a:rPr>
              <a:t> </a:t>
            </a:r>
          </a:p>
          <a:p>
            <a:pPr algn="l"/>
            <a:r>
              <a:rPr sz="1100">
                <a:solidFill>
                  <a:srgbClr val="333333"/>
                </a:solidFill>
                <a:latin typeface="Consolas"/>
              </a:rPr>
              <a:t># Active modules are HARD-REJECTED at input validation:</a:t>
            </a:r>
          </a:p>
          <a:p>
            <a:pPr algn="l"/>
            <a:r>
              <a:rPr sz="1100">
                <a:solidFill>
                  <a:srgbClr val="333333"/>
                </a:solidFill>
                <a:latin typeface="Consolas"/>
              </a:rPr>
              <a:t>PROHIBITED_MODULES: tuple[str, ...] = (</a:t>
            </a:r>
          </a:p>
          <a:p>
            <a:pPr algn="l"/>
            <a:r>
              <a:rPr sz="1100">
                <a:solidFill>
                  <a:srgbClr val="333333"/>
                </a:solidFill>
                <a:latin typeface="Consolas"/>
              </a:rPr>
              <a:t>    "sfp_tool_nmap",        # port scanning</a:t>
            </a:r>
          </a:p>
          <a:p>
            <a:pPr algn="l"/>
            <a:r>
              <a:rPr sz="1100">
                <a:solidFill>
                  <a:srgbClr val="333333"/>
                </a:solidFill>
                <a:latin typeface="Consolas"/>
              </a:rPr>
              <a:t>    "sfp_tool_nuclei",      # vulnerability probing</a:t>
            </a:r>
          </a:p>
          <a:p>
            <a:pPr algn="l"/>
            <a:r>
              <a:rPr sz="1100">
                <a:solidFill>
                  <a:srgbClr val="333333"/>
                </a:solidFill>
                <a:latin typeface="Consolas"/>
              </a:rPr>
              <a:t>    "sfp_spider",           # web crawling target sites</a:t>
            </a:r>
          </a:p>
          <a:p>
            <a:pPr algn="l"/>
            <a:r>
              <a:rPr sz="1100">
                <a:solidFill>
                  <a:srgbClr val="333333"/>
                </a:solidFill>
                <a:latin typeface="Consolas"/>
              </a:rPr>
              <a:t>    "sfp_dnsbrute",         # DNS brute force</a:t>
            </a:r>
          </a:p>
          <a:p>
            <a:pPr algn="l"/>
            <a:r>
              <a:rPr sz="1100">
                <a:solidFill>
                  <a:srgbClr val="333333"/>
                </a:solidFill>
                <a:latin typeface="Consolas"/>
              </a:rPr>
              <a:t>    "sfp_screenshot",       # target screenshots</a:t>
            </a:r>
          </a:p>
          <a:p>
            <a:pPr algn="l"/>
            <a:r>
              <a:rPr sz="1100">
                <a:solidFill>
                  <a:srgbClr val="333333"/>
                </a:solidFill>
                <a:latin typeface="Consolas"/>
              </a:rPr>
              <a:t>)</a:t>
            </a:r>
          </a:p>
          <a:p>
            <a:pPr algn="l"/>
            <a:r>
              <a:rPr sz="1100">
                <a:solidFill>
                  <a:srgbClr val="333333"/>
                </a:solidFill>
                <a:latin typeface="Consolas"/>
              </a:rPr>
              <a:t> </a:t>
            </a:r>
          </a:p>
          <a:p>
            <a:pPr algn="l"/>
            <a:r>
              <a:rPr sz="1100">
                <a:solidFill>
                  <a:srgbClr val="333333"/>
                </a:solidFill>
                <a:latin typeface="Consolas"/>
              </a:rPr>
              <a:t># Caller asking for an active module → SpiderFootPolicyError raised</a:t>
            </a:r>
          </a:p>
          <a:p>
            <a:pPr algn="l"/>
            <a:r>
              <a:rPr sz="1100">
                <a:solidFill>
                  <a:srgbClr val="333333"/>
                </a:solidFill>
                <a:latin typeface="Consolas"/>
              </a:rPr>
              <a:t># BEFORE any HTTP call to SpiderFoot. Cannot be bypassed by prompt.</a:t>
            </a:r>
          </a:p>
        </p:txBody>
      </p:sp>
      <p:sp>
        <p:nvSpPr>
          <p:cNvPr id="6" name="TextBox 5"/>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7" name="TextBox 6"/>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Audit trail</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Every action logged. Every change versioned. Every retraction additive.</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500" b="1">
                <a:solidFill>
                  <a:srgbClr val="333333"/>
                </a:solidFill>
                <a:latin typeface="Calibri"/>
              </a:rPr>
              <a:t>• Git — full corpus history</a:t>
            </a:r>
          </a:p>
          <a:p>
            <a:pPr algn="l">
              <a:lnSpc>
                <a:spcPct val="115000"/>
              </a:lnSpc>
            </a:pPr>
            <a:r>
              <a:rPr sz="1200" i="1">
                <a:solidFill>
                  <a:srgbClr val="666666"/>
                </a:solidFill>
                <a:latin typeface="Calibri"/>
              </a:rPr>
              <a:t>   Every brief, every finding, every actor dossier update, every doctrine change. 60+ commits across the last week alone. Provenance is queryable: git log + git blame.</a:t>
            </a:r>
          </a:p>
          <a:p>
            <a:pPr algn="l">
              <a:lnSpc>
                <a:spcPct val="115000"/>
              </a:lnSpc>
              <a:spcBef>
                <a:spcPts val="800"/>
              </a:spcBef>
            </a:pPr>
            <a:r>
              <a:rPr sz="1500" b="1">
                <a:solidFill>
                  <a:srgbClr val="333333"/>
                </a:solidFill>
                <a:latin typeface="Calibri"/>
              </a:rPr>
              <a:t>• Splunk — operational telemetry</a:t>
            </a:r>
          </a:p>
          <a:p>
            <a:pPr algn="l">
              <a:lnSpc>
                <a:spcPct val="115000"/>
              </a:lnSpc>
            </a:pPr>
            <a:r>
              <a:rPr sz="1200" i="1">
                <a:solidFill>
                  <a:srgbClr val="666666"/>
                </a:solidFill>
                <a:latin typeface="Calibri"/>
              </a:rPr>
              <a:t>   Every brief composed, every Discord post, every refusal, every retraction. Indexed under 'archimedes' for dashboarding and alerting on the agent's behavior.</a:t>
            </a:r>
          </a:p>
          <a:p>
            <a:pPr algn="l">
              <a:lnSpc>
                <a:spcPct val="115000"/>
              </a:lnSpc>
              <a:spcBef>
                <a:spcPts val="800"/>
              </a:spcBef>
            </a:pPr>
            <a:r>
              <a:rPr sz="1500" b="1">
                <a:solidFill>
                  <a:srgbClr val="333333"/>
                </a:solidFill>
                <a:latin typeface="Calibri"/>
              </a:rPr>
              <a:t>• Discord — delivery log</a:t>
            </a:r>
          </a:p>
          <a:p>
            <a:pPr algn="l">
              <a:lnSpc>
                <a:spcPct val="115000"/>
              </a:lnSpc>
            </a:pPr>
            <a:r>
              <a:rPr sz="1200" i="1">
                <a:solidFill>
                  <a:srgbClr val="666666"/>
                </a:solidFill>
                <a:latin typeface="Calibri"/>
              </a:rPr>
              <a:t>   Every channel post archived with message IDs. Retractions appended to original briefs, never replacing.</a:t>
            </a:r>
          </a:p>
          <a:p>
            <a:pPr algn="l">
              <a:lnSpc>
                <a:spcPct val="115000"/>
              </a:lnSpc>
              <a:spcBef>
                <a:spcPts val="800"/>
              </a:spcBef>
            </a:pPr>
            <a:r>
              <a:rPr sz="1500" b="1">
                <a:solidFill>
                  <a:srgbClr val="333333"/>
                </a:solidFill>
                <a:latin typeface="Calibri"/>
              </a:rPr>
              <a:t>• Hard Rule logging</a:t>
            </a:r>
          </a:p>
          <a:p>
            <a:pPr algn="l">
              <a:lnSpc>
                <a:spcPct val="115000"/>
              </a:lnSpc>
            </a:pPr>
            <a:r>
              <a:rPr sz="1200" i="1">
                <a:solidFill>
                  <a:srgbClr val="666666"/>
                </a:solidFill>
                <a:latin typeface="Calibri"/>
              </a:rPr>
              <a:t>   Every legal-policy refusal logged to infrastructure/policy-violations.yaml. Surfaces patterns in attempted misuse.</a:t>
            </a:r>
          </a:p>
          <a:p>
            <a:pPr algn="l">
              <a:lnSpc>
                <a:spcPct val="115000"/>
              </a:lnSpc>
              <a:spcBef>
                <a:spcPts val="800"/>
              </a:spcBef>
            </a:pPr>
            <a:r>
              <a:rPr sz="1500" b="1">
                <a:solidFill>
                  <a:srgbClr val="333333"/>
                </a:solidFill>
                <a:latin typeface="Calibri"/>
              </a:rPr>
              <a:t>• Why this matters for CTI</a:t>
            </a:r>
          </a:p>
          <a:p>
            <a:pPr algn="l">
              <a:lnSpc>
                <a:spcPct val="115000"/>
              </a:lnSpc>
            </a:pPr>
            <a:r>
              <a:rPr sz="1200" i="1">
                <a:solidFill>
                  <a:srgbClr val="666666"/>
                </a:solidFill>
                <a:latin typeface="Calibri"/>
              </a:rPr>
              <a:t>   CTI is regulated-adjacent — ITAR, export-control, copyright. The audit trail isn't documentation; it's evidence. When an intel team gets asked 'how did you arrive at this attribution,' the answer is git log + Splunk + Discord.</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Lesson 1 — Build trust before automation</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The first bad brief breaks intel-team trust permanently.</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Human approval gates on high-stakes calls</a:t>
            </a:r>
          </a:p>
          <a:p>
            <a:pPr algn="l">
              <a:lnSpc>
                <a:spcPct val="115000"/>
              </a:lnSpc>
            </a:pPr>
            <a:r>
              <a:rPr sz="1200" i="1">
                <a:solidFill>
                  <a:srgbClr val="666666"/>
                </a:solidFill>
                <a:latin typeface="Calibri"/>
              </a:rPr>
              <a:t>   HIGH actor threat-box scoring → /approve-scoring. New actor scaffolding → /new-actor. Source-grade ratification → human review. The agent proposes; the human approves.</a:t>
            </a:r>
          </a:p>
          <a:p>
            <a:pPr algn="l">
              <a:lnSpc>
                <a:spcPct val="115000"/>
              </a:lnSpc>
              <a:spcBef>
                <a:spcPts val="800"/>
              </a:spcBef>
            </a:pPr>
            <a:r>
              <a:rPr sz="1400" b="1">
                <a:solidFill>
                  <a:srgbClr val="333333"/>
                </a:solidFill>
                <a:latin typeface="Calibri"/>
              </a:rPr>
              <a:t>• Agent never originates attribution</a:t>
            </a:r>
          </a:p>
          <a:p>
            <a:pPr algn="l">
              <a:lnSpc>
                <a:spcPct val="115000"/>
              </a:lnSpc>
            </a:pPr>
            <a:r>
              <a:rPr sz="1200" i="1">
                <a:solidFill>
                  <a:srgbClr val="666666"/>
                </a:solidFill>
                <a:latin typeface="Calibri"/>
              </a:rPr>
              <a:t>   Hard Rule 2. The agent only reports what cited sources have attributed. If Mandiant says X, Archimedes says 'Mandiant says X.' If no one has said X yet, Archimedes refuses to be the first.</a:t>
            </a:r>
          </a:p>
          <a:p>
            <a:pPr algn="l">
              <a:lnSpc>
                <a:spcPct val="115000"/>
              </a:lnSpc>
              <a:spcBef>
                <a:spcPts val="800"/>
              </a:spcBef>
            </a:pPr>
            <a:r>
              <a:rPr sz="1400" b="1">
                <a:solidFill>
                  <a:srgbClr val="333333"/>
                </a:solidFill>
                <a:latin typeface="Calibri"/>
              </a:rPr>
              <a:t>• Single-source veto on 'very likely' or higher</a:t>
            </a:r>
          </a:p>
          <a:p>
            <a:pPr algn="l">
              <a:lnSpc>
                <a:spcPct val="115000"/>
              </a:lnSpc>
            </a:pPr>
            <a:r>
              <a:rPr sz="1200" i="1">
                <a:solidFill>
                  <a:srgbClr val="666666"/>
                </a:solidFill>
                <a:latin typeface="Calibri"/>
              </a:rPr>
              <a:t>   Even if a source is A-grade, a single citation caps the forward claim at 'likely.' The 72h auto-downgrade clock then forces re-grading if no independent corroboration arrives.</a:t>
            </a:r>
          </a:p>
          <a:p>
            <a:pPr algn="l">
              <a:lnSpc>
                <a:spcPct val="115000"/>
              </a:lnSpc>
              <a:spcBef>
                <a:spcPts val="800"/>
              </a:spcBef>
            </a:pPr>
            <a:r>
              <a:rPr sz="1400" b="1">
                <a:solidFill>
                  <a:srgbClr val="333333"/>
                </a:solidFill>
                <a:latin typeface="Calibri"/>
              </a:rPr>
              <a:t>• Retraction is additive, never silent</a:t>
            </a:r>
          </a:p>
          <a:p>
            <a:pPr algn="l">
              <a:lnSpc>
                <a:spcPct val="115000"/>
              </a:lnSpc>
            </a:pPr>
            <a:r>
              <a:rPr sz="1200" i="1">
                <a:solidFill>
                  <a:srgbClr val="666666"/>
                </a:solidFill>
                <a:latin typeface="Calibri"/>
              </a:rPr>
              <a:t>   When something ships wrong (and it will), the original brief stays in the record with a retraction appended. The record of being wrong IS part of the record.</a:t>
            </a:r>
          </a:p>
          <a:p>
            <a:pPr algn="l">
              <a:lnSpc>
                <a:spcPct val="115000"/>
              </a:lnSpc>
              <a:spcBef>
                <a:spcPts val="800"/>
              </a:spcBef>
            </a:pPr>
            <a:r>
              <a:rPr sz="1400" b="1">
                <a:solidFill>
                  <a:srgbClr val="333333"/>
                </a:solidFill>
                <a:latin typeface="Calibri"/>
              </a:rPr>
              <a:t>• Five non-HIGH scorings empirically validate the gate</a:t>
            </a:r>
          </a:p>
          <a:p>
            <a:pPr algn="l">
              <a:lnSpc>
                <a:spcPct val="115000"/>
              </a:lnSpc>
            </a:pPr>
            <a:r>
              <a:rPr sz="1200" i="1">
                <a:solidFill>
                  <a:srgbClr val="666666"/>
                </a:solidFill>
                <a:latin typeface="Calibri"/>
              </a:rPr>
              <a:t>   UNC1549, Charming Kitten, MuddyWater, APT34, APT37 — zero auto-HIGH. The gate is honest; the methodology refuses to invent confidence the evidence doesn't support.</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Lesson 2 — Live validation &gt; mocks for tool wrappers</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6 real bugs caught by live tests that mocks couldn't have surfaced.</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theHarvester 4.10.1 — 3 bugs the mocks missed</a:t>
            </a:r>
          </a:p>
          <a:p>
            <a:pPr algn="l">
              <a:lnSpc>
                <a:spcPct val="115000"/>
              </a:lnSpc>
            </a:pPr>
            <a:r>
              <a:rPr sz="1200" i="1">
                <a:solidFill>
                  <a:srgbClr val="666666"/>
                </a:solidFill>
                <a:latin typeface="Calibri"/>
              </a:rPr>
              <a:t>   (1) PYTHONHOME env poisoning under `uv run` → SRE module mismatch. (2) Modern JSON shape emits only cmd/hosts/shodan — older docs claimed ips/vhosts/asns. (3) securityTrails source name is case-sensitive (camelCase) — argparse rejects lowercase.</a:t>
            </a:r>
          </a:p>
          <a:p>
            <a:pPr algn="l">
              <a:lnSpc>
                <a:spcPct val="115000"/>
              </a:lnSpc>
              <a:spcBef>
                <a:spcPts val="800"/>
              </a:spcBef>
            </a:pPr>
            <a:r>
              <a:rPr sz="1400" b="1">
                <a:solidFill>
                  <a:srgbClr val="333333"/>
                </a:solidFill>
                <a:latin typeface="Calibri"/>
              </a:rPr>
              <a:t>• SpiderFoot 4.0.0 — 3 more</a:t>
            </a:r>
          </a:p>
          <a:p>
            <a:pPr algn="l">
              <a:lnSpc>
                <a:spcPct val="115000"/>
              </a:lnSpc>
            </a:pPr>
            <a:r>
              <a:rPr sz="1200" i="1">
                <a:solidFill>
                  <a:srgbClr val="666666"/>
                </a:solidFill>
                <a:latin typeface="Calibri"/>
              </a:rPr>
              <a:t>   (1) /ping returns ["SUCCESS", "4.0.0"] (JSON list), not the documented "pong". (2) /scanstatus is a 7-element list, not 6 — status at index 5 not 4. (3) /scaneventresultexport is CSV-only — the real JSON endpoint is /scaneventresults.</a:t>
            </a:r>
          </a:p>
          <a:p>
            <a:pPr algn="l">
              <a:lnSpc>
                <a:spcPct val="115000"/>
              </a:lnSpc>
              <a:spcBef>
                <a:spcPts val="800"/>
              </a:spcBef>
            </a:pPr>
            <a:r>
              <a:rPr sz="1400" b="1">
                <a:solidFill>
                  <a:srgbClr val="333333"/>
                </a:solidFill>
                <a:latin typeface="Calibri"/>
              </a:rPr>
              <a:t>• All 6 were 'docs match mocks; docs don't match reality'</a:t>
            </a:r>
          </a:p>
          <a:p>
            <a:pPr algn="l">
              <a:lnSpc>
                <a:spcPct val="115000"/>
              </a:lnSpc>
            </a:pPr>
            <a:r>
              <a:rPr sz="1200" i="1">
                <a:solidFill>
                  <a:srgbClr val="666666"/>
                </a:solidFill>
                <a:latin typeface="Calibri"/>
              </a:rPr>
              <a:t>   Every wrapper had unit tests modeled on the documentation. Documentation was wrong/stale. Mocks happily passed; live runs failed in ways that took an hour each to debug.</a:t>
            </a:r>
          </a:p>
          <a:p>
            <a:pPr algn="l">
              <a:lnSpc>
                <a:spcPct val="115000"/>
              </a:lnSpc>
              <a:spcBef>
                <a:spcPts val="800"/>
              </a:spcBef>
            </a:pPr>
            <a:r>
              <a:rPr sz="1400" b="1">
                <a:solidFill>
                  <a:srgbClr val="333333"/>
                </a:solidFill>
                <a:latin typeface="Calibri"/>
              </a:rPr>
              <a:t>• Fix: bind your test suite to a running service</a:t>
            </a:r>
          </a:p>
          <a:p>
            <a:pPr algn="l">
              <a:lnSpc>
                <a:spcPct val="115000"/>
              </a:lnSpc>
            </a:pPr>
            <a:r>
              <a:rPr sz="1200" i="1">
                <a:solidFill>
                  <a:srgbClr val="666666"/>
                </a:solidFill>
                <a:latin typeface="Calibri"/>
              </a:rPr>
              <a:t>   Spin up theHarvester (or SpiderFoot, or OpenCTI) in CI. Hit real endpoints. Catch shape drift before it ships.</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Lesson 3 — Context isolation reduces error rate</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Counterintuitive: less context per agent = lower error rate.</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Orchestrator never reads raw articles</a:t>
            </a:r>
          </a:p>
          <a:p>
            <a:pPr algn="l">
              <a:lnSpc>
                <a:spcPct val="115000"/>
              </a:lnSpc>
            </a:pPr>
            <a:r>
              <a:rPr sz="1200" i="1">
                <a:solidFill>
                  <a:srgbClr val="666666"/>
                </a:solidFill>
                <a:latin typeface="Calibri"/>
              </a:rPr>
              <a:t>   The orchestrator schedules and delegates. The collector reads articles; the grader reads raw signal; the briefer reads graded findings. Each step's context is minimal.</a:t>
            </a:r>
          </a:p>
          <a:p>
            <a:pPr algn="l">
              <a:lnSpc>
                <a:spcPct val="115000"/>
              </a:lnSpc>
              <a:spcBef>
                <a:spcPts val="800"/>
              </a:spcBef>
            </a:pPr>
            <a:r>
              <a:rPr sz="1400" b="1">
                <a:solidFill>
                  <a:srgbClr val="333333"/>
                </a:solidFill>
                <a:latin typeface="Calibri"/>
              </a:rPr>
              <a:t>• Briefer never sees the coverage log</a:t>
            </a:r>
          </a:p>
          <a:p>
            <a:pPr algn="l">
              <a:lnSpc>
                <a:spcPct val="115000"/>
              </a:lnSpc>
            </a:pPr>
            <a:r>
              <a:rPr sz="1200" i="1">
                <a:solidFill>
                  <a:srgbClr val="666666"/>
                </a:solidFill>
                <a:latin typeface="Calibri"/>
              </a:rPr>
              <a:t>   Anti-repetition logic runs in the orchestrator and gets passed as 'these topics are stale.' Briefer composes against a clean slate per its scope.</a:t>
            </a:r>
          </a:p>
          <a:p>
            <a:pPr algn="l">
              <a:lnSpc>
                <a:spcPct val="115000"/>
              </a:lnSpc>
              <a:spcBef>
                <a:spcPts val="800"/>
              </a:spcBef>
            </a:pPr>
            <a:r>
              <a:rPr sz="1400" b="1">
                <a:solidFill>
                  <a:srgbClr val="333333"/>
                </a:solidFill>
                <a:latin typeface="Calibri"/>
              </a:rPr>
              <a:t>• Red-team-analyst never wrote the primary finding</a:t>
            </a:r>
          </a:p>
          <a:p>
            <a:pPr algn="l">
              <a:lnSpc>
                <a:spcPct val="115000"/>
              </a:lnSpc>
            </a:pPr>
            <a:r>
              <a:rPr sz="1200" i="1">
                <a:solidFill>
                  <a:srgbClr val="666666"/>
                </a:solidFill>
                <a:latin typeface="Calibri"/>
              </a:rPr>
              <a:t>   It's contrarian by construction because it has no investment in the leading hypothesis. The architecture creates the conditions for genuine disagreement.</a:t>
            </a:r>
          </a:p>
          <a:p>
            <a:pPr algn="l">
              <a:lnSpc>
                <a:spcPct val="115000"/>
              </a:lnSpc>
              <a:spcBef>
                <a:spcPts val="800"/>
              </a:spcBef>
            </a:pPr>
            <a:r>
              <a:rPr sz="1400" b="1">
                <a:solidFill>
                  <a:srgbClr val="333333"/>
                </a:solidFill>
                <a:latin typeface="Calibri"/>
              </a:rPr>
              <a:t>• Librarian is the only writer to side effects</a:t>
            </a:r>
          </a:p>
          <a:p>
            <a:pPr algn="l">
              <a:lnSpc>
                <a:spcPct val="115000"/>
              </a:lnSpc>
            </a:pPr>
            <a:r>
              <a:rPr sz="1200" i="1">
                <a:solidFill>
                  <a:srgbClr val="666666"/>
                </a:solidFill>
                <a:latin typeface="Calibri"/>
              </a:rPr>
              <a:t>   git, Splunk, Discord — all funnel through one agent. Easy to audit; easy to add rate-limiting; easy to enforce LEGAL-POLICY content-scan before any external publication.</a:t>
            </a:r>
          </a:p>
          <a:p>
            <a:pPr algn="l">
              <a:lnSpc>
                <a:spcPct val="115000"/>
              </a:lnSpc>
              <a:spcBef>
                <a:spcPts val="800"/>
              </a:spcBef>
            </a:pPr>
            <a:r>
              <a:rPr sz="1400" b="1">
                <a:solidFill>
                  <a:srgbClr val="333333"/>
                </a:solidFill>
                <a:latin typeface="Calibri"/>
              </a:rPr>
              <a:t>• Practical implication for your OpenCTI build</a:t>
            </a:r>
          </a:p>
          <a:p>
            <a:pPr algn="l">
              <a:lnSpc>
                <a:spcPct val="115000"/>
              </a:lnSpc>
            </a:pPr>
            <a:r>
              <a:rPr sz="1200" i="1">
                <a:solidFill>
                  <a:srgbClr val="666666"/>
                </a:solidFill>
                <a:latin typeface="Calibri"/>
              </a:rPr>
              <a:t>   Each Claude-Code-style subagent corresponds to a service or worker in your architecture. Don't try to do all of CTI in one big prompt — split by role, give each minimal context, and have one writer to the OpenCTI database.</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What you can build</a:t>
            </a:r>
          </a:p>
        </p:txBody>
      </p:sp>
      <p:sp>
        <p:nvSpPr>
          <p:cNvPr id="3" name="TextBox 2"/>
          <p:cNvSpPr txBox="1"/>
          <p:nvPr/>
        </p:nvSpPr>
        <p:spPr>
          <a:xfrm>
            <a:off x="457200" y="914400"/>
            <a:ext cx="11274552" cy="365760"/>
          </a:xfrm>
          <a:prstGeom prst="rect">
            <a:avLst/>
          </a:prstGeom>
          <a:noFill/>
        </p:spPr>
        <p:txBody>
          <a:bodyPr wrap="square">
            <a:spAutoFit/>
          </a:bodyPr>
          <a:lstStyle/>
          <a:p>
            <a:r>
              <a:rPr sz="1400" i="1">
                <a:solidFill>
                  <a:srgbClr val="666666"/>
                </a:solidFill>
                <a:latin typeface="Calibri"/>
              </a:rPr>
              <a:t>Archimedes shape on OpenCTI + Teams. ~6-week MVP if OpenCTI is already standing.</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Week 1 — Doctrine + scaffolding</a:t>
            </a:r>
          </a:p>
          <a:p>
            <a:pPr algn="l">
              <a:lnSpc>
                <a:spcPct val="115000"/>
              </a:lnSpc>
            </a:pPr>
            <a:r>
              <a:rPr sz="1100" i="1">
                <a:solidFill>
                  <a:srgbClr val="666666"/>
                </a:solidFill>
                <a:latin typeface="Calibri"/>
              </a:rPr>
              <a:t>   Write the 5-6 doctrine files (LEGAL-POLICY, INTEL-GRADING, INTEL-BRIEF-STANDARDS, THREAT-BOX-METHODOLOGY, RETRACTION-POLICY, FLASH-POLICY). Set up the OpenCTI connector patterns for your top 5 OSINT sources.</a:t>
            </a:r>
          </a:p>
          <a:p>
            <a:pPr algn="l">
              <a:lnSpc>
                <a:spcPct val="115000"/>
              </a:lnSpc>
              <a:spcBef>
                <a:spcPts val="800"/>
              </a:spcBef>
            </a:pPr>
            <a:r>
              <a:rPr sz="1400" b="1">
                <a:solidFill>
                  <a:srgbClr val="333333"/>
                </a:solidFill>
                <a:latin typeface="Calibri"/>
              </a:rPr>
              <a:t>• Week 2-3 — Subagents</a:t>
            </a:r>
          </a:p>
          <a:p>
            <a:pPr algn="l">
              <a:lnSpc>
                <a:spcPct val="115000"/>
              </a:lnSpc>
            </a:pPr>
            <a:r>
              <a:rPr sz="1100" i="1">
                <a:solidFill>
                  <a:srgbClr val="666666"/>
                </a:solidFill>
                <a:latin typeface="Calibri"/>
              </a:rPr>
              <a:t>   Collector, grader, briefer, librarian to start. Each as a Claude subagent or as a service calling Claude. Test against a small set of canned findings first.</a:t>
            </a:r>
          </a:p>
          <a:p>
            <a:pPr algn="l">
              <a:lnSpc>
                <a:spcPct val="115000"/>
              </a:lnSpc>
              <a:spcBef>
                <a:spcPts val="800"/>
              </a:spcBef>
            </a:pPr>
            <a:r>
              <a:rPr sz="1400" b="1">
                <a:solidFill>
                  <a:srgbClr val="333333"/>
                </a:solidFill>
                <a:latin typeface="Calibri"/>
              </a:rPr>
              <a:t>• Week 4 — Delivery + audit</a:t>
            </a:r>
          </a:p>
          <a:p>
            <a:pPr algn="l">
              <a:lnSpc>
                <a:spcPct val="115000"/>
              </a:lnSpc>
            </a:pPr>
            <a:r>
              <a:rPr sz="1100" i="1">
                <a:solidFill>
                  <a:srgbClr val="666666"/>
                </a:solidFill>
                <a:latin typeface="Calibri"/>
              </a:rPr>
              <a:t>   Teams webhook + Adaptive Cards. Splunk (or equivalent) for telemetry. Git for doctrine versioning. Get the daily-cadence rhythm working end-to-end.</a:t>
            </a:r>
          </a:p>
          <a:p>
            <a:pPr algn="l">
              <a:lnSpc>
                <a:spcPct val="115000"/>
              </a:lnSpc>
              <a:spcBef>
                <a:spcPts val="800"/>
              </a:spcBef>
            </a:pPr>
            <a:r>
              <a:rPr sz="1400" b="1">
                <a:solidFill>
                  <a:srgbClr val="333333"/>
                </a:solidFill>
                <a:latin typeface="Calibri"/>
              </a:rPr>
              <a:t>• Week 5 — Threat actor + vuln tracking</a:t>
            </a:r>
          </a:p>
          <a:p>
            <a:pPr algn="l">
              <a:lnSpc>
                <a:spcPct val="115000"/>
              </a:lnSpc>
            </a:pPr>
            <a:r>
              <a:rPr sz="1100" i="1">
                <a:solidFill>
                  <a:srgbClr val="666666"/>
                </a:solidFill>
                <a:latin typeface="Calibri"/>
              </a:rPr>
              <a:t>   actor-profiler + vuln-tracker subagents. Threat-box scoring methodology. /approve-scoring gate posting to Teams for human review.</a:t>
            </a:r>
          </a:p>
          <a:p>
            <a:pPr algn="l">
              <a:lnSpc>
                <a:spcPct val="115000"/>
              </a:lnSpc>
              <a:spcBef>
                <a:spcPts val="800"/>
              </a:spcBef>
            </a:pPr>
            <a:r>
              <a:rPr sz="1400" b="1">
                <a:solidFill>
                  <a:srgbClr val="333333"/>
                </a:solidFill>
                <a:latin typeface="Calibri"/>
              </a:rPr>
              <a:t>• Week 6 — Hardening</a:t>
            </a:r>
          </a:p>
          <a:p>
            <a:pPr algn="l">
              <a:lnSpc>
                <a:spcPct val="115000"/>
              </a:lnSpc>
            </a:pPr>
            <a:r>
              <a:rPr sz="1100" i="1">
                <a:solidFill>
                  <a:srgbClr val="666666"/>
                </a:solidFill>
                <a:latin typeface="Calibri"/>
              </a:rPr>
              <a:t>   Red-team-analyst subagent. Retraction handling. Hard Rule refusals at every tool wrapper. Live-validate every external integration before production cutover.</a:t>
            </a:r>
          </a:p>
          <a:p>
            <a:pPr algn="l">
              <a:lnSpc>
                <a:spcPct val="115000"/>
              </a:lnSpc>
              <a:spcBef>
                <a:spcPts val="800"/>
              </a:spcBef>
            </a:pPr>
            <a:r>
              <a:rPr sz="1400" b="1">
                <a:solidFill>
                  <a:srgbClr val="333333"/>
                </a:solidFill>
                <a:latin typeface="Calibri"/>
              </a:rPr>
              <a:t>• Then iterate</a:t>
            </a:r>
          </a:p>
          <a:p>
            <a:pPr algn="l">
              <a:lnSpc>
                <a:spcPct val="115000"/>
              </a:lnSpc>
            </a:pPr>
            <a:r>
              <a:rPr sz="1100" i="1">
                <a:solidFill>
                  <a:srgbClr val="666666"/>
                </a:solidFill>
                <a:latin typeface="Calibri"/>
              </a:rPr>
              <a:t>   Real-world findings will surface gaps. Doctrine evolves. Add MCPs / connectors as needed. The first quarter is when the system earns its place in the intel team's workflow.</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94560"/>
            <a:ext cx="11274552" cy="914400"/>
          </a:xfrm>
          <a:prstGeom prst="rect">
            <a:avLst/>
          </a:prstGeom>
          <a:noFill/>
        </p:spPr>
        <p:txBody>
          <a:bodyPr wrap="square">
            <a:spAutoFit/>
          </a:bodyPr>
          <a:lstStyle/>
          <a:p>
            <a:pPr algn="ctr"/>
            <a:r>
              <a:rPr sz="5400" b="1">
                <a:solidFill>
                  <a:srgbClr val="1F3A5F"/>
                </a:solidFill>
                <a:latin typeface="Calibri"/>
              </a:rPr>
              <a:t>Questions?</a:t>
            </a:r>
          </a:p>
        </p:txBody>
      </p:sp>
      <p:sp>
        <p:nvSpPr>
          <p:cNvPr id="3" name="TextBox 2"/>
          <p:cNvSpPr txBox="1"/>
          <p:nvPr/>
        </p:nvSpPr>
        <p:spPr>
          <a:xfrm>
            <a:off x="457200" y="3474720"/>
            <a:ext cx="11274552" cy="457200"/>
          </a:xfrm>
          <a:prstGeom prst="rect">
            <a:avLst/>
          </a:prstGeom>
          <a:noFill/>
        </p:spPr>
        <p:txBody>
          <a:bodyPr wrap="none">
            <a:spAutoFit/>
          </a:bodyPr>
          <a:lstStyle/>
          <a:p>
            <a:pPr algn="ctr"/>
            <a:r>
              <a:rPr sz="1600" i="1">
                <a:solidFill>
                  <a:srgbClr val="666666"/>
                </a:solidFill>
                <a:latin typeface="Calibri"/>
              </a:rPr>
              <a:t>Happy to dig into any layer — architecture, doctrine, specific subagent, OpenCTI mapping.</a:t>
            </a:r>
          </a:p>
        </p:txBody>
      </p:sp>
      <p:sp>
        <p:nvSpPr>
          <p:cNvPr id="4" name="TextBox 3"/>
          <p:cNvSpPr txBox="1"/>
          <p:nvPr/>
        </p:nvSpPr>
        <p:spPr>
          <a:xfrm>
            <a:off x="457200" y="5029200"/>
            <a:ext cx="11274552" cy="457200"/>
          </a:xfrm>
          <a:prstGeom prst="rect">
            <a:avLst/>
          </a:prstGeom>
          <a:noFill/>
        </p:spPr>
        <p:txBody>
          <a:bodyPr wrap="none">
            <a:spAutoFit/>
          </a:bodyPr>
          <a:lstStyle/>
          <a:p>
            <a:pPr algn="ctr"/>
            <a:r>
              <a:rPr sz="1400">
                <a:solidFill>
                  <a:srgbClr val="666666"/>
                </a:solidFill>
                <a:latin typeface="Calibri"/>
              </a:rPr>
              <a:t>[Presenter name]   ·   [Email / Slack / Teams handle]</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Archimedes overview · 2026-05-11</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