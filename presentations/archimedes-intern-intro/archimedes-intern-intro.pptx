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scene casually: 'I want to spend about five minutes walking you through what we built, why it exists, and what you'll see it doing day to day.' Tell them up front: no jargon test, ask any question that comes up, the goal is for you to understand the system end-to-end at a high level.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like a relatable workday problem. 'Imagine you're a security analyst — your inbox has 200 articles from overnight. Most are noise. Some are emergencies. Your boss needs a 5-minute summary in your hand by 8 AM. That's the job we're trying to make easier.' Don't dwell on the technical details of CTI — just get them to feel the volume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Read it out loud, slowly. 'It reads 45 cyber news sources every day, decides what's important, and posts a summary to Discord twice a day.' If they remember nothing else from this talk, they should remember that sentence. Mention the urgent alerts (FLASH) and the chat interaction (slash commands) briefly — those come up later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them a real artifact. This is what shipped to #intel-briefs on May 11. Three things to point out: (1) Plain language — not jargon-y. 'Patches expired last night.' Anyone can read it. (2) Source links — the headlines are clickable; click and you get the actual article. (3) Short — ~250 words; whole thing fits on a phone screen. Leadership reads this on the way to a meeting.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Analogy: this is like Google News, but specifically for cyber threats, and it filters way more aggressively. Out of hundreds of articles published overnight, maybe 4-8 are worth telling leadership about. The collector's job is to find those 4-8.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most people are surprised by. The agent doesn't just summarize articles — it grades how much to trust them, using a framework that intelligence analysts have used for decades. Big point: consistency. Two human analysts grading the same finding might disagree based on experience or mood. The agent applies the same rule every time. Skip the words 'Admiralty' and 'WEP' — those are jargon for the intern.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key design choice: same intel, two audiences, two versions written from the same source. The intel team needs the detailed version with all the citations. Leadership wants the 5-minute version on their phone. The agent writes both at the same time — one file, two sections. The Discord post you saw on the previous slide is the short version.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framing for an intern: AI agents can do harmful things if not constrained. Archimedes has rules baked into its code — not just instructions in a prompt, but actual code that refuses to do certain things. Example: if you tried to make it scan, say, microsoft.com to look for vulnerabilities, the agent would refuse — and log the refusal. The system is built to be safe by default, not safe-if-instructed.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it like ChatGPT, but specifically tuned for our threat intel. If you're curious about something during the day — 'what's the deal with this CVE?' — you don't have to wait for the next morning brief. You can ask. The agent pulls from the same sources it uses for the briefs, applies the same grading rules, and writes back in the channel.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quick takeaways, then Q&amp;A. The three boxes are the system's elevator pitch — twice-daily summary, safety rails, ask it questions. Likely intern questions: (1) 'Does it ever get things wrong?' — Yes, and we have a process for that — retractions are public, never silent. (2) 'Can I see the code?' — Yes, it's all in our git repo; show them where if appropriate. (3) 'Why Discord instead of Teams / Slack?' — Convenience and existing channel structure; not a technical reason. (4) 'What sources does it read?' — Show source-grades.yaml if helpful. (5) 'Did you build this in Python?' — Mostly markdown + bash + Python for the integrations. The 'brain' is Claude. End on: 'There's a more technical version of this talk if you ever want to learn how it's built — just ask.'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194560"/>
            <a:ext cx="11274552" cy="1280160"/>
          </a:xfrm>
          <a:prstGeom prst="rect">
            <a:avLst/>
          </a:prstGeom>
          <a:noFill/>
        </p:spPr>
        <p:txBody>
          <a:bodyPr wrap="none">
            <a:spAutoFit/>
          </a:bodyPr>
          <a:lstStyle/>
          <a:p>
            <a:pPr algn="ctr"/>
            <a:r>
              <a:rPr sz="6400" b="1">
                <a:solidFill>
                  <a:srgbClr val="1F3A5F"/>
                </a:solidFill>
                <a:latin typeface="Calibri"/>
              </a:rPr>
              <a:t>Meet Archimedes</a:t>
            </a:r>
          </a:p>
        </p:txBody>
      </p:sp>
      <p:sp>
        <p:nvSpPr>
          <p:cNvPr id="3" name="TextBox 2"/>
          <p:cNvSpPr txBox="1"/>
          <p:nvPr/>
        </p:nvSpPr>
        <p:spPr>
          <a:xfrm>
            <a:off x="457200" y="3657600"/>
            <a:ext cx="11274552" cy="548640"/>
          </a:xfrm>
          <a:prstGeom prst="rect">
            <a:avLst/>
          </a:prstGeom>
          <a:noFill/>
        </p:spPr>
        <p:txBody>
          <a:bodyPr wrap="none">
            <a:spAutoFit/>
          </a:bodyPr>
          <a:lstStyle/>
          <a:p>
            <a:pPr algn="ctr"/>
            <a:r>
              <a:rPr sz="2200" i="1">
                <a:solidFill>
                  <a:srgbClr val="666666"/>
                </a:solidFill>
                <a:latin typeface="Calibri"/>
              </a:rPr>
              <a:t>An AI agent that reads cyber threat news so we don't have to</a:t>
            </a:r>
          </a:p>
        </p:txBody>
      </p:sp>
      <p:sp>
        <p:nvSpPr>
          <p:cNvPr id="4" name="TextBox 3"/>
          <p:cNvSpPr txBox="1"/>
          <p:nvPr/>
        </p:nvSpPr>
        <p:spPr>
          <a:xfrm>
            <a:off x="457200" y="5303520"/>
            <a:ext cx="11274552" cy="457200"/>
          </a:xfrm>
          <a:prstGeom prst="rect">
            <a:avLst/>
          </a:prstGeom>
          <a:noFill/>
        </p:spPr>
        <p:txBody>
          <a:bodyPr wrap="none">
            <a:spAutoFit/>
          </a:bodyPr>
          <a:lstStyle/>
          <a:p>
            <a:pPr algn="ctr"/>
            <a:r>
              <a:rPr sz="1400">
                <a:solidFill>
                  <a:srgbClr val="666666"/>
                </a:solidFill>
                <a:latin typeface="Calibri"/>
              </a:rPr>
              <a:t>5-minute intro   ·   [Date]   ·   [Presenter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a:spAutoFit/>
          </a:bodyPr>
          <a:lstStyle/>
          <a:p>
            <a:pPr algn="l"/>
            <a:r>
              <a:rPr sz="3600" b="1">
                <a:solidFill>
                  <a:srgbClr val="1F3A5F"/>
                </a:solidFill>
                <a:latin typeface="Calibri"/>
              </a:rPr>
              <a:t>The problem we're solving</a:t>
            </a:r>
          </a:p>
        </p:txBody>
      </p:sp>
      <p:sp>
        <p:nvSpPr>
          <p:cNvPr id="3" name="TextBox 2"/>
          <p:cNvSpPr txBox="1"/>
          <p:nvPr/>
        </p:nvSpPr>
        <p:spPr>
          <a:xfrm>
            <a:off x="457200" y="1097280"/>
            <a:ext cx="11274552" cy="457200"/>
          </a:xfrm>
          <a:prstGeom prst="rect">
            <a:avLst/>
          </a:prstGeom>
          <a:noFill/>
        </p:spPr>
        <p:txBody>
          <a:bodyPr wrap="square">
            <a:spAutoFit/>
          </a:bodyPr>
          <a:lstStyle/>
          <a:p>
            <a:r>
              <a:rPr sz="1600" i="1">
                <a:solidFill>
                  <a:srgbClr val="666666"/>
                </a:solidFill>
                <a:latin typeface="Calibri"/>
              </a:rPr>
              <a:t>Every morning, security teams have a giant pile of news to read.</a:t>
            </a:r>
          </a:p>
        </p:txBody>
      </p:sp>
      <p:sp>
        <p:nvSpPr>
          <p:cNvPr id="4" name="TextBox 3"/>
          <p:cNvSpPr txBox="1"/>
          <p:nvPr/>
        </p:nvSpPr>
        <p:spPr>
          <a:xfrm>
            <a:off x="457200" y="1737360"/>
            <a:ext cx="11274552" cy="4572000"/>
          </a:xfrm>
          <a:prstGeom prst="rect">
            <a:avLst/>
          </a:prstGeom>
          <a:noFill/>
        </p:spPr>
        <p:txBody>
          <a:bodyPr wrap="square">
            <a:spAutoFit/>
          </a:bodyPr>
          <a:lstStyle/>
          <a:p>
            <a:pPr algn="l">
              <a:lnSpc>
                <a:spcPct val="130000"/>
              </a:lnSpc>
            </a:pPr>
            <a:r>
              <a:rPr sz="1800">
                <a:solidFill>
                  <a:srgbClr val="333333"/>
                </a:solidFill>
                <a:latin typeface="Calibri"/>
              </a:rPr>
              <a:t>•  Hundreds of new articles every day — vendor blogs, news sites, X/Twitter, CISA alerts, RSS feeds</a:t>
            </a:r>
          </a:p>
          <a:p>
            <a:pPr algn="l">
              <a:lnSpc>
                <a:spcPct val="130000"/>
              </a:lnSpc>
              <a:spcBef>
                <a:spcPts val="1400"/>
              </a:spcBef>
            </a:pPr>
            <a:r>
              <a:rPr sz="1800">
                <a:solidFill>
                  <a:srgbClr val="333333"/>
                </a:solidFill>
                <a:latin typeface="Calibri"/>
              </a:rPr>
              <a:t>•  Most of it isn't relevant. Some of it is critical and time-sensitive.</a:t>
            </a:r>
          </a:p>
          <a:p>
            <a:pPr algn="l">
              <a:lnSpc>
                <a:spcPct val="130000"/>
              </a:lnSpc>
              <a:spcBef>
                <a:spcPts val="1400"/>
              </a:spcBef>
            </a:pPr>
            <a:r>
              <a:rPr sz="1800">
                <a:solidFill>
                  <a:srgbClr val="333333"/>
                </a:solidFill>
                <a:latin typeface="Calibri"/>
              </a:rPr>
              <a:t>•  Sorting the firehose by hand takes hours every morning before any actual analysis starts</a:t>
            </a:r>
          </a:p>
          <a:p>
            <a:pPr algn="l">
              <a:lnSpc>
                <a:spcPct val="130000"/>
              </a:lnSpc>
              <a:spcBef>
                <a:spcPts val="1400"/>
              </a:spcBef>
            </a:pPr>
            <a:r>
              <a:rPr sz="1800">
                <a:solidFill>
                  <a:srgbClr val="333333"/>
                </a:solidFill>
                <a:latin typeface="Calibri"/>
              </a:rPr>
              <a:t>•  Leadership wants a 5-minute summary by 8 AM. Analysts have to deliver that on top of everything else.</a:t>
            </a:r>
          </a:p>
        </p:txBody>
      </p:sp>
      <p:sp>
        <p:nvSpPr>
          <p:cNvPr id="5" name="TextBox 4"/>
          <p:cNvSpPr txBox="1"/>
          <p:nvPr/>
        </p:nvSpPr>
        <p:spPr>
          <a:xfrm>
            <a:off x="457200" y="6446520"/>
            <a:ext cx="10058400" cy="274320"/>
          </a:xfrm>
          <a:prstGeom prst="rect">
            <a:avLst/>
          </a:prstGeom>
          <a:noFill/>
        </p:spPr>
        <p:txBody>
          <a:bodyPr wrap="none">
            <a:spAutoFit/>
          </a:bodyPr>
          <a:lstStyle/>
          <a:p>
            <a:r>
              <a:rPr sz="900" i="1">
                <a:solidFill>
                  <a:srgbClr val="666666"/>
                </a:solidFill>
                <a:latin typeface="Calibri"/>
              </a:rPr>
              <a:t>Archimedes · Quick intro</a:t>
            </a:r>
          </a:p>
        </p:txBody>
      </p:sp>
      <p:sp>
        <p:nvSpPr>
          <p:cNvPr id="6" name="TextBox 5"/>
          <p:cNvSpPr txBox="1"/>
          <p:nvPr/>
        </p:nvSpPr>
        <p:spPr>
          <a:xfrm>
            <a:off x="10515600" y="6446520"/>
            <a:ext cx="1188720" cy="274320"/>
          </a:xfrm>
          <a:prstGeom prst="rect">
            <a:avLst/>
          </a:prstGeom>
          <a:noFill/>
        </p:spPr>
        <p:txBody>
          <a:bodyPr wrap="none">
            <a:spAutoFit/>
          </a:bodyPr>
          <a:lstStyle/>
          <a:p>
            <a:pPr algn="r"/>
            <a:r>
              <a:rPr sz="900">
                <a:solidFill>
                  <a:srgbClr val="666666"/>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a:spAutoFit/>
          </a:bodyPr>
          <a:lstStyle/>
          <a:p>
            <a:pPr algn="l"/>
            <a:r>
              <a:rPr sz="3600" b="1">
                <a:solidFill>
                  <a:srgbClr val="1F3A5F"/>
                </a:solidFill>
                <a:latin typeface="Calibri"/>
              </a:rPr>
              <a:t>What we built</a:t>
            </a:r>
          </a:p>
        </p:txBody>
      </p:sp>
      <p:sp>
        <p:nvSpPr>
          <p:cNvPr id="3" name="TextBox 2"/>
          <p:cNvSpPr txBox="1"/>
          <p:nvPr/>
        </p:nvSpPr>
        <p:spPr>
          <a:xfrm>
            <a:off x="457200" y="1097280"/>
            <a:ext cx="11274552" cy="457200"/>
          </a:xfrm>
          <a:prstGeom prst="rect">
            <a:avLst/>
          </a:prstGeom>
          <a:noFill/>
        </p:spPr>
        <p:txBody>
          <a:bodyPr wrap="square">
            <a:spAutoFit/>
          </a:bodyPr>
          <a:lstStyle/>
          <a:p>
            <a:r>
              <a:rPr sz="1600" i="1">
                <a:solidFill>
                  <a:srgbClr val="666666"/>
                </a:solidFill>
                <a:latin typeface="Calibri"/>
              </a:rPr>
              <a:t>An AI agent that does the rote 80% so humans can focus on the judgment 20%.</a:t>
            </a:r>
          </a:p>
        </p:txBody>
      </p:sp>
      <p:sp>
        <p:nvSpPr>
          <p:cNvPr id="4" name="Rounded Rectangle 3"/>
          <p:cNvSpPr/>
          <p:nvPr/>
        </p:nvSpPr>
        <p:spPr>
          <a:xfrm>
            <a:off x="914400" y="1828800"/>
            <a:ext cx="10360152" cy="2560320"/>
          </a:xfrm>
          <a:prstGeom prst="roundRect">
            <a:avLst/>
          </a:prstGeom>
          <a:solidFill>
            <a:srgbClr val="F5F5F5"/>
          </a:solidFill>
          <a:ln w="2540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365760" lIns="365760" rIns="365760" wrap="square"/>
          <a:lstStyle/>
          <a:p>
            <a:pPr algn="ctr"/>
            <a:r>
              <a:rPr sz="2600">
                <a:solidFill>
                  <a:srgbClr val="333333"/>
                </a:solidFill>
                <a:latin typeface="Calibri"/>
              </a:rPr>
              <a:t>Archimedes reads ~45 cyber news sources every day,</a:t>
            </a:r>
          </a:p>
          <a:p>
            <a:pPr algn="ctr">
              <a:spcBef>
                <a:spcPts val="1000"/>
              </a:spcBef>
            </a:pPr>
            <a:r>
              <a:rPr sz="2600">
                <a:solidFill>
                  <a:srgbClr val="333333"/>
                </a:solidFill>
                <a:latin typeface="Calibri"/>
              </a:rPr>
              <a:t>decides what's important,</a:t>
            </a:r>
          </a:p>
          <a:p>
            <a:pPr algn="ctr">
              <a:spcBef>
                <a:spcPts val="1000"/>
              </a:spcBef>
            </a:pPr>
            <a:r>
              <a:rPr sz="2600" b="1">
                <a:solidFill>
                  <a:srgbClr val="1F3A5F"/>
                </a:solidFill>
                <a:latin typeface="Calibri"/>
              </a:rPr>
              <a:t>and posts a 5-minute summary to Discord twice a day.</a:t>
            </a:r>
          </a:p>
        </p:txBody>
      </p:sp>
      <p:sp>
        <p:nvSpPr>
          <p:cNvPr id="5" name="TextBox 4"/>
          <p:cNvSpPr txBox="1"/>
          <p:nvPr/>
        </p:nvSpPr>
        <p:spPr>
          <a:xfrm>
            <a:off x="457200" y="4754880"/>
            <a:ext cx="11274552" cy="457200"/>
          </a:xfrm>
          <a:prstGeom prst="rect">
            <a:avLst/>
          </a:prstGeom>
          <a:noFill/>
        </p:spPr>
        <p:txBody>
          <a:bodyPr wrap="square">
            <a:spAutoFit/>
          </a:bodyPr>
          <a:lstStyle/>
          <a:p>
            <a:pPr algn="ctr"/>
            <a:r>
              <a:rPr sz="1600" i="1">
                <a:solidFill>
                  <a:srgbClr val="666666"/>
                </a:solidFill>
                <a:latin typeface="Calibri"/>
              </a:rPr>
              <a:t>It also sends urgent alerts when something breaks — and you can ask it questions in chat.</a:t>
            </a:r>
          </a:p>
        </p:txBody>
      </p:sp>
      <p:sp>
        <p:nvSpPr>
          <p:cNvPr id="6" name="TextBox 5"/>
          <p:cNvSpPr txBox="1"/>
          <p:nvPr/>
        </p:nvSpPr>
        <p:spPr>
          <a:xfrm>
            <a:off x="457200" y="6446520"/>
            <a:ext cx="10058400" cy="274320"/>
          </a:xfrm>
          <a:prstGeom prst="rect">
            <a:avLst/>
          </a:prstGeom>
          <a:noFill/>
        </p:spPr>
        <p:txBody>
          <a:bodyPr wrap="none">
            <a:spAutoFit/>
          </a:bodyPr>
          <a:lstStyle/>
          <a:p>
            <a:r>
              <a:rPr sz="900" i="1">
                <a:solidFill>
                  <a:srgbClr val="666666"/>
                </a:solidFill>
                <a:latin typeface="Calibri"/>
              </a:rPr>
              <a:t>Archimedes · Quick intro</a:t>
            </a:r>
          </a:p>
        </p:txBody>
      </p:sp>
      <p:sp>
        <p:nvSpPr>
          <p:cNvPr id="7" name="TextBox 6"/>
          <p:cNvSpPr txBox="1"/>
          <p:nvPr/>
        </p:nvSpPr>
        <p:spPr>
          <a:xfrm>
            <a:off x="10515600" y="6446520"/>
            <a:ext cx="1188720" cy="274320"/>
          </a:xfrm>
          <a:prstGeom prst="rect">
            <a:avLst/>
          </a:prstGeom>
          <a:noFill/>
        </p:spPr>
        <p:txBody>
          <a:bodyPr wrap="none">
            <a:spAutoFit/>
          </a:bodyPr>
          <a:lstStyle/>
          <a:p>
            <a:pPr algn="r"/>
            <a:r>
              <a:rPr sz="900">
                <a:solidFill>
                  <a:srgbClr val="666666"/>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a:spAutoFit/>
          </a:bodyPr>
          <a:lstStyle/>
          <a:p>
            <a:pPr algn="l"/>
            <a:r>
              <a:rPr sz="3600" b="1">
                <a:solidFill>
                  <a:srgbClr val="1F3A5F"/>
                </a:solidFill>
                <a:latin typeface="Calibri"/>
              </a:rPr>
              <a:t>What it looks like</a:t>
            </a:r>
          </a:p>
        </p:txBody>
      </p:sp>
      <p:sp>
        <p:nvSpPr>
          <p:cNvPr id="3" name="TextBox 2"/>
          <p:cNvSpPr txBox="1"/>
          <p:nvPr/>
        </p:nvSpPr>
        <p:spPr>
          <a:xfrm>
            <a:off x="457200" y="1097280"/>
            <a:ext cx="11274552" cy="457200"/>
          </a:xfrm>
          <a:prstGeom prst="rect">
            <a:avLst/>
          </a:prstGeom>
          <a:noFill/>
        </p:spPr>
        <p:txBody>
          <a:bodyPr wrap="square">
            <a:spAutoFit/>
          </a:bodyPr>
          <a:lstStyle/>
          <a:p>
            <a:r>
              <a:rPr sz="1600" i="1">
                <a:solidFill>
                  <a:srgbClr val="666666"/>
                </a:solidFill>
                <a:latin typeface="Calibri"/>
              </a:rPr>
              <a:t>This is the actual morning summary that posts to our Discord channel every day at 8 AM.</a:t>
            </a:r>
          </a:p>
        </p:txBody>
      </p:sp>
      <p:sp>
        <p:nvSpPr>
          <p:cNvPr id="4" name="Rounded Rectangle 3"/>
          <p:cNvSpPr/>
          <p:nvPr/>
        </p:nvSpPr>
        <p:spPr>
          <a:xfrm>
            <a:off x="457200" y="1737360"/>
            <a:ext cx="11274552" cy="4572000"/>
          </a:xfrm>
          <a:prstGeom prst="roundRect">
            <a:avLst/>
          </a:prstGeom>
          <a:solidFill>
            <a:srgbClr val="3133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920240"/>
            <a:ext cx="10698480" cy="4206240"/>
          </a:xfrm>
          <a:prstGeom prst="rect">
            <a:avLst/>
          </a:prstGeom>
          <a:noFill/>
        </p:spPr>
        <p:txBody>
          <a:bodyPr wrap="square">
            <a:spAutoFit/>
          </a:bodyPr>
          <a:lstStyle/>
          <a:p>
            <a:pPr algn="l"/>
            <a:r>
              <a:rPr sz="1300">
                <a:solidFill>
                  <a:srgbClr val="DCDDDE"/>
                </a:solidFill>
                <a:latin typeface="Consolas"/>
              </a:rPr>
              <a:t>Good morning. Here's your 0800 brief — Monday, May 11.</a:t>
            </a:r>
          </a:p>
          <a:p>
            <a:pPr algn="l"/>
            <a:r>
              <a:rPr sz="1300">
                <a:solidFill>
                  <a:srgbClr val="DCDDDE"/>
                </a:solidFill>
                <a:latin typeface="Consolas"/>
              </a:rPr>
              <a:t> </a:t>
            </a:r>
          </a:p>
          <a:p>
            <a:pPr algn="l"/>
            <a:r>
              <a:rPr sz="1300">
                <a:solidFill>
                  <a:srgbClr val="DCDDDE"/>
                </a:solidFill>
                <a:latin typeface="Consolas"/>
              </a:rPr>
              <a:t>🚨 Active Threats</a:t>
            </a:r>
          </a:p>
          <a:p>
            <a:pPr algn="l"/>
            <a:r>
              <a:rPr sz="1300">
                <a:solidFill>
                  <a:srgbClr val="DCDDDE"/>
                </a:solidFill>
                <a:latin typeface="Consolas"/>
              </a:rPr>
              <a:t> </a:t>
            </a:r>
          </a:p>
          <a:p>
            <a:pPr algn="l"/>
            <a:r>
              <a:rPr sz="1300">
                <a:solidFill>
                  <a:srgbClr val="DCDDDE"/>
                </a:solidFill>
                <a:latin typeface="Consolas"/>
              </a:rPr>
              <a:t>•  Checkmarx Jenkins AST plugin compromised in supply-chain attack</a:t>
            </a:r>
          </a:p>
          <a:p>
            <a:pPr algn="l"/>
            <a:r>
              <a:rPr sz="1300">
                <a:solidFill>
                  <a:srgbClr val="DCDDDE"/>
                </a:solidFill>
                <a:latin typeface="Consolas"/>
              </a:rPr>
              <a:t>    Checkmarx warned Friday May 9 of a malicious Jenkins AST plugin on the</a:t>
            </a:r>
          </a:p>
          <a:p>
            <a:pPr algn="l"/>
            <a:r>
              <a:rPr sz="1300">
                <a:solidFill>
                  <a:srgbClr val="DCDDDE"/>
                </a:solidFill>
                <a:latin typeface="Consolas"/>
              </a:rPr>
              <a:t>    Marketplace; weekend variants surfaced on GitHub. Remediation 2.0.13-848</a:t>
            </a:r>
          </a:p>
          <a:p>
            <a:pPr algn="l"/>
            <a:r>
              <a:rPr sz="1300">
                <a:solidFill>
                  <a:srgbClr val="DCDDDE"/>
                </a:solidFill>
                <a:latin typeface="Consolas"/>
              </a:rPr>
              <a:t>    is out.</a:t>
            </a:r>
          </a:p>
          <a:p>
            <a:pPr algn="l"/>
            <a:r>
              <a:rPr sz="1300">
                <a:solidFill>
                  <a:srgbClr val="DCDDDE"/>
                </a:solidFill>
                <a:latin typeface="Consolas"/>
              </a:rPr>
              <a:t> </a:t>
            </a:r>
          </a:p>
          <a:p>
            <a:pPr algn="l"/>
            <a:r>
              <a:rPr sz="1300">
                <a:solidFill>
                  <a:srgbClr val="DCDDDE"/>
                </a:solidFill>
                <a:latin typeface="Consolas"/>
              </a:rPr>
              <a:t>•  SailPoint discloses GitHub repository hack</a:t>
            </a:r>
          </a:p>
          <a:p>
            <a:pPr algn="l"/>
            <a:r>
              <a:rPr sz="1300">
                <a:solidFill>
                  <a:srgbClr val="DCDDDE"/>
                </a:solidFill>
                <a:latin typeface="Consolas"/>
              </a:rPr>
              <a:t>    SailPoint disclosed an April 20 incident; a third-party app vulnerability</a:t>
            </a:r>
          </a:p>
          <a:p>
            <a:pPr algn="l"/>
            <a:r>
              <a:rPr sz="1300">
                <a:solidFill>
                  <a:srgbClr val="DCDDDE"/>
                </a:solidFill>
                <a:latin typeface="Consolas"/>
              </a:rPr>
              <a:t>    exposed a subset of its GitHub repos.</a:t>
            </a:r>
          </a:p>
          <a:p>
            <a:pPr algn="l"/>
            <a:r>
              <a:rPr sz="1300">
                <a:solidFill>
                  <a:srgbClr val="DCDDDE"/>
                </a:solidFill>
                <a:latin typeface="Consolas"/>
              </a:rPr>
              <a:t> </a:t>
            </a:r>
          </a:p>
          <a:p>
            <a:pPr algn="l"/>
            <a:r>
              <a:rPr sz="1300">
                <a:solidFill>
                  <a:srgbClr val="DCDDDE"/>
                </a:solidFill>
                <a:latin typeface="Consolas"/>
              </a:rPr>
              <a:t>🔓 Vulnerabilities</a:t>
            </a:r>
          </a:p>
          <a:p>
            <a:pPr algn="l"/>
            <a:r>
              <a:rPr sz="1300">
                <a:solidFill>
                  <a:srgbClr val="DCDDDE"/>
                </a:solidFill>
                <a:latin typeface="Consolas"/>
              </a:rPr>
              <a:t> </a:t>
            </a:r>
          </a:p>
          <a:p>
            <a:pPr algn="l"/>
            <a:r>
              <a:rPr sz="1300">
                <a:solidFill>
                  <a:srgbClr val="DCDDDE"/>
                </a:solidFill>
                <a:latin typeface="Consolas"/>
              </a:rPr>
              <a:t>•  CVE-2026-6973 (Ivanti EPMM): federal patch deadline expired last night.</a:t>
            </a:r>
          </a:p>
          <a:p>
            <a:pPr algn="l"/>
            <a:r>
              <a:rPr sz="1300">
                <a:solidFill>
                  <a:srgbClr val="DCDDDE"/>
                </a:solidFill>
                <a:latin typeface="Consolas"/>
              </a:rPr>
              <a:t>•  CVE-2026-42208 (BerriAI LiteLLM): KEV deadline closes today.</a:t>
            </a:r>
          </a:p>
        </p:txBody>
      </p:sp>
      <p:sp>
        <p:nvSpPr>
          <p:cNvPr id="6" name="TextBox 5"/>
          <p:cNvSpPr txBox="1"/>
          <p:nvPr/>
        </p:nvSpPr>
        <p:spPr>
          <a:xfrm>
            <a:off x="457200" y="6446520"/>
            <a:ext cx="10058400" cy="274320"/>
          </a:xfrm>
          <a:prstGeom prst="rect">
            <a:avLst/>
          </a:prstGeom>
          <a:noFill/>
        </p:spPr>
        <p:txBody>
          <a:bodyPr wrap="none">
            <a:spAutoFit/>
          </a:bodyPr>
          <a:lstStyle/>
          <a:p>
            <a:r>
              <a:rPr sz="900" i="1">
                <a:solidFill>
                  <a:srgbClr val="666666"/>
                </a:solidFill>
                <a:latin typeface="Calibri"/>
              </a:rPr>
              <a:t>Archimedes · Quick intro</a:t>
            </a:r>
          </a:p>
        </p:txBody>
      </p:sp>
      <p:sp>
        <p:nvSpPr>
          <p:cNvPr id="7" name="TextBox 6"/>
          <p:cNvSpPr txBox="1"/>
          <p:nvPr/>
        </p:nvSpPr>
        <p:spPr>
          <a:xfrm>
            <a:off x="10515600" y="6446520"/>
            <a:ext cx="1188720" cy="274320"/>
          </a:xfrm>
          <a:prstGeom prst="rect">
            <a:avLst/>
          </a:prstGeom>
          <a:noFill/>
        </p:spPr>
        <p:txBody>
          <a:bodyPr wrap="none">
            <a:spAutoFit/>
          </a:bodyPr>
          <a:lstStyle/>
          <a:p>
            <a:pPr algn="r"/>
            <a:r>
              <a:rPr sz="900">
                <a:solidFill>
                  <a:srgbClr val="666666"/>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a:spAutoFit/>
          </a:bodyPr>
          <a:lstStyle/>
          <a:p>
            <a:pPr algn="l"/>
            <a:r>
              <a:rPr sz="3600" b="1">
                <a:solidFill>
                  <a:srgbClr val="1F3A5F"/>
                </a:solidFill>
                <a:latin typeface="Calibri"/>
              </a:rPr>
              <a:t>How it works — Step 1: Collecting</a:t>
            </a:r>
          </a:p>
        </p:txBody>
      </p:sp>
      <p:sp>
        <p:nvSpPr>
          <p:cNvPr id="3" name="TextBox 2"/>
          <p:cNvSpPr txBox="1"/>
          <p:nvPr/>
        </p:nvSpPr>
        <p:spPr>
          <a:xfrm>
            <a:off x="457200" y="1097280"/>
            <a:ext cx="11274552" cy="457200"/>
          </a:xfrm>
          <a:prstGeom prst="rect">
            <a:avLst/>
          </a:prstGeom>
          <a:noFill/>
        </p:spPr>
        <p:txBody>
          <a:bodyPr wrap="square">
            <a:spAutoFit/>
          </a:bodyPr>
          <a:lstStyle/>
          <a:p>
            <a:r>
              <a:rPr sz="1600" i="1">
                <a:solidFill>
                  <a:srgbClr val="666666"/>
                </a:solidFill>
                <a:latin typeface="Calibri"/>
              </a:rPr>
              <a:t>Think of it as a news aggregator on steroids.</a:t>
            </a:r>
          </a:p>
        </p:txBody>
      </p:sp>
      <p:sp>
        <p:nvSpPr>
          <p:cNvPr id="4" name="TextBox 3"/>
          <p:cNvSpPr txBox="1"/>
          <p:nvPr/>
        </p:nvSpPr>
        <p:spPr>
          <a:xfrm>
            <a:off x="457200" y="1737360"/>
            <a:ext cx="11274552" cy="4572000"/>
          </a:xfrm>
          <a:prstGeom prst="rect">
            <a:avLst/>
          </a:prstGeom>
          <a:noFill/>
        </p:spPr>
        <p:txBody>
          <a:bodyPr wrap="square">
            <a:spAutoFit/>
          </a:bodyPr>
          <a:lstStyle/>
          <a:p>
            <a:pPr algn="l">
              <a:lnSpc>
                <a:spcPct val="130000"/>
              </a:lnSpc>
            </a:pPr>
            <a:r>
              <a:rPr sz="1800">
                <a:solidFill>
                  <a:srgbClr val="333333"/>
                </a:solidFill>
                <a:latin typeface="Calibri"/>
              </a:rPr>
              <a:t>•  ~45 sources monitored — CISA alerts, Mandiant blog, BleepingComputer, RSS feeds, threat-intel APIs</a:t>
            </a:r>
          </a:p>
          <a:p>
            <a:pPr algn="l">
              <a:lnSpc>
                <a:spcPct val="130000"/>
              </a:lnSpc>
              <a:spcBef>
                <a:spcPts val="1400"/>
              </a:spcBef>
            </a:pPr>
            <a:r>
              <a:rPr sz="1800">
                <a:solidFill>
                  <a:srgbClr val="333333"/>
                </a:solidFill>
                <a:latin typeface="Calibri"/>
              </a:rPr>
              <a:t>•  Pulls everything new in the last few hours</a:t>
            </a:r>
          </a:p>
          <a:p>
            <a:pPr algn="l">
              <a:lnSpc>
                <a:spcPct val="130000"/>
              </a:lnSpc>
              <a:spcBef>
                <a:spcPts val="1400"/>
              </a:spcBef>
            </a:pPr>
            <a:r>
              <a:rPr sz="1800">
                <a:solidFill>
                  <a:srgbClr val="333333"/>
                </a:solidFill>
                <a:latin typeface="Calibri"/>
              </a:rPr>
              <a:t>•  Filters out the noise — only keeps items relevant to what we care about (defense industry, tracked threat groups, sector-specific incidents)</a:t>
            </a:r>
          </a:p>
          <a:p>
            <a:pPr algn="l">
              <a:lnSpc>
                <a:spcPct val="130000"/>
              </a:lnSpc>
              <a:spcBef>
                <a:spcPts val="1400"/>
              </a:spcBef>
            </a:pPr>
            <a:r>
              <a:rPr sz="1800">
                <a:solidFill>
                  <a:srgbClr val="333333"/>
                </a:solidFill>
                <a:latin typeface="Calibri"/>
              </a:rPr>
              <a:t>•  Result: maybe 4-8 actually relevant items out of 200+ raw articles</a:t>
            </a:r>
          </a:p>
        </p:txBody>
      </p:sp>
      <p:sp>
        <p:nvSpPr>
          <p:cNvPr id="5" name="TextBox 4"/>
          <p:cNvSpPr txBox="1"/>
          <p:nvPr/>
        </p:nvSpPr>
        <p:spPr>
          <a:xfrm>
            <a:off x="457200" y="6446520"/>
            <a:ext cx="10058400" cy="274320"/>
          </a:xfrm>
          <a:prstGeom prst="rect">
            <a:avLst/>
          </a:prstGeom>
          <a:noFill/>
        </p:spPr>
        <p:txBody>
          <a:bodyPr wrap="none">
            <a:spAutoFit/>
          </a:bodyPr>
          <a:lstStyle/>
          <a:p>
            <a:r>
              <a:rPr sz="900" i="1">
                <a:solidFill>
                  <a:srgbClr val="666666"/>
                </a:solidFill>
                <a:latin typeface="Calibri"/>
              </a:rPr>
              <a:t>Archimedes · Quick intro</a:t>
            </a:r>
          </a:p>
        </p:txBody>
      </p:sp>
      <p:sp>
        <p:nvSpPr>
          <p:cNvPr id="6" name="TextBox 5"/>
          <p:cNvSpPr txBox="1"/>
          <p:nvPr/>
        </p:nvSpPr>
        <p:spPr>
          <a:xfrm>
            <a:off x="10515600" y="6446520"/>
            <a:ext cx="1188720" cy="274320"/>
          </a:xfrm>
          <a:prstGeom prst="rect">
            <a:avLst/>
          </a:prstGeom>
          <a:noFill/>
        </p:spPr>
        <p:txBody>
          <a:bodyPr wrap="none">
            <a:spAutoFit/>
          </a:bodyPr>
          <a:lstStyle/>
          <a:p>
            <a:pPr algn="r"/>
            <a:r>
              <a:rPr sz="900">
                <a:solidFill>
                  <a:srgbClr val="666666"/>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a:spAutoFit/>
          </a:bodyPr>
          <a:lstStyle/>
          <a:p>
            <a:pPr algn="l"/>
            <a:r>
              <a:rPr sz="3600" b="1">
                <a:solidFill>
                  <a:srgbClr val="1F3A5F"/>
                </a:solidFill>
                <a:latin typeface="Calibri"/>
              </a:rPr>
              <a:t>How it works — Step 2: Grading</a:t>
            </a:r>
          </a:p>
        </p:txBody>
      </p:sp>
      <p:sp>
        <p:nvSpPr>
          <p:cNvPr id="3" name="TextBox 2"/>
          <p:cNvSpPr txBox="1"/>
          <p:nvPr/>
        </p:nvSpPr>
        <p:spPr>
          <a:xfrm>
            <a:off x="457200" y="1097280"/>
            <a:ext cx="11274552" cy="457200"/>
          </a:xfrm>
          <a:prstGeom prst="rect">
            <a:avLst/>
          </a:prstGeom>
          <a:noFill/>
        </p:spPr>
        <p:txBody>
          <a:bodyPr wrap="square">
            <a:spAutoFit/>
          </a:bodyPr>
          <a:lstStyle/>
          <a:p>
            <a:r>
              <a:rPr sz="1600" i="1">
                <a:solidFill>
                  <a:srgbClr val="666666"/>
                </a:solidFill>
                <a:latin typeface="Calibri"/>
              </a:rPr>
              <a:t>Not all news is equal. The agent scores how trustworthy each source is, every time.</a:t>
            </a:r>
          </a:p>
        </p:txBody>
      </p:sp>
      <p:sp>
        <p:nvSpPr>
          <p:cNvPr id="4" name="TextBox 3"/>
          <p:cNvSpPr txBox="1"/>
          <p:nvPr/>
        </p:nvSpPr>
        <p:spPr>
          <a:xfrm>
            <a:off x="457200" y="1737360"/>
            <a:ext cx="11274552" cy="4572000"/>
          </a:xfrm>
          <a:prstGeom prst="rect">
            <a:avLst/>
          </a:prstGeom>
          <a:noFill/>
        </p:spPr>
        <p:txBody>
          <a:bodyPr wrap="square">
            <a:spAutoFit/>
          </a:bodyPr>
          <a:lstStyle/>
          <a:p>
            <a:pPr algn="l">
              <a:lnSpc>
                <a:spcPct val="130000"/>
              </a:lnSpc>
            </a:pPr>
            <a:r>
              <a:rPr sz="1700">
                <a:solidFill>
                  <a:srgbClr val="333333"/>
                </a:solidFill>
                <a:latin typeface="Calibri"/>
              </a:rPr>
              <a:t>•  Mandiant publishing on a Chinese threat group: very reliable. The agent trusts it.</a:t>
            </a:r>
          </a:p>
          <a:p>
            <a:pPr algn="l">
              <a:lnSpc>
                <a:spcPct val="130000"/>
              </a:lnSpc>
              <a:spcBef>
                <a:spcPts val="1400"/>
              </a:spcBef>
            </a:pPr>
            <a:r>
              <a:rPr sz="1700">
                <a:solidFill>
                  <a:srgbClr val="333333"/>
                </a:solidFill>
                <a:latin typeface="Calibri"/>
              </a:rPr>
              <a:t>•  An anonymous Reddit post claiming the same thing: not reliable. The agent flags it as a rumor.</a:t>
            </a:r>
          </a:p>
          <a:p>
            <a:pPr algn="l">
              <a:lnSpc>
                <a:spcPct val="130000"/>
              </a:lnSpc>
              <a:spcBef>
                <a:spcPts val="1400"/>
              </a:spcBef>
            </a:pPr>
            <a:r>
              <a:rPr sz="1700">
                <a:solidFill>
                  <a:srgbClr val="333333"/>
                </a:solidFill>
                <a:latin typeface="Calibri"/>
              </a:rPr>
              <a:t>•  If only ONE source says something, the agent caps how confident it sounds — even if the source is great</a:t>
            </a:r>
          </a:p>
          <a:p>
            <a:pPr algn="l">
              <a:lnSpc>
                <a:spcPct val="130000"/>
              </a:lnSpc>
              <a:spcBef>
                <a:spcPts val="1400"/>
              </a:spcBef>
            </a:pPr>
            <a:r>
              <a:rPr sz="1700">
                <a:solidFill>
                  <a:srgbClr val="333333"/>
                </a:solidFill>
                <a:latin typeface="Calibri"/>
              </a:rPr>
              <a:t>•  If TWO independent sources agree, confidence goes up</a:t>
            </a:r>
          </a:p>
          <a:p>
            <a:pPr algn="l">
              <a:lnSpc>
                <a:spcPct val="130000"/>
              </a:lnSpc>
              <a:spcBef>
                <a:spcPts val="1400"/>
              </a:spcBef>
            </a:pPr>
            <a:r>
              <a:rPr sz="1700">
                <a:solidFill>
                  <a:srgbClr val="333333"/>
                </a:solidFill>
                <a:latin typeface="Calibri"/>
              </a:rPr>
              <a:t>•  Same rules applied every time — no one analyst's mood changing the scoring</a:t>
            </a:r>
          </a:p>
        </p:txBody>
      </p:sp>
      <p:sp>
        <p:nvSpPr>
          <p:cNvPr id="5" name="TextBox 4"/>
          <p:cNvSpPr txBox="1"/>
          <p:nvPr/>
        </p:nvSpPr>
        <p:spPr>
          <a:xfrm>
            <a:off x="457200" y="6446520"/>
            <a:ext cx="10058400" cy="274320"/>
          </a:xfrm>
          <a:prstGeom prst="rect">
            <a:avLst/>
          </a:prstGeom>
          <a:noFill/>
        </p:spPr>
        <p:txBody>
          <a:bodyPr wrap="none">
            <a:spAutoFit/>
          </a:bodyPr>
          <a:lstStyle/>
          <a:p>
            <a:r>
              <a:rPr sz="900" i="1">
                <a:solidFill>
                  <a:srgbClr val="666666"/>
                </a:solidFill>
                <a:latin typeface="Calibri"/>
              </a:rPr>
              <a:t>Archimedes · Quick intro</a:t>
            </a:r>
          </a:p>
        </p:txBody>
      </p:sp>
      <p:sp>
        <p:nvSpPr>
          <p:cNvPr id="6" name="TextBox 5"/>
          <p:cNvSpPr txBox="1"/>
          <p:nvPr/>
        </p:nvSpPr>
        <p:spPr>
          <a:xfrm>
            <a:off x="10515600" y="6446520"/>
            <a:ext cx="1188720" cy="274320"/>
          </a:xfrm>
          <a:prstGeom prst="rect">
            <a:avLst/>
          </a:prstGeom>
          <a:noFill/>
        </p:spPr>
        <p:txBody>
          <a:bodyPr wrap="none">
            <a:spAutoFit/>
          </a:bodyPr>
          <a:lstStyle/>
          <a:p>
            <a:pPr algn="r"/>
            <a:r>
              <a:rPr sz="900">
                <a:solidFill>
                  <a:srgbClr val="666666"/>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a:spAutoFit/>
          </a:bodyPr>
          <a:lstStyle/>
          <a:p>
            <a:pPr algn="l"/>
            <a:r>
              <a:rPr sz="3600" b="1">
                <a:solidFill>
                  <a:srgbClr val="1F3A5F"/>
                </a:solidFill>
                <a:latin typeface="Calibri"/>
              </a:rPr>
              <a:t>How it works — Step 3: Writing the brief</a:t>
            </a:r>
          </a:p>
        </p:txBody>
      </p:sp>
      <p:sp>
        <p:nvSpPr>
          <p:cNvPr id="3" name="TextBox 2"/>
          <p:cNvSpPr txBox="1"/>
          <p:nvPr/>
        </p:nvSpPr>
        <p:spPr>
          <a:xfrm>
            <a:off x="457200" y="1097280"/>
            <a:ext cx="11274552" cy="457200"/>
          </a:xfrm>
          <a:prstGeom prst="rect">
            <a:avLst/>
          </a:prstGeom>
          <a:noFill/>
        </p:spPr>
        <p:txBody>
          <a:bodyPr wrap="square">
            <a:spAutoFit/>
          </a:bodyPr>
          <a:lstStyle/>
          <a:p>
            <a:r>
              <a:rPr sz="1600" i="1">
                <a:solidFill>
                  <a:srgbClr val="666666"/>
                </a:solidFill>
                <a:latin typeface="Calibri"/>
              </a:rPr>
              <a:t>The agent writes TWO versions of every brief — one for the deep-readers, one for everyone else.</a:t>
            </a:r>
          </a:p>
        </p:txBody>
      </p:sp>
      <p:sp>
        <p:nvSpPr>
          <p:cNvPr id="4" name="Rounded Rectangle 3"/>
          <p:cNvSpPr/>
          <p:nvPr/>
        </p:nvSpPr>
        <p:spPr>
          <a:xfrm>
            <a:off x="457200" y="1828800"/>
            <a:ext cx="5486400" cy="4114800"/>
          </a:xfrm>
          <a:prstGeom prst="roundRect">
            <a:avLst/>
          </a:prstGeom>
          <a:solidFill>
            <a:srgbClr val="FFFFFF"/>
          </a:solidFill>
          <a:ln w="2540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274320" lIns="274320" rIns="274320" wrap="square"/>
          <a:lstStyle/>
          <a:p>
            <a:pPr algn="l"/>
            <a:r>
              <a:rPr sz="2000" b="1">
                <a:solidFill>
                  <a:srgbClr val="1F3A5F"/>
                </a:solidFill>
                <a:latin typeface="Calibri"/>
              </a:rPr>
              <a:t>Long version (~700 words)</a:t>
            </a:r>
          </a:p>
          <a:p>
            <a:pPr>
              <a:spcBef>
                <a:spcPts val="1400"/>
              </a:spcBef>
            </a:pPr>
            <a:r>
              <a:rPr sz="1400">
                <a:solidFill>
                  <a:srgbClr val="333333"/>
                </a:solidFill>
                <a:latin typeface="Calibri"/>
              </a:rPr>
              <a:t>For the intel team to review carefully.
Includes:
•  All the source citations
•  Confidence ratings per item
•  Cross-references to other findings
•  Caveats and uncertainty notes
Lives in our records (git) forever.</a:t>
            </a:r>
          </a:p>
        </p:txBody>
      </p:sp>
      <p:sp>
        <p:nvSpPr>
          <p:cNvPr id="5" name="Rounded Rectangle 4"/>
          <p:cNvSpPr/>
          <p:nvPr/>
        </p:nvSpPr>
        <p:spPr>
          <a:xfrm>
            <a:off x="6245352" y="1828800"/>
            <a:ext cx="5486400" cy="4114800"/>
          </a:xfrm>
          <a:prstGeom prst="roundRect">
            <a:avLst/>
          </a:prstGeom>
          <a:solidFill>
            <a:srgbClr val="FFFFFF"/>
          </a:solidFill>
          <a:ln w="2540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274320" lIns="274320" rIns="274320" wrap="square"/>
          <a:lstStyle/>
          <a:p>
            <a:pPr algn="l"/>
            <a:r>
              <a:rPr sz="2000" b="1">
                <a:solidFill>
                  <a:srgbClr val="4A90E2"/>
                </a:solidFill>
                <a:latin typeface="Calibri"/>
              </a:rPr>
              <a:t>Short version (~250 words)</a:t>
            </a:r>
          </a:p>
          <a:p>
            <a:pPr>
              <a:spcBef>
                <a:spcPts val="1400"/>
              </a:spcBef>
            </a:pPr>
            <a:r>
              <a:rPr sz="1400">
                <a:solidFill>
                  <a:srgbClr val="333333"/>
                </a:solidFill>
                <a:latin typeface="Calibri"/>
              </a:rPr>
              <a:t>For everyone else.
Includes:
•  The headlines and what they mean
•  Clickable links to the source
•  Dates in normal English
•  Action items where they apply
This is what goes to Discord.</a:t>
            </a:r>
          </a:p>
        </p:txBody>
      </p:sp>
      <p:sp>
        <p:nvSpPr>
          <p:cNvPr id="6" name="TextBox 5"/>
          <p:cNvSpPr txBox="1"/>
          <p:nvPr/>
        </p:nvSpPr>
        <p:spPr>
          <a:xfrm>
            <a:off x="457200" y="6446520"/>
            <a:ext cx="10058400" cy="274320"/>
          </a:xfrm>
          <a:prstGeom prst="rect">
            <a:avLst/>
          </a:prstGeom>
          <a:noFill/>
        </p:spPr>
        <p:txBody>
          <a:bodyPr wrap="none">
            <a:spAutoFit/>
          </a:bodyPr>
          <a:lstStyle/>
          <a:p>
            <a:r>
              <a:rPr sz="900" i="1">
                <a:solidFill>
                  <a:srgbClr val="666666"/>
                </a:solidFill>
                <a:latin typeface="Calibri"/>
              </a:rPr>
              <a:t>Archimedes · Quick intro</a:t>
            </a:r>
          </a:p>
        </p:txBody>
      </p:sp>
      <p:sp>
        <p:nvSpPr>
          <p:cNvPr id="7" name="TextBox 6"/>
          <p:cNvSpPr txBox="1"/>
          <p:nvPr/>
        </p:nvSpPr>
        <p:spPr>
          <a:xfrm>
            <a:off x="10515600" y="6446520"/>
            <a:ext cx="1188720" cy="274320"/>
          </a:xfrm>
          <a:prstGeom prst="rect">
            <a:avLst/>
          </a:prstGeom>
          <a:noFill/>
        </p:spPr>
        <p:txBody>
          <a:bodyPr wrap="none">
            <a:spAutoFit/>
          </a:bodyPr>
          <a:lstStyle/>
          <a:p>
            <a:pPr algn="r"/>
            <a:r>
              <a:rPr sz="900">
                <a:solidFill>
                  <a:srgbClr val="666666"/>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a:spAutoFit/>
          </a:bodyPr>
          <a:lstStyle/>
          <a:p>
            <a:pPr algn="l"/>
            <a:r>
              <a:rPr sz="3600" b="1">
                <a:solidFill>
                  <a:srgbClr val="1F3A5F"/>
                </a:solidFill>
                <a:latin typeface="Calibri"/>
              </a:rPr>
              <a:t>Safety rails</a:t>
            </a:r>
          </a:p>
        </p:txBody>
      </p:sp>
      <p:sp>
        <p:nvSpPr>
          <p:cNvPr id="3" name="TextBox 2"/>
          <p:cNvSpPr txBox="1"/>
          <p:nvPr/>
        </p:nvSpPr>
        <p:spPr>
          <a:xfrm>
            <a:off x="457200" y="1097280"/>
            <a:ext cx="11274552" cy="457200"/>
          </a:xfrm>
          <a:prstGeom prst="rect">
            <a:avLst/>
          </a:prstGeom>
          <a:noFill/>
        </p:spPr>
        <p:txBody>
          <a:bodyPr wrap="square">
            <a:spAutoFit/>
          </a:bodyPr>
          <a:lstStyle/>
          <a:p>
            <a:r>
              <a:rPr sz="1600" i="1">
                <a:solidFill>
                  <a:srgbClr val="666666"/>
                </a:solidFill>
                <a:latin typeface="Calibri"/>
              </a:rPr>
              <a:t>The agent has rules it can't break — even if you ask it to.</a:t>
            </a:r>
          </a:p>
        </p:txBody>
      </p:sp>
      <p:sp>
        <p:nvSpPr>
          <p:cNvPr id="4" name="TextBox 3"/>
          <p:cNvSpPr txBox="1"/>
          <p:nvPr/>
        </p:nvSpPr>
        <p:spPr>
          <a:xfrm>
            <a:off x="457200" y="1737360"/>
            <a:ext cx="11274552" cy="4572000"/>
          </a:xfrm>
          <a:prstGeom prst="rect">
            <a:avLst/>
          </a:prstGeom>
          <a:noFill/>
        </p:spPr>
        <p:txBody>
          <a:bodyPr wrap="square">
            <a:spAutoFit/>
          </a:bodyPr>
          <a:lstStyle/>
          <a:p>
            <a:pPr algn="l">
              <a:lnSpc>
                <a:spcPct val="130000"/>
              </a:lnSpc>
            </a:pPr>
            <a:r>
              <a:rPr sz="1700">
                <a:solidFill>
                  <a:srgbClr val="333333"/>
                </a:solidFill>
                <a:latin typeface="Calibri"/>
              </a:rPr>
              <a:t>•  Will not scan random websites or other companies (only systems we own and authorized)</a:t>
            </a:r>
          </a:p>
          <a:p>
            <a:pPr algn="l">
              <a:lnSpc>
                <a:spcPct val="130000"/>
              </a:lnSpc>
              <a:spcBef>
                <a:spcPts val="1400"/>
              </a:spcBef>
            </a:pPr>
            <a:r>
              <a:rPr sz="1700">
                <a:solidFill>
                  <a:srgbClr val="333333"/>
                </a:solidFill>
                <a:latin typeface="Calibri"/>
              </a:rPr>
              <a:t>•  Will not make up where an attack came from — it only repeats what other sources have said, and cites them</a:t>
            </a:r>
          </a:p>
          <a:p>
            <a:pPr algn="l">
              <a:lnSpc>
                <a:spcPct val="130000"/>
              </a:lnSpc>
              <a:spcBef>
                <a:spcPts val="1400"/>
              </a:spcBef>
            </a:pPr>
            <a:r>
              <a:rPr sz="1700">
                <a:solidFill>
                  <a:srgbClr val="333333"/>
                </a:solidFill>
                <a:latin typeface="Calibri"/>
              </a:rPr>
              <a:t>•  Will not write malicious code, even for 'educational' purposes</a:t>
            </a:r>
          </a:p>
          <a:p>
            <a:pPr algn="l">
              <a:lnSpc>
                <a:spcPct val="130000"/>
              </a:lnSpc>
              <a:spcBef>
                <a:spcPts val="1400"/>
              </a:spcBef>
            </a:pPr>
            <a:r>
              <a:rPr sz="1700">
                <a:solidFill>
                  <a:srgbClr val="333333"/>
                </a:solidFill>
                <a:latin typeface="Calibri"/>
              </a:rPr>
              <a:t>•  Will not store passwords or credentials, ever</a:t>
            </a:r>
          </a:p>
          <a:p>
            <a:pPr algn="l">
              <a:lnSpc>
                <a:spcPct val="130000"/>
              </a:lnSpc>
              <a:spcBef>
                <a:spcPts val="1400"/>
              </a:spcBef>
            </a:pPr>
            <a:r>
              <a:rPr sz="1700">
                <a:solidFill>
                  <a:srgbClr val="333333"/>
                </a:solidFill>
                <a:latin typeface="Calibri"/>
              </a:rPr>
              <a:t>•  For high-stakes calls (like upgrading a threat group to HIGH priority), it asks a human to approve first</a:t>
            </a:r>
          </a:p>
        </p:txBody>
      </p:sp>
      <p:sp>
        <p:nvSpPr>
          <p:cNvPr id="5" name="TextBox 4"/>
          <p:cNvSpPr txBox="1"/>
          <p:nvPr/>
        </p:nvSpPr>
        <p:spPr>
          <a:xfrm>
            <a:off x="457200" y="6446520"/>
            <a:ext cx="10058400" cy="274320"/>
          </a:xfrm>
          <a:prstGeom prst="rect">
            <a:avLst/>
          </a:prstGeom>
          <a:noFill/>
        </p:spPr>
        <p:txBody>
          <a:bodyPr wrap="none">
            <a:spAutoFit/>
          </a:bodyPr>
          <a:lstStyle/>
          <a:p>
            <a:r>
              <a:rPr sz="900" i="1">
                <a:solidFill>
                  <a:srgbClr val="666666"/>
                </a:solidFill>
                <a:latin typeface="Calibri"/>
              </a:rPr>
              <a:t>Archimedes · Quick intro</a:t>
            </a:r>
          </a:p>
        </p:txBody>
      </p:sp>
      <p:sp>
        <p:nvSpPr>
          <p:cNvPr id="6" name="TextBox 5"/>
          <p:cNvSpPr txBox="1"/>
          <p:nvPr/>
        </p:nvSpPr>
        <p:spPr>
          <a:xfrm>
            <a:off x="10515600" y="6446520"/>
            <a:ext cx="1188720" cy="274320"/>
          </a:xfrm>
          <a:prstGeom prst="rect">
            <a:avLst/>
          </a:prstGeom>
          <a:noFill/>
        </p:spPr>
        <p:txBody>
          <a:bodyPr wrap="none">
            <a:spAutoFit/>
          </a:bodyPr>
          <a:lstStyle/>
          <a:p>
            <a:pPr algn="r"/>
            <a:r>
              <a:rPr sz="900">
                <a:solidFill>
                  <a:srgbClr val="666666"/>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a:spAutoFit/>
          </a:bodyPr>
          <a:lstStyle/>
          <a:p>
            <a:pPr algn="l"/>
            <a:r>
              <a:rPr sz="3600" b="1">
                <a:solidFill>
                  <a:srgbClr val="1F3A5F"/>
                </a:solidFill>
                <a:latin typeface="Calibri"/>
              </a:rPr>
              <a:t>You can talk to it</a:t>
            </a:r>
          </a:p>
        </p:txBody>
      </p:sp>
      <p:sp>
        <p:nvSpPr>
          <p:cNvPr id="3" name="TextBox 2"/>
          <p:cNvSpPr txBox="1"/>
          <p:nvPr/>
        </p:nvSpPr>
        <p:spPr>
          <a:xfrm>
            <a:off x="457200" y="1097280"/>
            <a:ext cx="11274552" cy="457200"/>
          </a:xfrm>
          <a:prstGeom prst="rect">
            <a:avLst/>
          </a:prstGeom>
          <a:noFill/>
        </p:spPr>
        <p:txBody>
          <a:bodyPr wrap="square">
            <a:spAutoFit/>
          </a:bodyPr>
          <a:lstStyle/>
          <a:p>
            <a:r>
              <a:rPr sz="1600" i="1">
                <a:solidFill>
                  <a:srgbClr val="666666"/>
                </a:solidFill>
                <a:latin typeface="Calibri"/>
              </a:rPr>
              <a:t>Type a slash command in Discord; the agent investigates and writes back.</a:t>
            </a:r>
          </a:p>
        </p:txBody>
      </p:sp>
      <p:sp>
        <p:nvSpPr>
          <p:cNvPr id="4" name="Rounded Rectangle 3"/>
          <p:cNvSpPr/>
          <p:nvPr/>
        </p:nvSpPr>
        <p:spPr>
          <a:xfrm>
            <a:off x="457200" y="1737360"/>
            <a:ext cx="11274552" cy="4114800"/>
          </a:xfrm>
          <a:prstGeom prst="roundRect">
            <a:avLst/>
          </a:prstGeom>
          <a:solidFill>
            <a:srgbClr val="F5F5F5"/>
          </a:solidFill>
          <a:ln w="1905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274320" lIns="365760" rIns="365760" wrap="square"/>
          <a:lstStyle/>
          <a:p>
            <a:pPr algn="ctr"/>
            <a:r>
              <a:rPr sz="1700" b="1">
                <a:solidFill>
                  <a:srgbClr val="4A90E2"/>
                </a:solidFill>
                <a:latin typeface="Consolas"/>
              </a:rPr>
              <a:t>/cve CVE-2026-0300</a:t>
            </a:r>
          </a:p>
          <a:p>
            <a:pPr>
              <a:spcBef>
                <a:spcPts val="200"/>
              </a:spcBef>
            </a:pPr>
            <a:r>
              <a:rPr sz="1500">
                <a:solidFill>
                  <a:srgbClr val="333333"/>
                </a:solidFill>
                <a:latin typeface="Calibri"/>
              </a:rPr>
              <a:t>      → Get a detailed report on that specific vulnerability</a:t>
            </a:r>
          </a:p>
          <a:p>
            <a:pPr>
              <a:spcBef>
                <a:spcPts val="1400"/>
              </a:spcBef>
            </a:pPr>
            <a:r>
              <a:rPr sz="1700" b="1">
                <a:solidFill>
                  <a:srgbClr val="4A90E2"/>
                </a:solidFill>
                <a:latin typeface="Consolas"/>
              </a:rPr>
              <a:t>/investigate APT37</a:t>
            </a:r>
          </a:p>
          <a:p>
            <a:pPr>
              <a:spcBef>
                <a:spcPts val="200"/>
              </a:spcBef>
            </a:pPr>
            <a:r>
              <a:rPr sz="1500">
                <a:solidFill>
                  <a:srgbClr val="333333"/>
                </a:solidFill>
                <a:latin typeface="Calibri"/>
              </a:rPr>
              <a:t>      → Get a deep dive on a threat group: what they do, who they target, what to watch for</a:t>
            </a:r>
          </a:p>
          <a:p>
            <a:pPr>
              <a:spcBef>
                <a:spcPts val="1400"/>
              </a:spcBef>
            </a:pPr>
            <a:r>
              <a:rPr sz="1700" b="1">
                <a:solidFill>
                  <a:srgbClr val="4A90E2"/>
                </a:solidFill>
                <a:latin typeface="Consolas"/>
              </a:rPr>
              <a:t>/ioc-hunt 1.2.3.4</a:t>
            </a:r>
          </a:p>
          <a:p>
            <a:pPr>
              <a:spcBef>
                <a:spcPts val="200"/>
              </a:spcBef>
            </a:pPr>
            <a:r>
              <a:rPr sz="1500">
                <a:solidFill>
                  <a:srgbClr val="333333"/>
                </a:solidFill>
                <a:latin typeface="Calibri"/>
              </a:rPr>
              <a:t>      → Check whether an IP address has shown up anywhere in our systems</a:t>
            </a:r>
          </a:p>
          <a:p>
            <a:pPr>
              <a:spcBef>
                <a:spcPts val="1400"/>
              </a:spcBef>
            </a:pPr>
            <a:r>
              <a:rPr sz="1700" b="1">
                <a:solidFill>
                  <a:srgbClr val="4A90E2"/>
                </a:solidFill>
                <a:latin typeface="Consolas"/>
              </a:rPr>
              <a:t>/help</a:t>
            </a:r>
          </a:p>
          <a:p>
            <a:pPr>
              <a:spcBef>
                <a:spcPts val="200"/>
              </a:spcBef>
            </a:pPr>
            <a:r>
              <a:rPr sz="1500">
                <a:solidFill>
                  <a:srgbClr val="333333"/>
                </a:solidFill>
                <a:latin typeface="Calibri"/>
              </a:rPr>
              <a:t>      → List everything you can ask</a:t>
            </a:r>
          </a:p>
        </p:txBody>
      </p:sp>
      <p:sp>
        <p:nvSpPr>
          <p:cNvPr id="5" name="TextBox 4"/>
          <p:cNvSpPr txBox="1"/>
          <p:nvPr/>
        </p:nvSpPr>
        <p:spPr>
          <a:xfrm>
            <a:off x="457200" y="5989320"/>
            <a:ext cx="11274552" cy="457200"/>
          </a:xfrm>
          <a:prstGeom prst="rect">
            <a:avLst/>
          </a:prstGeom>
          <a:noFill/>
        </p:spPr>
        <p:txBody>
          <a:bodyPr wrap="square">
            <a:spAutoFit/>
          </a:bodyPr>
          <a:lstStyle/>
          <a:p>
            <a:pPr algn="ctr"/>
            <a:r>
              <a:rPr sz="1300" i="1">
                <a:solidFill>
                  <a:srgbClr val="666666"/>
                </a:solidFill>
                <a:latin typeface="Calibri"/>
              </a:rPr>
              <a:t>Same agent as the brief. Same sources. Same grading rules. Just on-demand.</a:t>
            </a:r>
          </a:p>
        </p:txBody>
      </p:sp>
      <p:sp>
        <p:nvSpPr>
          <p:cNvPr id="6" name="TextBox 5"/>
          <p:cNvSpPr txBox="1"/>
          <p:nvPr/>
        </p:nvSpPr>
        <p:spPr>
          <a:xfrm>
            <a:off x="457200" y="6446520"/>
            <a:ext cx="10058400" cy="274320"/>
          </a:xfrm>
          <a:prstGeom prst="rect">
            <a:avLst/>
          </a:prstGeom>
          <a:noFill/>
        </p:spPr>
        <p:txBody>
          <a:bodyPr wrap="none">
            <a:spAutoFit/>
          </a:bodyPr>
          <a:lstStyle/>
          <a:p>
            <a:r>
              <a:rPr sz="900" i="1">
                <a:solidFill>
                  <a:srgbClr val="666666"/>
                </a:solidFill>
                <a:latin typeface="Calibri"/>
              </a:rPr>
              <a:t>Archimedes · Quick intro</a:t>
            </a:r>
          </a:p>
        </p:txBody>
      </p:sp>
      <p:sp>
        <p:nvSpPr>
          <p:cNvPr id="7" name="TextBox 6"/>
          <p:cNvSpPr txBox="1"/>
          <p:nvPr/>
        </p:nvSpPr>
        <p:spPr>
          <a:xfrm>
            <a:off x="10515600" y="6446520"/>
            <a:ext cx="1188720" cy="274320"/>
          </a:xfrm>
          <a:prstGeom prst="rect">
            <a:avLst/>
          </a:prstGeom>
          <a:noFill/>
        </p:spPr>
        <p:txBody>
          <a:bodyPr wrap="none">
            <a:spAutoFit/>
          </a:bodyPr>
          <a:lstStyle/>
          <a:p>
            <a:pPr algn="r"/>
            <a:r>
              <a:rPr sz="900">
                <a:solidFill>
                  <a:srgbClr val="666666"/>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31520"/>
            <a:ext cx="11274552" cy="731520"/>
          </a:xfrm>
          <a:prstGeom prst="rect">
            <a:avLst/>
          </a:prstGeom>
          <a:noFill/>
        </p:spPr>
        <p:txBody>
          <a:bodyPr wrap="none">
            <a:spAutoFit/>
          </a:bodyPr>
          <a:lstStyle/>
          <a:p>
            <a:pPr algn="ctr"/>
            <a:r>
              <a:rPr sz="4800" b="1">
                <a:solidFill>
                  <a:srgbClr val="1F3A5F"/>
                </a:solidFill>
                <a:latin typeface="Calibri"/>
              </a:rPr>
              <a:t>That's it</a:t>
            </a:r>
          </a:p>
        </p:txBody>
      </p:sp>
      <p:sp>
        <p:nvSpPr>
          <p:cNvPr id="3" name="Rounded Rectangle 2"/>
          <p:cNvSpPr/>
          <p:nvPr/>
        </p:nvSpPr>
        <p:spPr>
          <a:xfrm>
            <a:off x="472287" y="2011680"/>
            <a:ext cx="3657600" cy="2286000"/>
          </a:xfrm>
          <a:prstGeom prst="roundRect">
            <a:avLst/>
          </a:prstGeom>
          <a:solidFill>
            <a:srgbClr val="FFFFFF"/>
          </a:solidFill>
          <a:ln w="1905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274320" lIns="228600" rIns="228600" wrap="square"/>
          <a:lstStyle/>
          <a:p>
            <a:pPr algn="ctr"/>
            <a:r>
              <a:rPr sz="1800" b="1">
                <a:solidFill>
                  <a:srgbClr val="1F3A5F"/>
                </a:solidFill>
                <a:latin typeface="Calibri"/>
              </a:rPr>
              <a:t>Twice-daily summary</a:t>
            </a:r>
          </a:p>
          <a:p>
            <a:pPr algn="ctr">
              <a:spcBef>
                <a:spcPts val="1400"/>
              </a:spcBef>
            </a:pPr>
            <a:r>
              <a:rPr sz="1300">
                <a:solidFill>
                  <a:srgbClr val="333333"/>
                </a:solidFill>
                <a:latin typeface="Calibri"/>
              </a:rPr>
              <a:t>Morning + afternoon briefs in #intel-briefs. Five minutes of reading covers the day's biggest threats.</a:t>
            </a:r>
          </a:p>
        </p:txBody>
      </p:sp>
      <p:sp>
        <p:nvSpPr>
          <p:cNvPr id="4" name="Rounded Rectangle 3"/>
          <p:cNvSpPr/>
          <p:nvPr/>
        </p:nvSpPr>
        <p:spPr>
          <a:xfrm>
            <a:off x="4267047" y="2011680"/>
            <a:ext cx="3657600" cy="2286000"/>
          </a:xfrm>
          <a:prstGeom prst="roundRect">
            <a:avLst/>
          </a:prstGeom>
          <a:solidFill>
            <a:srgbClr val="FFFFFF"/>
          </a:solidFill>
          <a:ln w="1905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274320" lIns="228600" rIns="228600" wrap="square"/>
          <a:lstStyle/>
          <a:p>
            <a:pPr algn="ctr"/>
            <a:r>
              <a:rPr sz="1800" b="1">
                <a:solidFill>
                  <a:srgbClr val="1F3A5F"/>
                </a:solidFill>
                <a:latin typeface="Calibri"/>
              </a:rPr>
              <a:t>Built to be safe</a:t>
            </a:r>
          </a:p>
          <a:p>
            <a:pPr algn="ctr">
              <a:spcBef>
                <a:spcPts val="1400"/>
              </a:spcBef>
            </a:pPr>
            <a:r>
              <a:rPr sz="1300">
                <a:solidFill>
                  <a:srgbClr val="333333"/>
                </a:solidFill>
                <a:latin typeface="Calibri"/>
              </a:rPr>
              <a:t>Safety rails baked into the code. Humans approve the highest-stakes calls.</a:t>
            </a:r>
          </a:p>
        </p:txBody>
      </p:sp>
      <p:sp>
        <p:nvSpPr>
          <p:cNvPr id="5" name="Rounded Rectangle 4"/>
          <p:cNvSpPr/>
          <p:nvPr/>
        </p:nvSpPr>
        <p:spPr>
          <a:xfrm>
            <a:off x="8061807" y="2011680"/>
            <a:ext cx="3657600" cy="2286000"/>
          </a:xfrm>
          <a:prstGeom prst="roundRect">
            <a:avLst/>
          </a:prstGeom>
          <a:solidFill>
            <a:srgbClr val="FFFFFF"/>
          </a:solidFill>
          <a:ln w="1905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274320" lIns="228600" rIns="228600" wrap="square"/>
          <a:lstStyle/>
          <a:p>
            <a:pPr algn="ctr"/>
            <a:r>
              <a:rPr sz="1800" b="1">
                <a:solidFill>
                  <a:srgbClr val="1F3A5F"/>
                </a:solidFill>
                <a:latin typeface="Calibri"/>
              </a:rPr>
              <a:t>Ask it questions</a:t>
            </a:r>
          </a:p>
          <a:p>
            <a:pPr algn="ctr">
              <a:spcBef>
                <a:spcPts val="1400"/>
              </a:spcBef>
            </a:pPr>
            <a:r>
              <a:rPr sz="1300">
                <a:solidFill>
                  <a:srgbClr val="333333"/>
                </a:solidFill>
                <a:latin typeface="Calibri"/>
              </a:rPr>
              <a:t>Slash commands in Discord. Same brain as the briefs, on-demand.</a:t>
            </a:r>
          </a:p>
        </p:txBody>
      </p:sp>
      <p:sp>
        <p:nvSpPr>
          <p:cNvPr id="6" name="TextBox 5"/>
          <p:cNvSpPr txBox="1"/>
          <p:nvPr/>
        </p:nvSpPr>
        <p:spPr>
          <a:xfrm>
            <a:off x="457200" y="4937760"/>
            <a:ext cx="11274552" cy="1097280"/>
          </a:xfrm>
          <a:prstGeom prst="rect">
            <a:avLst/>
          </a:prstGeom>
          <a:noFill/>
        </p:spPr>
        <p:txBody>
          <a:bodyPr wrap="square">
            <a:spAutoFit/>
          </a:bodyPr>
          <a:lstStyle/>
          <a:p>
            <a:pPr algn="ctr"/>
            <a:r>
              <a:rPr sz="3600" b="1">
                <a:solidFill>
                  <a:srgbClr val="1F3A5F"/>
                </a:solidFill>
                <a:latin typeface="Calibri"/>
              </a:rPr>
              <a:t>Questions?</a:t>
            </a:r>
          </a:p>
          <a:p>
            <a:pPr algn="ctr">
              <a:spcBef>
                <a:spcPts val="1000"/>
              </a:spcBef>
            </a:pPr>
            <a:r>
              <a:rPr sz="1400" i="1">
                <a:solidFill>
                  <a:srgbClr val="666666"/>
                </a:solidFill>
                <a:latin typeface="Calibri"/>
              </a:rPr>
              <a:t>Curious about how anything works under the hood? Happy to dig in.</a:t>
            </a:r>
          </a:p>
        </p:txBody>
      </p:sp>
      <p:sp>
        <p:nvSpPr>
          <p:cNvPr id="7" name="TextBox 6"/>
          <p:cNvSpPr txBox="1"/>
          <p:nvPr/>
        </p:nvSpPr>
        <p:spPr>
          <a:xfrm>
            <a:off x="457200" y="6446520"/>
            <a:ext cx="10058400" cy="274320"/>
          </a:xfrm>
          <a:prstGeom prst="rect">
            <a:avLst/>
          </a:prstGeom>
          <a:noFill/>
        </p:spPr>
        <p:txBody>
          <a:bodyPr wrap="none">
            <a:spAutoFit/>
          </a:bodyPr>
          <a:lstStyle/>
          <a:p>
            <a:r>
              <a:rPr sz="900" i="1">
                <a:solidFill>
                  <a:srgbClr val="666666"/>
                </a:solidFill>
                <a:latin typeface="Calibri"/>
              </a:rPr>
              <a:t>Archimedes · Quick intro</a:t>
            </a:r>
          </a:p>
        </p:txBody>
      </p:sp>
      <p:sp>
        <p:nvSpPr>
          <p:cNvPr id="8" name="TextBox 7"/>
          <p:cNvSpPr txBox="1"/>
          <p:nvPr/>
        </p:nvSpPr>
        <p:spPr>
          <a:xfrm>
            <a:off x="10515600" y="6446520"/>
            <a:ext cx="1188720" cy="274320"/>
          </a:xfrm>
          <a:prstGeom prst="rect">
            <a:avLst/>
          </a:prstGeom>
          <a:noFill/>
        </p:spPr>
        <p:txBody>
          <a:bodyPr wrap="none">
            <a:spAutoFit/>
          </a:bodyPr>
          <a:lstStyle/>
          <a:p>
            <a:pPr algn="r"/>
            <a:r>
              <a:rPr sz="900">
                <a:solidFill>
                  <a:srgbClr val="666666"/>
                </a:solidFill>
                <a:latin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